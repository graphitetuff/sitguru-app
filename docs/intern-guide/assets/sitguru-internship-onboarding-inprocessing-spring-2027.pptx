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80" r:id="rId31"/>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hyperlink" Target="https://www.youtube.com/watch?v=Zzv6Opxkt88&amp;t=749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itguru-logo-horizontal.jpg"/>
          <p:cNvPicPr>
            <a:picLocks noChangeAspect="1"/>
          </p:cNvPicPr>
          <p:nvPr/>
        </p:nvPicPr>
        <p:blipFill>
          <a:blip r:embed="rId2"/>
          <a:stretch>
            <a:fillRect/>
          </a:stretch>
        </p:blipFill>
        <p:spPr>
          <a:xfrm>
            <a:off x="502920" y="292608"/>
            <a:ext cx="2331720" cy="868680"/>
          </a:xfrm>
          <a:prstGeom prst="rect">
            <a:avLst/>
          </a:prstGeom>
        </p:spPr>
      </p:pic>
      <p:sp>
        <p:nvSpPr>
          <p:cNvPr id="5" name="TextBox 4"/>
          <p:cNvSpPr txBox="1"/>
          <p:nvPr/>
        </p:nvSpPr>
        <p:spPr>
          <a:xfrm>
            <a:off x="7452360" y="347472"/>
            <a:ext cx="4297680" cy="256032"/>
          </a:xfrm>
          <a:prstGeom prst="rect">
            <a:avLst/>
          </a:prstGeom>
          <a:noFill/>
        </p:spPr>
        <p:txBody>
          <a:bodyPr wrap="square" anchor="t"/>
          <a:lstStyle/>
          <a:p>
            <a:pPr algn="r"/>
            <a:r>
              <a:rPr sz="1100" b="1" i="0">
                <a:solidFill>
                  <a:srgbClr val="64748B"/>
                </a:solidFill>
                <a:latin typeface="Calibri"/>
              </a:rPr>
              <a:t>PEOPLE. PETS. BRIGHTER TOMORROWS.</a:t>
            </a:r>
          </a:p>
        </p:txBody>
      </p:sp>
      <p:sp>
        <p:nvSpPr>
          <p:cNvPr id="6" name="Rectangle 5"/>
          <p:cNvSpPr/>
          <p:nvPr/>
        </p:nvSpPr>
        <p:spPr>
          <a:xfrm>
            <a:off x="9646920" y="640080"/>
            <a:ext cx="2103120" cy="4114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7132320" cy="292608"/>
          </a:xfrm>
          <a:prstGeom prst="rect">
            <a:avLst/>
          </a:prstGeom>
          <a:noFill/>
        </p:spPr>
        <p:txBody>
          <a:bodyPr wrap="square" anchor="t"/>
          <a:lstStyle/>
          <a:p>
            <a:pPr algn="l"/>
            <a:r>
              <a:rPr sz="1200" b="1" i="0">
                <a:solidFill>
                  <a:srgbClr val="166534"/>
                </a:solidFill>
                <a:latin typeface="Calibri"/>
              </a:rPr>
              <a:t>SPRING 2027  ·  OFFICIAL INTERN TRAINING</a:t>
            </a:r>
          </a:p>
        </p:txBody>
      </p:sp>
      <p:sp>
        <p:nvSpPr>
          <p:cNvPr id="8" name="TextBox 7"/>
          <p:cNvSpPr txBox="1"/>
          <p:nvPr/>
        </p:nvSpPr>
        <p:spPr>
          <a:xfrm>
            <a:off x="502920" y="1755648"/>
            <a:ext cx="6949440" cy="475488"/>
          </a:xfrm>
          <a:prstGeom prst="rect">
            <a:avLst/>
          </a:prstGeom>
          <a:noFill/>
        </p:spPr>
        <p:txBody>
          <a:bodyPr wrap="square" anchor="t"/>
          <a:lstStyle/>
          <a:p>
            <a:pPr algn="l"/>
            <a:r>
              <a:rPr sz="3400" b="1" i="0">
                <a:solidFill>
                  <a:srgbClr val="0F172A"/>
                </a:solidFill>
                <a:latin typeface="Calibri"/>
              </a:rPr>
              <a:t>Social Media &amp;</a:t>
            </a:r>
          </a:p>
        </p:txBody>
      </p:sp>
      <p:sp>
        <p:nvSpPr>
          <p:cNvPr id="9" name="TextBox 8"/>
          <p:cNvSpPr txBox="1"/>
          <p:nvPr/>
        </p:nvSpPr>
        <p:spPr>
          <a:xfrm>
            <a:off x="502920" y="2231136"/>
            <a:ext cx="6949440" cy="475488"/>
          </a:xfrm>
          <a:prstGeom prst="rect">
            <a:avLst/>
          </a:prstGeom>
          <a:noFill/>
        </p:spPr>
        <p:txBody>
          <a:bodyPr wrap="square" anchor="t"/>
          <a:lstStyle/>
          <a:p>
            <a:pPr algn="l"/>
            <a:r>
              <a:rPr sz="3400" b="1" i="0">
                <a:solidFill>
                  <a:srgbClr val="166534"/>
                </a:solidFill>
                <a:latin typeface="Calibri"/>
              </a:rPr>
              <a:t>Community Growth</a:t>
            </a:r>
          </a:p>
        </p:txBody>
      </p:sp>
      <p:sp>
        <p:nvSpPr>
          <p:cNvPr id="10" name="TextBox 9"/>
          <p:cNvSpPr txBox="1"/>
          <p:nvPr/>
        </p:nvSpPr>
        <p:spPr>
          <a:xfrm>
            <a:off x="502920" y="2706624"/>
            <a:ext cx="6949440" cy="475488"/>
          </a:xfrm>
          <a:prstGeom prst="rect">
            <a:avLst/>
          </a:prstGeom>
          <a:noFill/>
        </p:spPr>
        <p:txBody>
          <a:bodyPr wrap="square" anchor="t"/>
          <a:lstStyle/>
          <a:p>
            <a:pPr algn="l"/>
            <a:r>
              <a:rPr sz="3400" b="1" i="0">
                <a:solidFill>
                  <a:srgbClr val="0F172A"/>
                </a:solidFill>
                <a:latin typeface="Calibri"/>
              </a:rPr>
              <a:t>Internship Program</a:t>
            </a:r>
          </a:p>
        </p:txBody>
      </p:sp>
      <p:sp>
        <p:nvSpPr>
          <p:cNvPr id="11" name="TextBox 10"/>
          <p:cNvSpPr txBox="1"/>
          <p:nvPr/>
        </p:nvSpPr>
        <p:spPr>
          <a:xfrm>
            <a:off x="502920" y="3273552"/>
            <a:ext cx="6949440" cy="384048"/>
          </a:xfrm>
          <a:prstGeom prst="rect">
            <a:avLst/>
          </a:prstGeom>
          <a:noFill/>
        </p:spPr>
        <p:txBody>
          <a:bodyPr wrap="square" anchor="t"/>
          <a:lstStyle/>
          <a:p>
            <a:pPr algn="l"/>
            <a:r>
              <a:rPr sz="1800" b="1" i="0">
                <a:solidFill>
                  <a:srgbClr val="0F172A"/>
                </a:solidFill>
                <a:latin typeface="Calibri"/>
              </a:rPr>
              <a:t>Spring 2027 Internship Onboarding &amp; Inprocessing</a:t>
            </a:r>
          </a:p>
        </p:txBody>
      </p:sp>
      <p:sp>
        <p:nvSpPr>
          <p:cNvPr id="12" name="Rectangle 11"/>
          <p:cNvSpPr/>
          <p:nvPr/>
        </p:nvSpPr>
        <p:spPr>
          <a:xfrm>
            <a:off x="502920" y="3694176"/>
            <a:ext cx="2194560" cy="4114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858768"/>
            <a:ext cx="6766560" cy="640080"/>
          </a:xfrm>
          <a:prstGeom prst="rect">
            <a:avLst/>
          </a:prstGeom>
          <a:noFill/>
        </p:spPr>
        <p:txBody>
          <a:bodyPr wrap="square" anchor="t"/>
          <a:lstStyle/>
          <a:p>
            <a:pPr algn="l"/>
            <a:r>
              <a:rPr sz="1400" b="0" i="0">
                <a:solidFill>
                  <a:srgbClr val="475569"/>
                </a:solidFill>
                <a:latin typeface="Calibri"/>
              </a:rPr>
              <a:t>REAL CONNECTIONS. HAPPIER PETS. Join a mission-driven team building trusted local pet care. Bookings stay on SitGuru.</a:t>
            </a:r>
          </a:p>
        </p:txBody>
      </p:sp>
      <p:sp>
        <p:nvSpPr>
          <p:cNvPr id="14" name="TextBox 13"/>
          <p:cNvSpPr txBox="1"/>
          <p:nvPr/>
        </p:nvSpPr>
        <p:spPr>
          <a:xfrm>
            <a:off x="502920" y="5074920"/>
            <a:ext cx="6766560" cy="292608"/>
          </a:xfrm>
          <a:prstGeom prst="rect">
            <a:avLst/>
          </a:prstGeom>
          <a:noFill/>
        </p:spPr>
        <p:txBody>
          <a:bodyPr wrap="square" anchor="t"/>
          <a:lstStyle/>
          <a:p>
            <a:pPr algn="l"/>
            <a:r>
              <a:rPr sz="1200" b="1" i="0">
                <a:solidFill>
                  <a:srgbClr val="166534"/>
                </a:solidFill>
                <a:latin typeface="Calibri"/>
              </a:rPr>
              <a:t>Graff Enterprises LLC dba SitGuru  ·  sitguru.com/intern  ·  intern@sitguru.com</a:t>
            </a:r>
          </a:p>
        </p:txBody>
      </p:sp>
      <p:sp>
        <p:nvSpPr>
          <p:cNvPr id="15" name="Oval 14"/>
          <p:cNvSpPr/>
          <p:nvPr/>
        </p:nvSpPr>
        <p:spPr>
          <a:xfrm>
            <a:off x="8732520" y="2148840"/>
            <a:ext cx="4160520" cy="4160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006840" y="2423160"/>
            <a:ext cx="3611880" cy="3611880"/>
          </a:xfrm>
          <a:prstGeom prst="ellipse">
            <a:avLst/>
          </a:prstGeom>
          <a:solidFill>
            <a:srgbClr val="1A7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itguru-symbol-green.jpg"/>
          <p:cNvPicPr>
            <a:picLocks noChangeAspect="1"/>
          </p:cNvPicPr>
          <p:nvPr/>
        </p:nvPicPr>
        <p:blipFill>
          <a:blip r:embed="rId3"/>
          <a:stretch>
            <a:fillRect/>
          </a:stretch>
        </p:blipFill>
        <p:spPr>
          <a:xfrm>
            <a:off x="9555480" y="2880360"/>
            <a:ext cx="2514600" cy="1965960"/>
          </a:xfrm>
          <a:prstGeom prst="rect">
            <a:avLst/>
          </a:prstGeom>
        </p:spPr>
      </p:pic>
      <p:sp>
        <p:nvSpPr>
          <p:cNvPr id="18" name="Rounded Rectangle 17"/>
          <p:cNvSpPr/>
          <p:nvPr/>
        </p:nvSpPr>
        <p:spPr>
          <a:xfrm>
            <a:off x="502920" y="5532120"/>
            <a:ext cx="11201400" cy="658368"/>
          </a:xfrm>
          <a:prstGeom prst="round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596128"/>
            <a:ext cx="3383280" cy="256032"/>
          </a:xfrm>
          <a:prstGeom prst="rect">
            <a:avLst/>
          </a:prstGeom>
          <a:noFill/>
        </p:spPr>
        <p:txBody>
          <a:bodyPr wrap="square" anchor="t"/>
          <a:lstStyle/>
          <a:p>
            <a:pPr algn="ctr"/>
            <a:r>
              <a:rPr sz="1200" b="1" i="0">
                <a:solidFill>
                  <a:srgbClr val="166534"/>
                </a:solidFill>
                <a:latin typeface="Calibri"/>
              </a:rPr>
              <a:t>CARE DRIVES US</a:t>
            </a:r>
          </a:p>
        </p:txBody>
      </p:sp>
      <p:sp>
        <p:nvSpPr>
          <p:cNvPr id="20" name="TextBox 19"/>
          <p:cNvSpPr txBox="1"/>
          <p:nvPr/>
        </p:nvSpPr>
        <p:spPr>
          <a:xfrm>
            <a:off x="4160520" y="5596128"/>
            <a:ext cx="3566160" cy="256032"/>
          </a:xfrm>
          <a:prstGeom prst="rect">
            <a:avLst/>
          </a:prstGeom>
          <a:noFill/>
        </p:spPr>
        <p:txBody>
          <a:bodyPr wrap="square" anchor="t"/>
          <a:lstStyle/>
          <a:p>
            <a:pPr algn="ctr"/>
            <a:r>
              <a:rPr sz="1200" b="1" i="0">
                <a:solidFill>
                  <a:srgbClr val="166534"/>
                </a:solidFill>
                <a:latin typeface="Calibri"/>
              </a:rPr>
              <a:t>COMMUNITY BUILDS US</a:t>
            </a:r>
          </a:p>
        </p:txBody>
      </p:sp>
      <p:sp>
        <p:nvSpPr>
          <p:cNvPr id="21" name="TextBox 20"/>
          <p:cNvSpPr txBox="1"/>
          <p:nvPr/>
        </p:nvSpPr>
        <p:spPr>
          <a:xfrm>
            <a:off x="7818120" y="5596128"/>
            <a:ext cx="3566160" cy="256032"/>
          </a:xfrm>
          <a:prstGeom prst="rect">
            <a:avLst/>
          </a:prstGeom>
          <a:noFill/>
        </p:spPr>
        <p:txBody>
          <a:bodyPr wrap="square" anchor="t"/>
          <a:lstStyle/>
          <a:p>
            <a:pPr algn="ctr"/>
            <a:r>
              <a:rPr sz="1200" b="1" i="0">
                <a:solidFill>
                  <a:srgbClr val="166534"/>
                </a:solidFill>
                <a:latin typeface="Calibri"/>
              </a:rPr>
              <a:t>PETS INSPIRE US</a:t>
            </a:r>
          </a:p>
        </p:txBody>
      </p:sp>
      <p:sp>
        <p:nvSpPr>
          <p:cNvPr id="22" name="TextBox 21"/>
          <p:cNvSpPr txBox="1"/>
          <p:nvPr/>
        </p:nvSpPr>
        <p:spPr>
          <a:xfrm>
            <a:off x="685800" y="5852160"/>
            <a:ext cx="10789920" cy="237744"/>
          </a:xfrm>
          <a:prstGeom prst="rect">
            <a:avLst/>
          </a:prstGeom>
          <a:noFill/>
        </p:spPr>
        <p:txBody>
          <a:bodyPr wrap="square" anchor="t"/>
          <a:lstStyle/>
          <a:p>
            <a:pPr algn="ctr"/>
            <a:r>
              <a:rPr sz="1100" b="0" i="0">
                <a:solidFill>
                  <a:srgbClr val="475569"/>
                </a:solidFill>
                <a:latin typeface="Calibri"/>
              </a:rPr>
              <a:t>Rogue is our mascot — a high-energy, loving German Shorthaired Pointer. Tag @SitGuruOfficial.</a:t>
            </a:r>
          </a:p>
        </p:txBody>
      </p:sp>
      <p:sp>
        <p:nvSpPr>
          <p:cNvPr id="23" name="Rectangle 22"/>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25" name="TextBox 24"/>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Welcome to the SitGuru internship</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Official training from SitGuru — not a syllabus and not a university grade</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3</a:t>
            </a:r>
          </a:p>
        </p:txBody>
      </p:sp>
      <p:sp>
        <p:nvSpPr>
          <p:cNvPr id="12" name="Rounded Rectangle 11"/>
          <p:cNvSpPr/>
          <p:nvPr/>
        </p:nvSpPr>
        <p:spPr>
          <a:xfrm>
            <a:off x="384048" y="1353312"/>
            <a:ext cx="11430000" cy="1417320"/>
          </a:xfrm>
          <a:prstGeom prst="roundRect">
            <a:avLst>
              <a:gd name="adj" fmla="val 6000"/>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481328"/>
            <a:ext cx="10972800" cy="868680"/>
          </a:xfrm>
          <a:prstGeom prst="rect">
            <a:avLst/>
          </a:prstGeom>
          <a:noFill/>
        </p:spPr>
        <p:txBody>
          <a:bodyPr wrap="square" anchor="t"/>
          <a:lstStyle/>
          <a:p>
            <a:pPr algn="l"/>
            <a:r>
              <a:rPr sz="2000" b="1" i="0">
                <a:solidFill>
                  <a:srgbClr val="FFFFFF"/>
                </a:solidFill>
                <a:latin typeface="Calibri"/>
              </a:rPr>
              <a:t>You are not here just to post content. You are here to help us solve a real growth problem — and learn how to prove what worked.</a:t>
            </a:r>
          </a:p>
        </p:txBody>
      </p:sp>
      <p:sp>
        <p:nvSpPr>
          <p:cNvPr id="14" name="TextBox 13"/>
          <p:cNvSpPr txBox="1"/>
          <p:nvPr/>
        </p:nvSpPr>
        <p:spPr>
          <a:xfrm>
            <a:off x="640080" y="2359152"/>
            <a:ext cx="10972800" cy="256032"/>
          </a:xfrm>
          <a:prstGeom prst="rect">
            <a:avLst/>
          </a:prstGeom>
          <a:noFill/>
        </p:spPr>
        <p:txBody>
          <a:bodyPr wrap="square" anchor="t"/>
          <a:lstStyle/>
          <a:p>
            <a:pPr algn="l"/>
            <a:r>
              <a:rPr sz="1300" b="0" i="0">
                <a:solidFill>
                  <a:srgbClr val="CFE6D5"/>
                </a:solidFill>
                <a:latin typeface="Calibri"/>
              </a:rPr>
              <a:t>— SitGuru  ·  Social Media &amp; Community Growth Internship</a:t>
            </a:r>
          </a:p>
        </p:txBody>
      </p:sp>
      <p:sp>
        <p:nvSpPr>
          <p:cNvPr id="15" name="Rounded Rectangle 14"/>
          <p:cNvSpPr/>
          <p:nvPr/>
        </p:nvSpPr>
        <p:spPr>
          <a:xfrm>
            <a:off x="384048" y="2999232"/>
            <a:ext cx="3703320" cy="23317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48640" y="3145536"/>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163824"/>
            <a:ext cx="347472" cy="310896"/>
          </a:xfrm>
          <a:prstGeom prst="rect">
            <a:avLst/>
          </a:prstGeom>
          <a:noFill/>
        </p:spPr>
        <p:txBody>
          <a:bodyPr wrap="square" anchor="t"/>
          <a:lstStyle/>
          <a:p>
            <a:pPr algn="ctr"/>
            <a:r>
              <a:rPr sz="1300" b="1" i="0">
                <a:solidFill>
                  <a:srgbClr val="FFFFFF"/>
                </a:solidFill>
                <a:latin typeface="Calibri"/>
              </a:rPr>
              <a:t>1</a:t>
            </a:r>
          </a:p>
        </p:txBody>
      </p:sp>
      <p:sp>
        <p:nvSpPr>
          <p:cNvPr id="18" name="TextBox 17"/>
          <p:cNvSpPr txBox="1"/>
          <p:nvPr/>
        </p:nvSpPr>
        <p:spPr>
          <a:xfrm>
            <a:off x="969264" y="3163824"/>
            <a:ext cx="2935224" cy="310896"/>
          </a:xfrm>
          <a:prstGeom prst="rect">
            <a:avLst/>
          </a:prstGeom>
          <a:noFill/>
        </p:spPr>
        <p:txBody>
          <a:bodyPr wrap="square" anchor="ctr"/>
          <a:lstStyle/>
          <a:p>
            <a:pPr algn="l"/>
            <a:r>
              <a:rPr sz="1500" b="1" i="0">
                <a:solidFill>
                  <a:srgbClr val="0F172A"/>
                </a:solidFill>
                <a:latin typeface="Calibri"/>
              </a:rPr>
              <a:t>Your work has a purpose</a:t>
            </a:r>
          </a:p>
        </p:txBody>
      </p:sp>
      <p:sp>
        <p:nvSpPr>
          <p:cNvPr id="19" name="TextBox 18"/>
          <p:cNvSpPr txBox="1"/>
          <p:nvPr/>
        </p:nvSpPr>
        <p:spPr>
          <a:xfrm>
            <a:off x="548640" y="3529584"/>
            <a:ext cx="3374136" cy="1691639"/>
          </a:xfrm>
          <a:prstGeom prst="rect">
            <a:avLst/>
          </a:prstGeom>
          <a:noFill/>
        </p:spPr>
        <p:txBody>
          <a:bodyPr wrap="square" anchor="t"/>
          <a:lstStyle/>
          <a:p>
            <a:pPr algn="l"/>
            <a:r>
              <a:rPr sz="1300" b="0" i="0">
                <a:solidFill>
                  <a:srgbClr val="475569"/>
                </a:solidFill>
                <a:latin typeface="Calibri"/>
              </a:rPr>
              <a:t>Every assignment should move a SitGuru business goal and a final deliverable SitGuru can keep.</a:t>
            </a:r>
          </a:p>
        </p:txBody>
      </p:sp>
      <p:sp>
        <p:nvSpPr>
          <p:cNvPr id="20" name="Rounded Rectangle 19"/>
          <p:cNvSpPr/>
          <p:nvPr/>
        </p:nvSpPr>
        <p:spPr>
          <a:xfrm>
            <a:off x="4242816" y="2999232"/>
            <a:ext cx="3703320" cy="23317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07407" y="3145536"/>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7407" y="3163824"/>
            <a:ext cx="347472" cy="310896"/>
          </a:xfrm>
          <a:prstGeom prst="rect">
            <a:avLst/>
          </a:prstGeom>
          <a:noFill/>
        </p:spPr>
        <p:txBody>
          <a:bodyPr wrap="square" anchor="t"/>
          <a:lstStyle/>
          <a:p>
            <a:pPr algn="ctr"/>
            <a:r>
              <a:rPr sz="1300" b="1" i="0">
                <a:solidFill>
                  <a:srgbClr val="FFFFFF"/>
                </a:solidFill>
                <a:latin typeface="Calibri"/>
              </a:rPr>
              <a:t>3</a:t>
            </a:r>
          </a:p>
        </p:txBody>
      </p:sp>
      <p:sp>
        <p:nvSpPr>
          <p:cNvPr id="23" name="TextBox 22"/>
          <p:cNvSpPr txBox="1"/>
          <p:nvPr/>
        </p:nvSpPr>
        <p:spPr>
          <a:xfrm>
            <a:off x="4828031" y="3163824"/>
            <a:ext cx="2935224" cy="310896"/>
          </a:xfrm>
          <a:prstGeom prst="rect">
            <a:avLst/>
          </a:prstGeom>
          <a:noFill/>
        </p:spPr>
        <p:txBody>
          <a:bodyPr wrap="square" anchor="ctr"/>
          <a:lstStyle/>
          <a:p>
            <a:pPr algn="l"/>
            <a:r>
              <a:rPr sz="1500" b="1" i="0">
                <a:solidFill>
                  <a:srgbClr val="0F172A"/>
                </a:solidFill>
                <a:latin typeface="Calibri"/>
              </a:rPr>
              <a:t>Your learning matters</a:t>
            </a:r>
          </a:p>
        </p:txBody>
      </p:sp>
      <p:sp>
        <p:nvSpPr>
          <p:cNvPr id="24" name="TextBox 23"/>
          <p:cNvSpPr txBox="1"/>
          <p:nvPr/>
        </p:nvSpPr>
        <p:spPr>
          <a:xfrm>
            <a:off x="4407407" y="3529584"/>
            <a:ext cx="3374136" cy="1691639"/>
          </a:xfrm>
          <a:prstGeom prst="rect">
            <a:avLst/>
          </a:prstGeom>
          <a:noFill/>
        </p:spPr>
        <p:txBody>
          <a:bodyPr wrap="square" anchor="t"/>
          <a:lstStyle/>
          <a:p>
            <a:pPr algn="l"/>
            <a:r>
              <a:rPr sz="1300" b="0" i="0">
                <a:solidFill>
                  <a:srgbClr val="475569"/>
                </a:solidFill>
                <a:latin typeface="Calibri"/>
              </a:rPr>
              <a:t>Test, write it down, improve, and explain. Busy posts without a story do not count.</a:t>
            </a:r>
          </a:p>
        </p:txBody>
      </p:sp>
      <p:sp>
        <p:nvSpPr>
          <p:cNvPr id="25" name="Rounded Rectangle 24"/>
          <p:cNvSpPr/>
          <p:nvPr/>
        </p:nvSpPr>
        <p:spPr>
          <a:xfrm>
            <a:off x="8101583" y="2999232"/>
            <a:ext cx="3703320" cy="23317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66175" y="3145536"/>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6175" y="3163824"/>
            <a:ext cx="347472" cy="310896"/>
          </a:xfrm>
          <a:prstGeom prst="rect">
            <a:avLst/>
          </a:prstGeom>
          <a:noFill/>
        </p:spPr>
        <p:txBody>
          <a:bodyPr wrap="square" anchor="t"/>
          <a:lstStyle/>
          <a:p>
            <a:pPr algn="ctr"/>
            <a:r>
              <a:rPr sz="1300" b="1" i="0">
                <a:solidFill>
                  <a:srgbClr val="FFFFFF"/>
                </a:solidFill>
                <a:latin typeface="Calibri"/>
              </a:rPr>
              <a:t>4</a:t>
            </a:r>
          </a:p>
        </p:txBody>
      </p:sp>
      <p:sp>
        <p:nvSpPr>
          <p:cNvPr id="28" name="TextBox 27"/>
          <p:cNvSpPr txBox="1"/>
          <p:nvPr/>
        </p:nvSpPr>
        <p:spPr>
          <a:xfrm>
            <a:off x="8686800" y="3163824"/>
            <a:ext cx="2935224" cy="310896"/>
          </a:xfrm>
          <a:prstGeom prst="rect">
            <a:avLst/>
          </a:prstGeom>
          <a:noFill/>
        </p:spPr>
        <p:txBody>
          <a:bodyPr wrap="square" anchor="ctr"/>
          <a:lstStyle/>
          <a:p>
            <a:pPr algn="l"/>
            <a:r>
              <a:rPr sz="1500" b="1" i="0">
                <a:solidFill>
                  <a:srgbClr val="0F172A"/>
                </a:solidFill>
                <a:latin typeface="Calibri"/>
              </a:rPr>
              <a:t>Your evidence matters</a:t>
            </a:r>
          </a:p>
        </p:txBody>
      </p:sp>
      <p:sp>
        <p:nvSpPr>
          <p:cNvPr id="29" name="TextBox 28"/>
          <p:cNvSpPr txBox="1"/>
          <p:nvPr/>
        </p:nvSpPr>
        <p:spPr>
          <a:xfrm>
            <a:off x="8266175" y="3529584"/>
            <a:ext cx="3374136" cy="1691639"/>
          </a:xfrm>
          <a:prstGeom prst="rect">
            <a:avLst/>
          </a:prstGeom>
          <a:noFill/>
        </p:spPr>
        <p:txBody>
          <a:bodyPr wrap="square" anchor="t"/>
          <a:lstStyle/>
          <a:p>
            <a:pPr algn="l"/>
            <a:r>
              <a:rPr sz="1300" b="0" i="0">
                <a:solidFill>
                  <a:srgbClr val="475569"/>
                </a:solidFill>
                <a:latin typeface="Calibri"/>
              </a:rPr>
              <a:t>Results count when a tracking link and an approved source let SitGuru check them.</a:t>
            </a:r>
          </a:p>
        </p:txBody>
      </p:sp>
      <p:sp>
        <p:nvSpPr>
          <p:cNvPr id="30" name="TextBox 29"/>
          <p:cNvSpPr txBox="1"/>
          <p:nvPr/>
        </p:nvSpPr>
        <p:spPr>
          <a:xfrm>
            <a:off x="384048" y="5486400"/>
            <a:ext cx="11430000" cy="868680"/>
          </a:xfrm>
          <a:prstGeom prst="rect">
            <a:avLst/>
          </a:prstGeom>
          <a:noFill/>
        </p:spPr>
        <p:txBody>
          <a:bodyPr wrap="square" anchor="t"/>
          <a:lstStyle/>
          <a:p>
            <a:pPr algn="l"/>
            <a:r>
              <a:rPr sz="1100" b="0" i="0">
                <a:solidFill>
                  <a:srgbClr val="475569"/>
                </a:solidFill>
                <a:latin typeface="Calibri"/>
              </a:rPr>
              <a:t>Employer: Graff Enterprises LLC dba SitGuru. Questions: intern@sitguru.com. SitGuru runs the project. Your school counts credits and hours.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SitGuru in 60 seconds</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Know the business before you try to grow it</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4</a:t>
            </a:r>
          </a:p>
        </p:txBody>
      </p:sp>
      <p:sp>
        <p:nvSpPr>
          <p:cNvPr id="12" name="TextBox 11"/>
          <p:cNvSpPr txBox="1"/>
          <p:nvPr/>
        </p:nvSpPr>
        <p:spPr>
          <a:xfrm>
            <a:off x="384048" y="1335024"/>
            <a:ext cx="11430000" cy="640080"/>
          </a:xfrm>
          <a:prstGeom prst="rect">
            <a:avLst/>
          </a:prstGeom>
          <a:noFill/>
        </p:spPr>
        <p:txBody>
          <a:bodyPr wrap="square" anchor="t"/>
          <a:lstStyle/>
          <a:p>
            <a:pPr algn="l"/>
            <a:r>
              <a:rPr sz="1600" b="0" i="0">
                <a:solidFill>
                  <a:srgbClr val="0F172A"/>
                </a:solidFill>
                <a:latin typeface="Calibri"/>
              </a:rPr>
              <a:t>SitGuru is a trusted local pet care marketplace. Pet Parents find independent Pet Gurus for walks, sitting, boarding, and drop-ins. Community, partners, events, referrals, and Ambassadors support growth. Bookings stay on SitGuru.</a:t>
            </a:r>
          </a:p>
        </p:txBody>
      </p:sp>
      <p:sp>
        <p:nvSpPr>
          <p:cNvPr id="13" name="Rounded Rectangle 12"/>
          <p:cNvSpPr/>
          <p:nvPr/>
        </p:nvSpPr>
        <p:spPr>
          <a:xfrm>
            <a:off x="384048" y="2103120"/>
            <a:ext cx="3703320" cy="23317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48640" y="224942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267712"/>
            <a:ext cx="347472" cy="310896"/>
          </a:xfrm>
          <a:prstGeom prst="rect">
            <a:avLst/>
          </a:prstGeom>
          <a:noFill/>
        </p:spPr>
        <p:txBody>
          <a:bodyPr wrap="square" anchor="t"/>
          <a:lstStyle/>
          <a:p>
            <a:pPr algn="ctr"/>
            <a:r>
              <a:rPr sz="1300" b="1" i="0">
                <a:solidFill>
                  <a:srgbClr val="FFFFFF"/>
                </a:solidFill>
                <a:latin typeface="Calibri"/>
              </a:rPr>
              <a:t>1</a:t>
            </a:r>
          </a:p>
        </p:txBody>
      </p:sp>
      <p:sp>
        <p:nvSpPr>
          <p:cNvPr id="16" name="TextBox 15"/>
          <p:cNvSpPr txBox="1"/>
          <p:nvPr/>
        </p:nvSpPr>
        <p:spPr>
          <a:xfrm>
            <a:off x="969264" y="2267712"/>
            <a:ext cx="2935224" cy="310896"/>
          </a:xfrm>
          <a:prstGeom prst="rect">
            <a:avLst/>
          </a:prstGeom>
          <a:noFill/>
        </p:spPr>
        <p:txBody>
          <a:bodyPr wrap="square" anchor="ctr"/>
          <a:lstStyle/>
          <a:p>
            <a:pPr algn="l"/>
            <a:r>
              <a:rPr sz="1500" b="1" i="0">
                <a:solidFill>
                  <a:srgbClr val="0F172A"/>
                </a:solidFill>
                <a:latin typeface="Calibri"/>
              </a:rPr>
              <a:t>Pet Parents</a:t>
            </a:r>
          </a:p>
        </p:txBody>
      </p:sp>
      <p:sp>
        <p:nvSpPr>
          <p:cNvPr id="17" name="TextBox 16"/>
          <p:cNvSpPr txBox="1"/>
          <p:nvPr/>
        </p:nvSpPr>
        <p:spPr>
          <a:xfrm>
            <a:off x="548640" y="2633472"/>
            <a:ext cx="3374136" cy="1691639"/>
          </a:xfrm>
          <a:prstGeom prst="rect">
            <a:avLst/>
          </a:prstGeom>
          <a:noFill/>
        </p:spPr>
        <p:txBody>
          <a:bodyPr wrap="square" anchor="t"/>
          <a:lstStyle/>
          <a:p>
            <a:pPr algn="l"/>
            <a:r>
              <a:rPr sz="1300" b="0" i="0">
                <a:solidFill>
                  <a:srgbClr val="475569"/>
                </a:solidFill>
                <a:latin typeface="Calibri"/>
              </a:rPr>
              <a:t>People looking for trusted local pet care. Send them to Find Care with a tracking link.</a:t>
            </a:r>
          </a:p>
        </p:txBody>
      </p:sp>
      <p:sp>
        <p:nvSpPr>
          <p:cNvPr id="18" name="Rounded Rectangle 17"/>
          <p:cNvSpPr/>
          <p:nvPr/>
        </p:nvSpPr>
        <p:spPr>
          <a:xfrm>
            <a:off x="4242816" y="2103120"/>
            <a:ext cx="3703320" cy="23317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07407" y="224942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07407" y="2267712"/>
            <a:ext cx="347472" cy="310896"/>
          </a:xfrm>
          <a:prstGeom prst="rect">
            <a:avLst/>
          </a:prstGeom>
          <a:noFill/>
        </p:spPr>
        <p:txBody>
          <a:bodyPr wrap="square" anchor="t"/>
          <a:lstStyle/>
          <a:p>
            <a:pPr algn="ctr"/>
            <a:r>
              <a:rPr sz="1300" b="1" i="0">
                <a:solidFill>
                  <a:srgbClr val="FFFFFF"/>
                </a:solidFill>
                <a:latin typeface="Calibri"/>
              </a:rPr>
              <a:t>3</a:t>
            </a:r>
          </a:p>
        </p:txBody>
      </p:sp>
      <p:sp>
        <p:nvSpPr>
          <p:cNvPr id="21" name="TextBox 20"/>
          <p:cNvSpPr txBox="1"/>
          <p:nvPr/>
        </p:nvSpPr>
        <p:spPr>
          <a:xfrm>
            <a:off x="4828031" y="2267712"/>
            <a:ext cx="2935224" cy="310896"/>
          </a:xfrm>
          <a:prstGeom prst="rect">
            <a:avLst/>
          </a:prstGeom>
          <a:noFill/>
        </p:spPr>
        <p:txBody>
          <a:bodyPr wrap="square" anchor="ctr"/>
          <a:lstStyle/>
          <a:p>
            <a:pPr algn="l"/>
            <a:r>
              <a:rPr sz="1500" b="1" i="0">
                <a:solidFill>
                  <a:srgbClr val="0F172A"/>
                </a:solidFill>
                <a:latin typeface="Calibri"/>
              </a:rPr>
              <a:t>Pet Gurus</a:t>
            </a:r>
          </a:p>
        </p:txBody>
      </p:sp>
      <p:sp>
        <p:nvSpPr>
          <p:cNvPr id="22" name="TextBox 21"/>
          <p:cNvSpPr txBox="1"/>
          <p:nvPr/>
        </p:nvSpPr>
        <p:spPr>
          <a:xfrm>
            <a:off x="4407407" y="2633472"/>
            <a:ext cx="3374136" cy="1691639"/>
          </a:xfrm>
          <a:prstGeom prst="rect">
            <a:avLst/>
          </a:prstGeom>
          <a:noFill/>
        </p:spPr>
        <p:txBody>
          <a:bodyPr wrap="square" anchor="t"/>
          <a:lstStyle/>
          <a:p>
            <a:pPr algn="l"/>
            <a:r>
              <a:rPr sz="1300" b="0" i="0">
                <a:solidFill>
                  <a:srgbClr val="475569"/>
                </a:solidFill>
                <a:latin typeface="Calibri"/>
              </a:rPr>
              <a:t>Independent sitters and walkers. Promote Become a Guru. Interns do not open Guru Earnings.</a:t>
            </a:r>
          </a:p>
        </p:txBody>
      </p:sp>
      <p:sp>
        <p:nvSpPr>
          <p:cNvPr id="23" name="Rounded Rectangle 22"/>
          <p:cNvSpPr/>
          <p:nvPr/>
        </p:nvSpPr>
        <p:spPr>
          <a:xfrm>
            <a:off x="8101583" y="2103120"/>
            <a:ext cx="3703320" cy="23317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66175" y="224942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66175" y="2267712"/>
            <a:ext cx="347472" cy="310896"/>
          </a:xfrm>
          <a:prstGeom prst="rect">
            <a:avLst/>
          </a:prstGeom>
          <a:noFill/>
        </p:spPr>
        <p:txBody>
          <a:bodyPr wrap="square" anchor="t"/>
          <a:lstStyle/>
          <a:p>
            <a:pPr algn="ctr"/>
            <a:r>
              <a:rPr sz="1300" b="1" i="0">
                <a:solidFill>
                  <a:srgbClr val="FFFFFF"/>
                </a:solidFill>
                <a:latin typeface="Calibri"/>
              </a:rPr>
              <a:t>4</a:t>
            </a:r>
          </a:p>
        </p:txBody>
      </p:sp>
      <p:sp>
        <p:nvSpPr>
          <p:cNvPr id="26" name="TextBox 25"/>
          <p:cNvSpPr txBox="1"/>
          <p:nvPr/>
        </p:nvSpPr>
        <p:spPr>
          <a:xfrm>
            <a:off x="8686800" y="2267712"/>
            <a:ext cx="2935224" cy="310896"/>
          </a:xfrm>
          <a:prstGeom prst="rect">
            <a:avLst/>
          </a:prstGeom>
          <a:noFill/>
        </p:spPr>
        <p:txBody>
          <a:bodyPr wrap="square" anchor="ctr"/>
          <a:lstStyle/>
          <a:p>
            <a:pPr algn="l"/>
            <a:r>
              <a:rPr sz="1500" b="1" i="0">
                <a:solidFill>
                  <a:srgbClr val="0F172A"/>
                </a:solidFill>
                <a:latin typeface="Calibri"/>
              </a:rPr>
              <a:t>Community</a:t>
            </a:r>
          </a:p>
        </p:txBody>
      </p:sp>
      <p:sp>
        <p:nvSpPr>
          <p:cNvPr id="27" name="TextBox 26"/>
          <p:cNvSpPr txBox="1"/>
          <p:nvPr/>
        </p:nvSpPr>
        <p:spPr>
          <a:xfrm>
            <a:off x="8266175" y="2633472"/>
            <a:ext cx="3374136" cy="1691639"/>
          </a:xfrm>
          <a:prstGeom prst="rect">
            <a:avLst/>
          </a:prstGeom>
          <a:noFill/>
        </p:spPr>
        <p:txBody>
          <a:bodyPr wrap="square" anchor="t"/>
          <a:lstStyle/>
          <a:p>
            <a:pPr algn="l"/>
            <a:r>
              <a:rPr sz="1300" b="0" i="0">
                <a:solidFill>
                  <a:srgbClr val="475569"/>
                </a:solidFill>
                <a:latin typeface="Calibri"/>
              </a:rPr>
              <a:t>Partners, public pet events, referrals, Ambassadors, and local pet-friendly moments.</a:t>
            </a:r>
          </a:p>
        </p:txBody>
      </p:sp>
      <p:sp>
        <p:nvSpPr>
          <p:cNvPr id="28" name="Rounded Rectangle 27"/>
          <p:cNvSpPr/>
          <p:nvPr/>
        </p:nvSpPr>
        <p:spPr>
          <a:xfrm>
            <a:off x="384048" y="4617720"/>
            <a:ext cx="11430000" cy="1691640"/>
          </a:xfrm>
          <a:prstGeom prst="roundRect">
            <a:avLst>
              <a:gd name="adj" fmla="val 6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736592"/>
            <a:ext cx="11064240" cy="292608"/>
          </a:xfrm>
          <a:prstGeom prst="rect">
            <a:avLst/>
          </a:prstGeom>
          <a:noFill/>
        </p:spPr>
        <p:txBody>
          <a:bodyPr wrap="square" anchor="t"/>
          <a:lstStyle/>
          <a:p>
            <a:pPr algn="l"/>
            <a:r>
              <a:rPr sz="1500" b="1" i="0">
                <a:solidFill>
                  <a:srgbClr val="166534"/>
                </a:solidFill>
                <a:latin typeface="Calibri"/>
              </a:rPr>
              <a:t>Your internship sits across this ecosystem</a:t>
            </a:r>
          </a:p>
        </p:txBody>
      </p:sp>
      <p:sp>
        <p:nvSpPr>
          <p:cNvPr id="30" name="TextBox 29"/>
          <p:cNvSpPr txBox="1"/>
          <p:nvPr/>
        </p:nvSpPr>
        <p:spPr>
          <a:xfrm>
            <a:off x="566928" y="5047488"/>
            <a:ext cx="11064240" cy="1097280"/>
          </a:xfrm>
          <a:prstGeom prst="rect">
            <a:avLst/>
          </a:prstGeom>
          <a:noFill/>
        </p:spPr>
        <p:txBody>
          <a:bodyPr wrap="square" anchor="t"/>
          <a:lstStyle/>
          <a:p>
            <a:pPr algn="l"/>
            <a:r>
              <a:rPr sz="1400" b="0" i="0">
                <a:solidFill>
                  <a:srgbClr val="475569"/>
                </a:solidFill>
                <a:latin typeface="Calibri"/>
              </a:rPr>
              <a:t>Attract the right people. Improve conversion. Test messages and channels. Document what SitGuru should repeat. Rogue is the mascot — high-energy and loving. Do not invent another mascot. Never send people to Rover or Wag.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What success looks like</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Two outcomes: professional learning and a business contribution SitGuru can use</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5</a:t>
            </a:r>
          </a:p>
        </p:txBody>
      </p:sp>
      <p:sp>
        <p:nvSpPr>
          <p:cNvPr id="12" name="Rounded Rectangle 11"/>
          <p:cNvSpPr/>
          <p:nvPr/>
        </p:nvSpPr>
        <p:spPr>
          <a:xfrm>
            <a:off x="320040" y="1417320"/>
            <a:ext cx="2267712" cy="452628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84632" y="156362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 y="1581912"/>
            <a:ext cx="347472" cy="310896"/>
          </a:xfrm>
          <a:prstGeom prst="rect">
            <a:avLst/>
          </a:prstGeom>
          <a:noFill/>
        </p:spPr>
        <p:txBody>
          <a:bodyPr wrap="square" anchor="t"/>
          <a:lstStyle/>
          <a:p>
            <a:pPr algn="ctr"/>
            <a:r>
              <a:rPr sz="1300" b="1" i="0">
                <a:solidFill>
                  <a:srgbClr val="FFFFFF"/>
                </a:solidFill>
                <a:latin typeface="Calibri"/>
              </a:rPr>
              <a:t>1</a:t>
            </a:r>
          </a:p>
        </p:txBody>
      </p:sp>
      <p:sp>
        <p:nvSpPr>
          <p:cNvPr id="15" name="TextBox 14"/>
          <p:cNvSpPr txBox="1"/>
          <p:nvPr/>
        </p:nvSpPr>
        <p:spPr>
          <a:xfrm>
            <a:off x="905256" y="1581912"/>
            <a:ext cx="1499616" cy="310896"/>
          </a:xfrm>
          <a:prstGeom prst="rect">
            <a:avLst/>
          </a:prstGeom>
          <a:noFill/>
        </p:spPr>
        <p:txBody>
          <a:bodyPr wrap="square" anchor="ctr"/>
          <a:lstStyle/>
          <a:p>
            <a:pPr algn="l"/>
            <a:r>
              <a:rPr sz="1500" b="1" i="0">
                <a:solidFill>
                  <a:srgbClr val="0F172A"/>
                </a:solidFill>
                <a:latin typeface="Calibri"/>
              </a:rPr>
              <a:t>Learn</a:t>
            </a:r>
          </a:p>
        </p:txBody>
      </p:sp>
      <p:sp>
        <p:nvSpPr>
          <p:cNvPr id="16" name="TextBox 15"/>
          <p:cNvSpPr txBox="1"/>
          <p:nvPr/>
        </p:nvSpPr>
        <p:spPr>
          <a:xfrm>
            <a:off x="484632" y="1947672"/>
            <a:ext cx="1938528" cy="3886200"/>
          </a:xfrm>
          <a:prstGeom prst="rect">
            <a:avLst/>
          </a:prstGeom>
          <a:noFill/>
        </p:spPr>
        <p:txBody>
          <a:bodyPr wrap="square" anchor="t"/>
          <a:lstStyle/>
          <a:p>
            <a:pPr algn="l"/>
            <a:r>
              <a:rPr sz="1300" b="0" i="0">
                <a:solidFill>
                  <a:srgbClr val="475569"/>
                </a:solidFill>
                <a:latin typeface="Calibri"/>
              </a:rPr>
              <a:t>Strategy, content, analytics, tracking, and clear writing.</a:t>
            </a:r>
          </a:p>
        </p:txBody>
      </p:sp>
      <p:sp>
        <p:nvSpPr>
          <p:cNvPr id="17" name="Rounded Rectangle 16"/>
          <p:cNvSpPr/>
          <p:nvPr/>
        </p:nvSpPr>
        <p:spPr>
          <a:xfrm>
            <a:off x="2679192" y="1417320"/>
            <a:ext cx="2267712" cy="452628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843784" y="156362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43784" y="1581912"/>
            <a:ext cx="347472" cy="310896"/>
          </a:xfrm>
          <a:prstGeom prst="rect">
            <a:avLst/>
          </a:prstGeom>
          <a:noFill/>
        </p:spPr>
        <p:txBody>
          <a:bodyPr wrap="square" anchor="t"/>
          <a:lstStyle/>
          <a:p>
            <a:pPr algn="ctr"/>
            <a:r>
              <a:rPr sz="1300" b="1" i="0">
                <a:solidFill>
                  <a:srgbClr val="FFFFFF"/>
                </a:solidFill>
                <a:latin typeface="Calibri"/>
              </a:rPr>
              <a:t>3</a:t>
            </a:r>
          </a:p>
        </p:txBody>
      </p:sp>
      <p:sp>
        <p:nvSpPr>
          <p:cNvPr id="20" name="TextBox 19"/>
          <p:cNvSpPr txBox="1"/>
          <p:nvPr/>
        </p:nvSpPr>
        <p:spPr>
          <a:xfrm>
            <a:off x="3264408" y="1581912"/>
            <a:ext cx="1499616" cy="310896"/>
          </a:xfrm>
          <a:prstGeom prst="rect">
            <a:avLst/>
          </a:prstGeom>
          <a:noFill/>
        </p:spPr>
        <p:txBody>
          <a:bodyPr wrap="square" anchor="ctr"/>
          <a:lstStyle/>
          <a:p>
            <a:pPr algn="l"/>
            <a:r>
              <a:rPr sz="1500" b="1" i="0">
                <a:solidFill>
                  <a:srgbClr val="0F172A"/>
                </a:solidFill>
                <a:latin typeface="Calibri"/>
              </a:rPr>
              <a:t>Execute</a:t>
            </a:r>
          </a:p>
        </p:txBody>
      </p:sp>
      <p:sp>
        <p:nvSpPr>
          <p:cNvPr id="21" name="TextBox 20"/>
          <p:cNvSpPr txBox="1"/>
          <p:nvPr/>
        </p:nvSpPr>
        <p:spPr>
          <a:xfrm>
            <a:off x="2843784" y="1947672"/>
            <a:ext cx="1938528" cy="3886200"/>
          </a:xfrm>
          <a:prstGeom prst="rect">
            <a:avLst/>
          </a:prstGeom>
          <a:noFill/>
        </p:spPr>
        <p:txBody>
          <a:bodyPr wrap="square" anchor="t"/>
          <a:lstStyle/>
          <a:p>
            <a:pPr algn="l"/>
            <a:r>
              <a:rPr sz="1300" b="0" i="0">
                <a:solidFill>
                  <a:srgbClr val="475569"/>
                </a:solidFill>
                <a:latin typeface="Calibri"/>
              </a:rPr>
              <a:t>Finish real tasks, campaigns, experiments, and files.</a:t>
            </a:r>
          </a:p>
        </p:txBody>
      </p:sp>
      <p:sp>
        <p:nvSpPr>
          <p:cNvPr id="22" name="Rounded Rectangle 21"/>
          <p:cNvSpPr/>
          <p:nvPr/>
        </p:nvSpPr>
        <p:spPr>
          <a:xfrm>
            <a:off x="5038344" y="1417320"/>
            <a:ext cx="2267712" cy="452628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202936" y="156362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02936" y="1581912"/>
            <a:ext cx="347472" cy="310896"/>
          </a:xfrm>
          <a:prstGeom prst="rect">
            <a:avLst/>
          </a:prstGeom>
          <a:noFill/>
        </p:spPr>
        <p:txBody>
          <a:bodyPr wrap="square" anchor="t"/>
          <a:lstStyle/>
          <a:p>
            <a:pPr algn="ctr"/>
            <a:r>
              <a:rPr sz="1300" b="1" i="0">
                <a:solidFill>
                  <a:srgbClr val="FFFFFF"/>
                </a:solidFill>
                <a:latin typeface="Calibri"/>
              </a:rPr>
              <a:t>4</a:t>
            </a:r>
          </a:p>
        </p:txBody>
      </p:sp>
      <p:sp>
        <p:nvSpPr>
          <p:cNvPr id="25" name="TextBox 24"/>
          <p:cNvSpPr txBox="1"/>
          <p:nvPr/>
        </p:nvSpPr>
        <p:spPr>
          <a:xfrm>
            <a:off x="5623559" y="1581912"/>
            <a:ext cx="1499616" cy="310896"/>
          </a:xfrm>
          <a:prstGeom prst="rect">
            <a:avLst/>
          </a:prstGeom>
          <a:noFill/>
        </p:spPr>
        <p:txBody>
          <a:bodyPr wrap="square" anchor="ctr"/>
          <a:lstStyle/>
          <a:p>
            <a:pPr algn="l"/>
            <a:r>
              <a:rPr sz="1500" b="1" i="0">
                <a:solidFill>
                  <a:srgbClr val="0F172A"/>
                </a:solidFill>
                <a:latin typeface="Calibri"/>
              </a:rPr>
              <a:t>Measure</a:t>
            </a:r>
          </a:p>
        </p:txBody>
      </p:sp>
      <p:sp>
        <p:nvSpPr>
          <p:cNvPr id="26" name="TextBox 25"/>
          <p:cNvSpPr txBox="1"/>
          <p:nvPr/>
        </p:nvSpPr>
        <p:spPr>
          <a:xfrm>
            <a:off x="5202936" y="1947672"/>
            <a:ext cx="1938528" cy="3886200"/>
          </a:xfrm>
          <a:prstGeom prst="rect">
            <a:avLst/>
          </a:prstGeom>
          <a:noFill/>
        </p:spPr>
        <p:txBody>
          <a:bodyPr wrap="square" anchor="t"/>
          <a:lstStyle/>
          <a:p>
            <a:pPr algn="l"/>
            <a:r>
              <a:rPr sz="1300" b="0" i="0">
                <a:solidFill>
                  <a:srgbClr val="475569"/>
                </a:solidFill>
                <a:latin typeface="Calibri"/>
              </a:rPr>
              <a:t>Use approved sources so activity is not confused with results.</a:t>
            </a:r>
          </a:p>
        </p:txBody>
      </p:sp>
      <p:sp>
        <p:nvSpPr>
          <p:cNvPr id="27" name="Rounded Rectangle 26"/>
          <p:cNvSpPr/>
          <p:nvPr/>
        </p:nvSpPr>
        <p:spPr>
          <a:xfrm>
            <a:off x="7397496" y="1417320"/>
            <a:ext cx="2267712" cy="452628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562088" y="156362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62088" y="1581912"/>
            <a:ext cx="347472" cy="310896"/>
          </a:xfrm>
          <a:prstGeom prst="rect">
            <a:avLst/>
          </a:prstGeom>
          <a:noFill/>
        </p:spPr>
        <p:txBody>
          <a:bodyPr wrap="square" anchor="t"/>
          <a:lstStyle/>
          <a:p>
            <a:pPr algn="ctr"/>
            <a:r>
              <a:rPr sz="1300" b="1" i="0">
                <a:solidFill>
                  <a:srgbClr val="FFFFFF"/>
                </a:solidFill>
                <a:latin typeface="Calibri"/>
              </a:rPr>
              <a:t>5</a:t>
            </a:r>
          </a:p>
        </p:txBody>
      </p:sp>
      <p:sp>
        <p:nvSpPr>
          <p:cNvPr id="30" name="TextBox 29"/>
          <p:cNvSpPr txBox="1"/>
          <p:nvPr/>
        </p:nvSpPr>
        <p:spPr>
          <a:xfrm>
            <a:off x="7982712" y="1581912"/>
            <a:ext cx="1499616" cy="310896"/>
          </a:xfrm>
          <a:prstGeom prst="rect">
            <a:avLst/>
          </a:prstGeom>
          <a:noFill/>
        </p:spPr>
        <p:txBody>
          <a:bodyPr wrap="square" anchor="ctr"/>
          <a:lstStyle/>
          <a:p>
            <a:pPr algn="l"/>
            <a:r>
              <a:rPr sz="1500" b="1" i="0">
                <a:solidFill>
                  <a:srgbClr val="0F172A"/>
                </a:solidFill>
                <a:latin typeface="Calibri"/>
              </a:rPr>
              <a:t>Improve</a:t>
            </a:r>
          </a:p>
        </p:txBody>
      </p:sp>
      <p:sp>
        <p:nvSpPr>
          <p:cNvPr id="31" name="TextBox 30"/>
          <p:cNvSpPr txBox="1"/>
          <p:nvPr/>
        </p:nvSpPr>
        <p:spPr>
          <a:xfrm>
            <a:off x="7562088" y="1947672"/>
            <a:ext cx="1938528" cy="3886200"/>
          </a:xfrm>
          <a:prstGeom prst="rect">
            <a:avLst/>
          </a:prstGeom>
          <a:noFill/>
        </p:spPr>
        <p:txBody>
          <a:bodyPr wrap="square" anchor="t"/>
          <a:lstStyle/>
          <a:p>
            <a:pPr algn="l"/>
            <a:r>
              <a:rPr sz="1300" b="0" i="0">
                <a:solidFill>
                  <a:srgbClr val="475569"/>
                </a:solidFill>
                <a:latin typeface="Calibri"/>
              </a:rPr>
              <a:t>Say what worked, what missed, what you learned, and what changed.</a:t>
            </a:r>
          </a:p>
        </p:txBody>
      </p:sp>
      <p:sp>
        <p:nvSpPr>
          <p:cNvPr id="32" name="Rounded Rectangle 31"/>
          <p:cNvSpPr/>
          <p:nvPr/>
        </p:nvSpPr>
        <p:spPr>
          <a:xfrm>
            <a:off x="9756648" y="1417320"/>
            <a:ext cx="2267712" cy="452628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921240" y="156362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921240" y="1581912"/>
            <a:ext cx="347472" cy="310896"/>
          </a:xfrm>
          <a:prstGeom prst="rect">
            <a:avLst/>
          </a:prstGeom>
          <a:noFill/>
        </p:spPr>
        <p:txBody>
          <a:bodyPr wrap="square" anchor="t"/>
          <a:lstStyle/>
          <a:p>
            <a:pPr algn="ctr"/>
            <a:r>
              <a:rPr sz="1300" b="1" i="0">
                <a:solidFill>
                  <a:srgbClr val="FFFFFF"/>
                </a:solidFill>
                <a:latin typeface="Calibri"/>
              </a:rPr>
              <a:t>6</a:t>
            </a:r>
          </a:p>
        </p:txBody>
      </p:sp>
      <p:sp>
        <p:nvSpPr>
          <p:cNvPr id="35" name="TextBox 34"/>
          <p:cNvSpPr txBox="1"/>
          <p:nvPr/>
        </p:nvSpPr>
        <p:spPr>
          <a:xfrm>
            <a:off x="10341864" y="1581912"/>
            <a:ext cx="1499616" cy="310896"/>
          </a:xfrm>
          <a:prstGeom prst="rect">
            <a:avLst/>
          </a:prstGeom>
          <a:noFill/>
        </p:spPr>
        <p:txBody>
          <a:bodyPr wrap="square" anchor="ctr"/>
          <a:lstStyle/>
          <a:p>
            <a:pPr algn="l"/>
            <a:r>
              <a:rPr sz="1500" b="1" i="0">
                <a:solidFill>
                  <a:srgbClr val="0F172A"/>
                </a:solidFill>
                <a:latin typeface="Calibri"/>
              </a:rPr>
              <a:t>Handoff</a:t>
            </a:r>
          </a:p>
        </p:txBody>
      </p:sp>
      <p:sp>
        <p:nvSpPr>
          <p:cNvPr id="36" name="TextBox 35"/>
          <p:cNvSpPr txBox="1"/>
          <p:nvPr/>
        </p:nvSpPr>
        <p:spPr>
          <a:xfrm>
            <a:off x="9921240" y="1947672"/>
            <a:ext cx="1938528" cy="3886200"/>
          </a:xfrm>
          <a:prstGeom prst="rect">
            <a:avLst/>
          </a:prstGeom>
          <a:noFill/>
        </p:spPr>
        <p:txBody>
          <a:bodyPr wrap="square" anchor="t"/>
          <a:lstStyle/>
          <a:p>
            <a:pPr algn="l"/>
            <a:r>
              <a:rPr sz="1300" b="0" i="0">
                <a:solidFill>
                  <a:srgbClr val="475569"/>
                </a:solidFill>
                <a:latin typeface="Calibri"/>
              </a:rPr>
              <a:t>Leave a playbook, Growth Report, and reusable assets — not loose posts.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1965960" cy="960120"/>
          </a:xfrm>
          <a:prstGeom prst="roundRect">
            <a:avLst>
              <a:gd name="adj" fmla="val 1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itguru-logo-horizontal.jpg"/>
          <p:cNvPicPr>
            <a:picLocks noChangeAspect="1"/>
          </p:cNvPicPr>
          <p:nvPr/>
        </p:nvPicPr>
        <p:blipFill>
          <a:blip r:embed="rId2"/>
          <a:stretch>
            <a:fillRect/>
          </a:stretch>
        </p:blipFill>
        <p:spPr>
          <a:xfrm>
            <a:off x="621792" y="530352"/>
            <a:ext cx="1737360" cy="658368"/>
          </a:xfrm>
          <a:prstGeom prst="rect">
            <a:avLst/>
          </a:prstGeom>
        </p:spPr>
      </p:pic>
      <p:sp>
        <p:nvSpPr>
          <p:cNvPr id="6" name="TextBox 5"/>
          <p:cNvSpPr txBox="1"/>
          <p:nvPr/>
        </p:nvSpPr>
        <p:spPr>
          <a:xfrm>
            <a:off x="502920" y="1965960"/>
            <a:ext cx="10789920" cy="329184"/>
          </a:xfrm>
          <a:prstGeom prst="rect">
            <a:avLst/>
          </a:prstGeom>
          <a:noFill/>
        </p:spPr>
        <p:txBody>
          <a:bodyPr wrap="square" anchor="t"/>
          <a:lstStyle/>
          <a:p>
            <a:pPr algn="l"/>
            <a:r>
              <a:rPr sz="1300" b="1" i="0">
                <a:solidFill>
                  <a:srgbClr val="CFE6D5"/>
                </a:solidFill>
                <a:latin typeface="Calibri"/>
              </a:rPr>
              <a:t>SECTION  ·  INPROCESSING</a:t>
            </a:r>
          </a:p>
        </p:txBody>
      </p:sp>
      <p:sp>
        <p:nvSpPr>
          <p:cNvPr id="7" name="TextBox 6"/>
          <p:cNvSpPr txBox="1"/>
          <p:nvPr/>
        </p:nvSpPr>
        <p:spPr>
          <a:xfrm>
            <a:off x="502920" y="2304288"/>
            <a:ext cx="10789920" cy="1280160"/>
          </a:xfrm>
          <a:prstGeom prst="rect">
            <a:avLst/>
          </a:prstGeom>
          <a:noFill/>
        </p:spPr>
        <p:txBody>
          <a:bodyPr wrap="square" anchor="t"/>
          <a:lstStyle/>
          <a:p>
            <a:pPr algn="l"/>
            <a:r>
              <a:rPr sz="4000" b="1" i="0">
                <a:solidFill>
                  <a:srgbClr val="FFFFFF"/>
                </a:solidFill>
                <a:latin typeface="Calibri"/>
              </a:rPr>
              <a:t>Get fully ready before you grow</a:t>
            </a:r>
          </a:p>
        </p:txBody>
      </p:sp>
      <p:sp>
        <p:nvSpPr>
          <p:cNvPr id="8" name="TextBox 7"/>
          <p:cNvSpPr txBox="1"/>
          <p:nvPr/>
        </p:nvSpPr>
        <p:spPr>
          <a:xfrm>
            <a:off x="502920" y="3794760"/>
            <a:ext cx="9509760" cy="1280160"/>
          </a:xfrm>
          <a:prstGeom prst="rect">
            <a:avLst/>
          </a:prstGeom>
          <a:noFill/>
        </p:spPr>
        <p:txBody>
          <a:bodyPr wrap="square" anchor="t"/>
          <a:lstStyle/>
          <a:p>
            <a:pPr algn="l"/>
            <a:r>
              <a:rPr sz="1800" b="0" i="0">
                <a:solidFill>
                  <a:srgbClr val="FFFFFF"/>
                </a:solidFill>
                <a:latin typeface="Calibri"/>
              </a:rPr>
              <a:t>Agreement, hours, portal, Help, Brand kit, and intern-safe rules come first. Public campaigns wait.</a:t>
            </a:r>
          </a:p>
        </p:txBody>
      </p:sp>
      <p:sp>
        <p:nvSpPr>
          <p:cNvPr id="9" name="TextBox 8"/>
          <p:cNvSpPr txBox="1"/>
          <p:nvPr/>
        </p:nvSpPr>
        <p:spPr>
          <a:xfrm>
            <a:off x="502920" y="5806440"/>
            <a:ext cx="9509760" cy="365760"/>
          </a:xfrm>
          <a:prstGeom prst="rect">
            <a:avLst/>
          </a:prstGeom>
          <a:noFill/>
        </p:spPr>
        <p:txBody>
          <a:bodyPr wrap="square" anchor="t"/>
          <a:lstStyle/>
          <a:p>
            <a:pPr algn="l"/>
            <a:r>
              <a:rPr sz="1300" b="0" i="0">
                <a:solidFill>
                  <a:srgbClr val="CFE6D5"/>
                </a:solidFill>
                <a:latin typeface="Calibri"/>
              </a:rPr>
              <a:t>Social Media &amp; Community Growth Internship  ·  Spring 2027</a:t>
            </a:r>
          </a:p>
        </p:txBody>
      </p:sp>
      <p:sp>
        <p:nvSpPr>
          <p:cNvPr id="10" name="TextBox 9"/>
          <p:cNvSpPr txBox="1"/>
          <p:nvPr/>
        </p:nvSpPr>
        <p:spPr>
          <a:xfrm>
            <a:off x="384048" y="6473952"/>
            <a:ext cx="10424160" cy="292608"/>
          </a:xfrm>
          <a:prstGeom prst="rect">
            <a:avLst/>
          </a:prstGeom>
          <a:noFill/>
        </p:spPr>
        <p:txBody>
          <a:bodyPr wrap="square" anchor="t"/>
          <a:lstStyle/>
          <a:p>
            <a:pPr algn="l"/>
            <a:r>
              <a:rPr sz="800" b="0" i="0">
                <a:solidFill>
                  <a:srgbClr val="CFE6D5"/>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881360" y="6473952"/>
            <a:ext cx="960120" cy="292608"/>
          </a:xfrm>
          <a:prstGeom prst="rect">
            <a:avLst/>
          </a:prstGeom>
          <a:noFill/>
        </p:spPr>
        <p:txBody>
          <a:bodyPr wrap="square" anchor="t"/>
          <a:lstStyle/>
          <a:p>
            <a:pPr algn="r"/>
            <a:r>
              <a:rPr sz="1000" b="1" i="0">
                <a:solidFill>
                  <a:srgbClr val="FFFFFF"/>
                </a:solidFill>
                <a:latin typeface="Calibri"/>
              </a:rPr>
              <a:t>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Inprocessing: get fully ready to work</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Finish these before any public campaign. Do not start live posts until access, scope, and approval rules are clear.</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7</a:t>
            </a:r>
          </a:p>
        </p:txBody>
      </p:sp>
      <p:sp>
        <p:nvSpPr>
          <p:cNvPr id="12" name="Rounded Rectangle 11"/>
          <p:cNvSpPr/>
          <p:nvPr/>
        </p:nvSpPr>
        <p:spPr>
          <a:xfrm>
            <a:off x="384048" y="1298448"/>
            <a:ext cx="5742432" cy="896112"/>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93776" y="1572768"/>
            <a:ext cx="329184" cy="329184"/>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1591056"/>
            <a:ext cx="329184" cy="292608"/>
          </a:xfrm>
          <a:prstGeom prst="rect">
            <a:avLst/>
          </a:prstGeom>
          <a:noFill/>
        </p:spPr>
        <p:txBody>
          <a:bodyPr wrap="square" anchor="t"/>
          <a:lstStyle/>
          <a:p>
            <a:pPr algn="ctr"/>
            <a:r>
              <a:rPr sz="1200" b="1" i="0">
                <a:solidFill>
                  <a:srgbClr val="FFFFFF"/>
                </a:solidFill>
                <a:latin typeface="Calibri"/>
              </a:rPr>
              <a:t>✓</a:t>
            </a:r>
          </a:p>
        </p:txBody>
      </p:sp>
      <p:sp>
        <p:nvSpPr>
          <p:cNvPr id="15" name="TextBox 14"/>
          <p:cNvSpPr txBox="1"/>
          <p:nvPr/>
        </p:nvSpPr>
        <p:spPr>
          <a:xfrm>
            <a:off x="914400" y="1389888"/>
            <a:ext cx="5074920" cy="292608"/>
          </a:xfrm>
          <a:prstGeom prst="rect">
            <a:avLst/>
          </a:prstGeom>
          <a:noFill/>
        </p:spPr>
        <p:txBody>
          <a:bodyPr wrap="square" anchor="t"/>
          <a:lstStyle/>
          <a:p>
            <a:pPr algn="l"/>
            <a:r>
              <a:rPr sz="1400" b="1" i="0">
                <a:solidFill>
                  <a:srgbClr val="0F172A"/>
                </a:solidFill>
                <a:latin typeface="Calibri"/>
              </a:rPr>
              <a:t>Intern portal access</a:t>
            </a:r>
          </a:p>
        </p:txBody>
      </p:sp>
      <p:sp>
        <p:nvSpPr>
          <p:cNvPr id="16" name="TextBox 15"/>
          <p:cNvSpPr txBox="1"/>
          <p:nvPr/>
        </p:nvSpPr>
        <p:spPr>
          <a:xfrm>
            <a:off x="914400" y="1682495"/>
            <a:ext cx="5074920" cy="438912"/>
          </a:xfrm>
          <a:prstGeom prst="rect">
            <a:avLst/>
          </a:prstGeom>
          <a:noFill/>
        </p:spPr>
        <p:txBody>
          <a:bodyPr wrap="square" anchor="t"/>
          <a:lstStyle/>
          <a:p>
            <a:pPr algn="l"/>
            <a:r>
              <a:rPr sz="1200" b="0" i="0">
                <a:solidFill>
                  <a:srgbClr val="475569"/>
                </a:solidFill>
                <a:latin typeface="Calibri"/>
              </a:rPr>
              <a:t>Sign in at sitguru.com/intern. This login is only the intern workplace.</a:t>
            </a:r>
          </a:p>
        </p:txBody>
      </p:sp>
      <p:sp>
        <p:nvSpPr>
          <p:cNvPr id="17" name="Rounded Rectangle 16"/>
          <p:cNvSpPr/>
          <p:nvPr/>
        </p:nvSpPr>
        <p:spPr>
          <a:xfrm>
            <a:off x="6281928" y="1298448"/>
            <a:ext cx="5742432" cy="896112"/>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91656" y="1572768"/>
            <a:ext cx="329184" cy="329184"/>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1656" y="1591056"/>
            <a:ext cx="329184" cy="292608"/>
          </a:xfrm>
          <a:prstGeom prst="rect">
            <a:avLst/>
          </a:prstGeom>
          <a:noFill/>
        </p:spPr>
        <p:txBody>
          <a:bodyPr wrap="square" anchor="t"/>
          <a:lstStyle/>
          <a:p>
            <a:pPr algn="ctr"/>
            <a:r>
              <a:rPr sz="1200" b="1" i="0">
                <a:solidFill>
                  <a:srgbClr val="FFFFFF"/>
                </a:solidFill>
                <a:latin typeface="Calibri"/>
              </a:rPr>
              <a:t>✓</a:t>
            </a:r>
          </a:p>
        </p:txBody>
      </p:sp>
      <p:sp>
        <p:nvSpPr>
          <p:cNvPr id="20" name="TextBox 19"/>
          <p:cNvSpPr txBox="1"/>
          <p:nvPr/>
        </p:nvSpPr>
        <p:spPr>
          <a:xfrm>
            <a:off x="6812280" y="1389888"/>
            <a:ext cx="5074920" cy="292608"/>
          </a:xfrm>
          <a:prstGeom prst="rect">
            <a:avLst/>
          </a:prstGeom>
          <a:noFill/>
        </p:spPr>
        <p:txBody>
          <a:bodyPr wrap="square" anchor="t"/>
          <a:lstStyle/>
          <a:p>
            <a:pPr algn="l"/>
            <a:r>
              <a:rPr sz="1400" b="1" i="0">
                <a:solidFill>
                  <a:srgbClr val="0F172A"/>
                </a:solidFill>
                <a:latin typeface="Calibri"/>
              </a:rPr>
              <a:t>Four-step onboarding</a:t>
            </a:r>
          </a:p>
        </p:txBody>
      </p:sp>
      <p:sp>
        <p:nvSpPr>
          <p:cNvPr id="21" name="TextBox 20"/>
          <p:cNvSpPr txBox="1"/>
          <p:nvPr/>
        </p:nvSpPr>
        <p:spPr>
          <a:xfrm>
            <a:off x="6812280" y="1682495"/>
            <a:ext cx="5074920" cy="438912"/>
          </a:xfrm>
          <a:prstGeom prst="rect">
            <a:avLst/>
          </a:prstGeom>
          <a:noFill/>
        </p:spPr>
        <p:txBody>
          <a:bodyPr wrap="square" anchor="t"/>
          <a:lstStyle/>
          <a:p>
            <a:pPr algn="l"/>
            <a:r>
              <a:rPr sz="1200" b="0" i="0">
                <a:solidFill>
                  <a:srgbClr val="475569"/>
                </a:solidFill>
                <a:latin typeface="Calibri"/>
              </a:rPr>
              <a:t>Access rules, e-sign the intern agreement, print-sign-upload, then submit.</a:t>
            </a:r>
          </a:p>
        </p:txBody>
      </p:sp>
      <p:sp>
        <p:nvSpPr>
          <p:cNvPr id="22" name="Rounded Rectangle 21"/>
          <p:cNvSpPr/>
          <p:nvPr/>
        </p:nvSpPr>
        <p:spPr>
          <a:xfrm>
            <a:off x="384048" y="2286000"/>
            <a:ext cx="5742432" cy="896112"/>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93776" y="2560320"/>
            <a:ext cx="329184" cy="329184"/>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 y="2578608"/>
            <a:ext cx="329184" cy="292608"/>
          </a:xfrm>
          <a:prstGeom prst="rect">
            <a:avLst/>
          </a:prstGeom>
          <a:noFill/>
        </p:spPr>
        <p:txBody>
          <a:bodyPr wrap="square" anchor="t"/>
          <a:lstStyle/>
          <a:p>
            <a:pPr algn="ctr"/>
            <a:r>
              <a:rPr sz="1200" b="1" i="0">
                <a:solidFill>
                  <a:srgbClr val="FFFFFF"/>
                </a:solidFill>
                <a:latin typeface="Calibri"/>
              </a:rPr>
              <a:t>✓</a:t>
            </a:r>
          </a:p>
        </p:txBody>
      </p:sp>
      <p:sp>
        <p:nvSpPr>
          <p:cNvPr id="25" name="TextBox 24"/>
          <p:cNvSpPr txBox="1"/>
          <p:nvPr/>
        </p:nvSpPr>
        <p:spPr>
          <a:xfrm>
            <a:off x="914400" y="2377440"/>
            <a:ext cx="5074920" cy="292608"/>
          </a:xfrm>
          <a:prstGeom prst="rect">
            <a:avLst/>
          </a:prstGeom>
          <a:noFill/>
        </p:spPr>
        <p:txBody>
          <a:bodyPr wrap="square" anchor="t"/>
          <a:lstStyle/>
          <a:p>
            <a:pPr algn="l"/>
            <a:r>
              <a:rPr sz="1400" b="1" i="0">
                <a:solidFill>
                  <a:srgbClr val="0F172A"/>
                </a:solidFill>
                <a:latin typeface="Calibri"/>
              </a:rPr>
              <a:t>University snapshot</a:t>
            </a:r>
          </a:p>
        </p:txBody>
      </p:sp>
      <p:sp>
        <p:nvSpPr>
          <p:cNvPr id="26" name="TextBox 25"/>
          <p:cNvSpPr txBox="1"/>
          <p:nvPr/>
        </p:nvSpPr>
        <p:spPr>
          <a:xfrm>
            <a:off x="914400" y="2670048"/>
            <a:ext cx="5074920" cy="438912"/>
          </a:xfrm>
          <a:prstGeom prst="rect">
            <a:avLst/>
          </a:prstGeom>
          <a:noFill/>
        </p:spPr>
        <p:txBody>
          <a:bodyPr wrap="square" anchor="t"/>
          <a:lstStyle/>
          <a:p>
            <a:pPr algn="l"/>
            <a:r>
              <a:rPr sz="1200" b="0" i="0">
                <a:solidFill>
                  <a:srgbClr val="475569"/>
                </a:solidFill>
                <a:latin typeface="Calibri"/>
              </a:rPr>
              <a:t>Confirm school, program, credits, required hours, and academic contacts once SitGuru has them.</a:t>
            </a:r>
          </a:p>
        </p:txBody>
      </p:sp>
      <p:sp>
        <p:nvSpPr>
          <p:cNvPr id="27" name="Rounded Rectangle 26"/>
          <p:cNvSpPr/>
          <p:nvPr/>
        </p:nvSpPr>
        <p:spPr>
          <a:xfrm>
            <a:off x="6281928" y="2286000"/>
            <a:ext cx="5742432" cy="896112"/>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91656" y="2560320"/>
            <a:ext cx="329184" cy="329184"/>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91656" y="2578608"/>
            <a:ext cx="329184" cy="292608"/>
          </a:xfrm>
          <a:prstGeom prst="rect">
            <a:avLst/>
          </a:prstGeom>
          <a:noFill/>
        </p:spPr>
        <p:txBody>
          <a:bodyPr wrap="square" anchor="t"/>
          <a:lstStyle/>
          <a:p>
            <a:pPr algn="ctr"/>
            <a:r>
              <a:rPr sz="1200" b="1" i="0">
                <a:solidFill>
                  <a:srgbClr val="FFFFFF"/>
                </a:solidFill>
                <a:latin typeface="Calibri"/>
              </a:rPr>
              <a:t>✓</a:t>
            </a:r>
          </a:p>
        </p:txBody>
      </p:sp>
      <p:sp>
        <p:nvSpPr>
          <p:cNvPr id="30" name="TextBox 29"/>
          <p:cNvSpPr txBox="1"/>
          <p:nvPr/>
        </p:nvSpPr>
        <p:spPr>
          <a:xfrm>
            <a:off x="6812280" y="2377440"/>
            <a:ext cx="5074920" cy="292608"/>
          </a:xfrm>
          <a:prstGeom prst="rect">
            <a:avLst/>
          </a:prstGeom>
          <a:noFill/>
        </p:spPr>
        <p:txBody>
          <a:bodyPr wrap="square" anchor="t"/>
          <a:lstStyle/>
          <a:p>
            <a:pPr algn="l"/>
            <a:r>
              <a:rPr sz="1400" b="1" i="0">
                <a:solidFill>
                  <a:srgbClr val="0F172A"/>
                </a:solidFill>
                <a:latin typeface="Calibri"/>
              </a:rPr>
              <a:t>User Guide + Help</a:t>
            </a:r>
          </a:p>
        </p:txBody>
      </p:sp>
      <p:sp>
        <p:nvSpPr>
          <p:cNvPr id="31" name="TextBox 30"/>
          <p:cNvSpPr txBox="1"/>
          <p:nvPr/>
        </p:nvSpPr>
        <p:spPr>
          <a:xfrm>
            <a:off x="6812280" y="2670048"/>
            <a:ext cx="5074920" cy="438912"/>
          </a:xfrm>
          <a:prstGeom prst="rect">
            <a:avLst/>
          </a:prstGeom>
          <a:noFill/>
        </p:spPr>
        <p:txBody>
          <a:bodyPr wrap="square" anchor="t"/>
          <a:lstStyle/>
          <a:p>
            <a:pPr algn="l"/>
            <a:r>
              <a:rPr sz="1200" b="0" i="0">
                <a:solidFill>
                  <a:srgbClr val="475569"/>
                </a:solidFill>
                <a:latin typeface="Calibri"/>
              </a:rPr>
              <a:t>Read the Internship User Guide and intern Help at sitguru.com/intern/help.</a:t>
            </a:r>
          </a:p>
        </p:txBody>
      </p:sp>
      <p:sp>
        <p:nvSpPr>
          <p:cNvPr id="32" name="Rounded Rectangle 31"/>
          <p:cNvSpPr/>
          <p:nvPr/>
        </p:nvSpPr>
        <p:spPr>
          <a:xfrm>
            <a:off x="384048" y="3273552"/>
            <a:ext cx="5742432" cy="896112"/>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93776" y="3547872"/>
            <a:ext cx="329184" cy="329184"/>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 y="3566160"/>
            <a:ext cx="329184" cy="292608"/>
          </a:xfrm>
          <a:prstGeom prst="rect">
            <a:avLst/>
          </a:prstGeom>
          <a:noFill/>
        </p:spPr>
        <p:txBody>
          <a:bodyPr wrap="square" anchor="t"/>
          <a:lstStyle/>
          <a:p>
            <a:pPr algn="ctr"/>
            <a:r>
              <a:rPr sz="1200" b="1" i="0">
                <a:solidFill>
                  <a:srgbClr val="FFFFFF"/>
                </a:solidFill>
                <a:latin typeface="Calibri"/>
              </a:rPr>
              <a:t>✓</a:t>
            </a:r>
          </a:p>
        </p:txBody>
      </p:sp>
      <p:sp>
        <p:nvSpPr>
          <p:cNvPr id="35" name="TextBox 34"/>
          <p:cNvSpPr txBox="1"/>
          <p:nvPr/>
        </p:nvSpPr>
        <p:spPr>
          <a:xfrm>
            <a:off x="914400" y="3364992"/>
            <a:ext cx="5074920" cy="292608"/>
          </a:xfrm>
          <a:prstGeom prst="rect">
            <a:avLst/>
          </a:prstGeom>
          <a:noFill/>
        </p:spPr>
        <p:txBody>
          <a:bodyPr wrap="square" anchor="t"/>
          <a:lstStyle/>
          <a:p>
            <a:pPr algn="l"/>
            <a:r>
              <a:rPr sz="1400" b="1" i="0">
                <a:solidFill>
                  <a:srgbClr val="0F172A"/>
                </a:solidFill>
                <a:latin typeface="Calibri"/>
              </a:rPr>
              <a:t>Project assignment</a:t>
            </a:r>
          </a:p>
        </p:txBody>
      </p:sp>
      <p:sp>
        <p:nvSpPr>
          <p:cNvPr id="36" name="TextBox 35"/>
          <p:cNvSpPr txBox="1"/>
          <p:nvPr/>
        </p:nvSpPr>
        <p:spPr>
          <a:xfrm>
            <a:off x="914400" y="3657600"/>
            <a:ext cx="5074920" cy="438912"/>
          </a:xfrm>
          <a:prstGeom prst="rect">
            <a:avLst/>
          </a:prstGeom>
          <a:noFill/>
        </p:spPr>
        <p:txBody>
          <a:bodyPr wrap="square" anchor="t"/>
          <a:lstStyle/>
          <a:p>
            <a:pPr algn="l"/>
            <a:r>
              <a:rPr sz="1200" b="0" i="0">
                <a:solidFill>
                  <a:srgbClr val="475569"/>
                </a:solidFill>
                <a:latin typeface="Calibri"/>
              </a:rPr>
              <a:t>Confirm your Market Growth Project, market, business goal, and semester files.</a:t>
            </a:r>
          </a:p>
        </p:txBody>
      </p:sp>
      <p:sp>
        <p:nvSpPr>
          <p:cNvPr id="37" name="Rounded Rectangle 36"/>
          <p:cNvSpPr/>
          <p:nvPr/>
        </p:nvSpPr>
        <p:spPr>
          <a:xfrm>
            <a:off x="6281928" y="3273552"/>
            <a:ext cx="5742432" cy="896112"/>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391656" y="3547872"/>
            <a:ext cx="329184" cy="329184"/>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91656" y="3566160"/>
            <a:ext cx="329184" cy="292608"/>
          </a:xfrm>
          <a:prstGeom prst="rect">
            <a:avLst/>
          </a:prstGeom>
          <a:noFill/>
        </p:spPr>
        <p:txBody>
          <a:bodyPr wrap="square" anchor="t"/>
          <a:lstStyle/>
          <a:p>
            <a:pPr algn="ctr"/>
            <a:r>
              <a:rPr sz="1200" b="1" i="0">
                <a:solidFill>
                  <a:srgbClr val="FFFFFF"/>
                </a:solidFill>
                <a:latin typeface="Calibri"/>
              </a:rPr>
              <a:t>✓</a:t>
            </a:r>
          </a:p>
        </p:txBody>
      </p:sp>
      <p:sp>
        <p:nvSpPr>
          <p:cNvPr id="40" name="TextBox 39"/>
          <p:cNvSpPr txBox="1"/>
          <p:nvPr/>
        </p:nvSpPr>
        <p:spPr>
          <a:xfrm>
            <a:off x="6812280" y="3364992"/>
            <a:ext cx="5074920" cy="292608"/>
          </a:xfrm>
          <a:prstGeom prst="rect">
            <a:avLst/>
          </a:prstGeom>
          <a:noFill/>
        </p:spPr>
        <p:txBody>
          <a:bodyPr wrap="square" anchor="t"/>
          <a:lstStyle/>
          <a:p>
            <a:pPr algn="l"/>
            <a:r>
              <a:rPr sz="1400" b="1" i="0">
                <a:solidFill>
                  <a:srgbClr val="0F172A"/>
                </a:solidFill>
                <a:latin typeface="Calibri"/>
              </a:rPr>
              <a:t>Tools you actually need</a:t>
            </a:r>
          </a:p>
        </p:txBody>
      </p:sp>
      <p:sp>
        <p:nvSpPr>
          <p:cNvPr id="41" name="TextBox 40"/>
          <p:cNvSpPr txBox="1"/>
          <p:nvPr/>
        </p:nvSpPr>
        <p:spPr>
          <a:xfrm>
            <a:off x="6812280" y="3657600"/>
            <a:ext cx="5074920" cy="438912"/>
          </a:xfrm>
          <a:prstGeom prst="rect">
            <a:avLst/>
          </a:prstGeom>
          <a:noFill/>
        </p:spPr>
        <p:txBody>
          <a:bodyPr wrap="square" anchor="t"/>
          <a:lstStyle/>
          <a:p>
            <a:pPr algn="l"/>
            <a:r>
              <a:rPr sz="1200" b="0" i="0">
                <a:solidFill>
                  <a:srgbClr val="475569"/>
                </a:solidFill>
                <a:latin typeface="Calibri"/>
              </a:rPr>
              <a:t>SitGuru gives only intern tools. No Admin HQ. No PawPerks login. No SSN or bank homework.</a:t>
            </a:r>
          </a:p>
        </p:txBody>
      </p:sp>
      <p:sp>
        <p:nvSpPr>
          <p:cNvPr id="42" name="Rounded Rectangle 41"/>
          <p:cNvSpPr/>
          <p:nvPr/>
        </p:nvSpPr>
        <p:spPr>
          <a:xfrm>
            <a:off x="384048" y="4261104"/>
            <a:ext cx="5742432" cy="896112"/>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93776" y="4535424"/>
            <a:ext cx="329184" cy="329184"/>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 y="4553712"/>
            <a:ext cx="329184" cy="292608"/>
          </a:xfrm>
          <a:prstGeom prst="rect">
            <a:avLst/>
          </a:prstGeom>
          <a:noFill/>
        </p:spPr>
        <p:txBody>
          <a:bodyPr wrap="square" anchor="t"/>
          <a:lstStyle/>
          <a:p>
            <a:pPr algn="ctr"/>
            <a:r>
              <a:rPr sz="1200" b="1" i="0">
                <a:solidFill>
                  <a:srgbClr val="FFFFFF"/>
                </a:solidFill>
                <a:latin typeface="Calibri"/>
              </a:rPr>
              <a:t>✓</a:t>
            </a:r>
          </a:p>
        </p:txBody>
      </p:sp>
      <p:sp>
        <p:nvSpPr>
          <p:cNvPr id="45" name="TextBox 44"/>
          <p:cNvSpPr txBox="1"/>
          <p:nvPr/>
        </p:nvSpPr>
        <p:spPr>
          <a:xfrm>
            <a:off x="914400" y="4352544"/>
            <a:ext cx="5074920" cy="292608"/>
          </a:xfrm>
          <a:prstGeom prst="rect">
            <a:avLst/>
          </a:prstGeom>
          <a:noFill/>
        </p:spPr>
        <p:txBody>
          <a:bodyPr wrap="square" anchor="t"/>
          <a:lstStyle/>
          <a:p>
            <a:pPr algn="l"/>
            <a:r>
              <a:rPr sz="1400" b="1" i="0">
                <a:solidFill>
                  <a:srgbClr val="0F172A"/>
                </a:solidFill>
                <a:latin typeface="Calibri"/>
              </a:rPr>
              <a:t>Security + privacy</a:t>
            </a:r>
          </a:p>
        </p:txBody>
      </p:sp>
      <p:sp>
        <p:nvSpPr>
          <p:cNvPr id="46" name="TextBox 45"/>
          <p:cNvSpPr txBox="1"/>
          <p:nvPr/>
        </p:nvSpPr>
        <p:spPr>
          <a:xfrm>
            <a:off x="914400" y="4645152"/>
            <a:ext cx="5074920" cy="438912"/>
          </a:xfrm>
          <a:prstGeom prst="rect">
            <a:avLst/>
          </a:prstGeom>
          <a:noFill/>
        </p:spPr>
        <p:txBody>
          <a:bodyPr wrap="square" anchor="t"/>
          <a:lstStyle/>
          <a:p>
            <a:pPr algn="l"/>
            <a:r>
              <a:rPr sz="1200" b="0" i="0">
                <a:solidFill>
                  <a:srgbClr val="475569"/>
                </a:solidFill>
                <a:latin typeface="Calibri"/>
              </a:rPr>
              <a:t>Do not share this login. No customer names, emails, or payment details in drafts.</a:t>
            </a:r>
          </a:p>
        </p:txBody>
      </p:sp>
      <p:sp>
        <p:nvSpPr>
          <p:cNvPr id="47" name="Rounded Rectangle 46"/>
          <p:cNvSpPr/>
          <p:nvPr/>
        </p:nvSpPr>
        <p:spPr>
          <a:xfrm>
            <a:off x="6281928" y="4261104"/>
            <a:ext cx="5742432" cy="896112"/>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391656" y="4535424"/>
            <a:ext cx="329184" cy="329184"/>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91656" y="4553712"/>
            <a:ext cx="329184" cy="292608"/>
          </a:xfrm>
          <a:prstGeom prst="rect">
            <a:avLst/>
          </a:prstGeom>
          <a:noFill/>
        </p:spPr>
        <p:txBody>
          <a:bodyPr wrap="square" anchor="t"/>
          <a:lstStyle/>
          <a:p>
            <a:pPr algn="ctr"/>
            <a:r>
              <a:rPr sz="1200" b="1" i="0">
                <a:solidFill>
                  <a:srgbClr val="FFFFFF"/>
                </a:solidFill>
                <a:latin typeface="Calibri"/>
              </a:rPr>
              <a:t>✓</a:t>
            </a:r>
          </a:p>
        </p:txBody>
      </p:sp>
      <p:sp>
        <p:nvSpPr>
          <p:cNvPr id="50" name="TextBox 49"/>
          <p:cNvSpPr txBox="1"/>
          <p:nvPr/>
        </p:nvSpPr>
        <p:spPr>
          <a:xfrm>
            <a:off x="6812280" y="4352544"/>
            <a:ext cx="5074920" cy="292608"/>
          </a:xfrm>
          <a:prstGeom prst="rect">
            <a:avLst/>
          </a:prstGeom>
          <a:noFill/>
        </p:spPr>
        <p:txBody>
          <a:bodyPr wrap="square" anchor="t"/>
          <a:lstStyle/>
          <a:p>
            <a:pPr algn="l"/>
            <a:r>
              <a:rPr sz="1400" b="1" i="0">
                <a:solidFill>
                  <a:srgbClr val="0F172A"/>
                </a:solidFill>
                <a:latin typeface="Calibri"/>
              </a:rPr>
              <a:t>Weekly check-in time</a:t>
            </a:r>
          </a:p>
        </p:txBody>
      </p:sp>
      <p:sp>
        <p:nvSpPr>
          <p:cNvPr id="51" name="TextBox 50"/>
          <p:cNvSpPr txBox="1"/>
          <p:nvPr/>
        </p:nvSpPr>
        <p:spPr>
          <a:xfrm>
            <a:off x="6812280" y="4645152"/>
            <a:ext cx="5074920" cy="438912"/>
          </a:xfrm>
          <a:prstGeom prst="rect">
            <a:avLst/>
          </a:prstGeom>
          <a:noFill/>
        </p:spPr>
        <p:txBody>
          <a:bodyPr wrap="square" anchor="t"/>
          <a:lstStyle/>
          <a:p>
            <a:pPr algn="l"/>
            <a:r>
              <a:rPr sz="1200" b="0" i="0">
                <a:solidFill>
                  <a:srgbClr val="475569"/>
                </a:solidFill>
                <a:latin typeface="Calibri"/>
              </a:rPr>
              <a:t>Set the weekly SitGuru check-in and your submission day.</a:t>
            </a:r>
          </a:p>
        </p:txBody>
      </p:sp>
      <p:sp>
        <p:nvSpPr>
          <p:cNvPr id="52" name="Rounded Rectangle 51"/>
          <p:cNvSpPr/>
          <p:nvPr/>
        </p:nvSpPr>
        <p:spPr>
          <a:xfrm>
            <a:off x="384048" y="5248656"/>
            <a:ext cx="5742432" cy="896112"/>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93776" y="5522976"/>
            <a:ext cx="329184" cy="329184"/>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93776" y="5541264"/>
            <a:ext cx="329184" cy="292608"/>
          </a:xfrm>
          <a:prstGeom prst="rect">
            <a:avLst/>
          </a:prstGeom>
          <a:noFill/>
        </p:spPr>
        <p:txBody>
          <a:bodyPr wrap="square" anchor="t"/>
          <a:lstStyle/>
          <a:p>
            <a:pPr algn="ctr"/>
            <a:r>
              <a:rPr sz="1200" b="1" i="0">
                <a:solidFill>
                  <a:srgbClr val="FFFFFF"/>
                </a:solidFill>
                <a:latin typeface="Calibri"/>
              </a:rPr>
              <a:t>✓</a:t>
            </a:r>
          </a:p>
        </p:txBody>
      </p:sp>
      <p:sp>
        <p:nvSpPr>
          <p:cNvPr id="55" name="TextBox 54"/>
          <p:cNvSpPr txBox="1"/>
          <p:nvPr/>
        </p:nvSpPr>
        <p:spPr>
          <a:xfrm>
            <a:off x="914400" y="5340096"/>
            <a:ext cx="5074920" cy="292608"/>
          </a:xfrm>
          <a:prstGeom prst="rect">
            <a:avLst/>
          </a:prstGeom>
          <a:noFill/>
        </p:spPr>
        <p:txBody>
          <a:bodyPr wrap="square" anchor="t"/>
          <a:lstStyle/>
          <a:p>
            <a:pPr algn="l"/>
            <a:r>
              <a:rPr sz="1400" b="1" i="0">
                <a:solidFill>
                  <a:srgbClr val="0F172A"/>
                </a:solidFill>
                <a:latin typeface="Calibri"/>
              </a:rPr>
              <a:t>Week 1–2 baseline date</a:t>
            </a:r>
          </a:p>
        </p:txBody>
      </p:sp>
      <p:sp>
        <p:nvSpPr>
          <p:cNvPr id="56" name="TextBox 55"/>
          <p:cNvSpPr txBox="1"/>
          <p:nvPr/>
        </p:nvSpPr>
        <p:spPr>
          <a:xfrm>
            <a:off x="914400" y="5632704"/>
            <a:ext cx="5074920" cy="438912"/>
          </a:xfrm>
          <a:prstGeom prst="rect">
            <a:avLst/>
          </a:prstGeom>
          <a:noFill/>
        </p:spPr>
        <p:txBody>
          <a:bodyPr wrap="square" anchor="t"/>
          <a:lstStyle/>
          <a:p>
            <a:pPr algn="l"/>
            <a:r>
              <a:rPr sz="1200" b="0" i="0">
                <a:solidFill>
                  <a:srgbClr val="475569"/>
                </a:solidFill>
                <a:latin typeface="Calibri"/>
              </a:rPr>
              <a:t>Know when baseline numbers are captured before execution starts.</a:t>
            </a:r>
          </a:p>
        </p:txBody>
      </p:sp>
      <p:sp>
        <p:nvSpPr>
          <p:cNvPr id="57" name="Rounded Rectangle 56"/>
          <p:cNvSpPr/>
          <p:nvPr/>
        </p:nvSpPr>
        <p:spPr>
          <a:xfrm>
            <a:off x="6281928" y="5248656"/>
            <a:ext cx="5742432" cy="896112"/>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391656" y="5522976"/>
            <a:ext cx="329184" cy="329184"/>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91656" y="5541264"/>
            <a:ext cx="329184" cy="292608"/>
          </a:xfrm>
          <a:prstGeom prst="rect">
            <a:avLst/>
          </a:prstGeom>
          <a:noFill/>
        </p:spPr>
        <p:txBody>
          <a:bodyPr wrap="square" anchor="t"/>
          <a:lstStyle/>
          <a:p>
            <a:pPr algn="ctr"/>
            <a:r>
              <a:rPr sz="1200" b="1" i="0">
                <a:solidFill>
                  <a:srgbClr val="FFFFFF"/>
                </a:solidFill>
                <a:latin typeface="Calibri"/>
              </a:rPr>
              <a:t>✓</a:t>
            </a:r>
          </a:p>
        </p:txBody>
      </p:sp>
      <p:sp>
        <p:nvSpPr>
          <p:cNvPr id="60" name="TextBox 59"/>
          <p:cNvSpPr txBox="1"/>
          <p:nvPr/>
        </p:nvSpPr>
        <p:spPr>
          <a:xfrm>
            <a:off x="6812280" y="5340096"/>
            <a:ext cx="5074920" cy="292608"/>
          </a:xfrm>
          <a:prstGeom prst="rect">
            <a:avLst/>
          </a:prstGeom>
          <a:noFill/>
        </p:spPr>
        <p:txBody>
          <a:bodyPr wrap="square" anchor="t"/>
          <a:lstStyle/>
          <a:p>
            <a:pPr algn="l"/>
            <a:r>
              <a:rPr sz="1400" b="1" i="0">
                <a:solidFill>
                  <a:srgbClr val="0F172A"/>
                </a:solidFill>
                <a:latin typeface="Calibri"/>
              </a:rPr>
              <a:t>Brand kit ready</a:t>
            </a:r>
          </a:p>
        </p:txBody>
      </p:sp>
      <p:sp>
        <p:nvSpPr>
          <p:cNvPr id="61" name="TextBox 60"/>
          <p:cNvSpPr txBox="1"/>
          <p:nvPr/>
        </p:nvSpPr>
        <p:spPr>
          <a:xfrm>
            <a:off x="6812280" y="5632704"/>
            <a:ext cx="5074920" cy="438912"/>
          </a:xfrm>
          <a:prstGeom prst="rect">
            <a:avLst/>
          </a:prstGeom>
          <a:noFill/>
        </p:spPr>
        <p:txBody>
          <a:bodyPr wrap="square" anchor="t"/>
          <a:lstStyle/>
          <a:p>
            <a:pPr algn="l"/>
            <a:r>
              <a:rPr sz="1200" b="0" i="0">
                <a:solidFill>
                  <a:srgbClr val="475569"/>
                </a:solidFill>
                <a:latin typeface="Calibri"/>
              </a:rPr>
              <a:t>Download official logos. SitGuru Green is #166534. White type on that green.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Complete intern onboarding first</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Four steps unlock Home, Work, Report, Metrics, and Growth workplace. The portal stays locked until all four are done.</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8</a:t>
            </a:r>
          </a:p>
        </p:txBody>
      </p:sp>
      <p:sp>
        <p:nvSpPr>
          <p:cNvPr id="12" name="Rounded Rectangle 11"/>
          <p:cNvSpPr/>
          <p:nvPr/>
        </p:nvSpPr>
        <p:spPr>
          <a:xfrm>
            <a:off x="384048" y="1371600"/>
            <a:ext cx="2788920" cy="32461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1790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536192"/>
            <a:ext cx="347472" cy="310896"/>
          </a:xfrm>
          <a:prstGeom prst="rect">
            <a:avLst/>
          </a:prstGeom>
          <a:noFill/>
        </p:spPr>
        <p:txBody>
          <a:bodyPr wrap="square" anchor="t"/>
          <a:lstStyle/>
          <a:p>
            <a:pPr algn="ctr"/>
            <a:r>
              <a:rPr sz="1300" b="1" i="0">
                <a:solidFill>
                  <a:srgbClr val="FFFFFF"/>
                </a:solidFill>
                <a:latin typeface="Calibri"/>
              </a:rPr>
              <a:t>1</a:t>
            </a:r>
          </a:p>
        </p:txBody>
      </p:sp>
      <p:sp>
        <p:nvSpPr>
          <p:cNvPr id="15" name="TextBox 14"/>
          <p:cNvSpPr txBox="1"/>
          <p:nvPr/>
        </p:nvSpPr>
        <p:spPr>
          <a:xfrm>
            <a:off x="969264" y="1536192"/>
            <a:ext cx="2020824" cy="310896"/>
          </a:xfrm>
          <a:prstGeom prst="rect">
            <a:avLst/>
          </a:prstGeom>
          <a:noFill/>
        </p:spPr>
        <p:txBody>
          <a:bodyPr wrap="square" anchor="ctr"/>
          <a:lstStyle/>
          <a:p>
            <a:pPr algn="l"/>
            <a:r>
              <a:rPr sz="1500" b="1" i="0">
                <a:solidFill>
                  <a:srgbClr val="0F172A"/>
                </a:solidFill>
                <a:latin typeface="Calibri"/>
              </a:rPr>
              <a:t>Access rules</a:t>
            </a:r>
          </a:p>
        </p:txBody>
      </p:sp>
      <p:sp>
        <p:nvSpPr>
          <p:cNvPr id="16" name="TextBox 15"/>
          <p:cNvSpPr txBox="1"/>
          <p:nvPr/>
        </p:nvSpPr>
        <p:spPr>
          <a:xfrm>
            <a:off x="548640" y="1901952"/>
            <a:ext cx="2459736" cy="2606039"/>
          </a:xfrm>
          <a:prstGeom prst="rect">
            <a:avLst/>
          </a:prstGeom>
          <a:noFill/>
        </p:spPr>
        <p:txBody>
          <a:bodyPr wrap="square" anchor="t"/>
          <a:lstStyle/>
          <a:p>
            <a:pPr algn="l"/>
            <a:r>
              <a:rPr sz="1300" b="0" i="0">
                <a:solidFill>
                  <a:srgbClr val="475569"/>
                </a:solidFill>
                <a:latin typeface="Calibri"/>
              </a:rPr>
              <a:t>Read the intern-safe duties. Stay in the intern portal. No unapproved AI. No customer names.</a:t>
            </a:r>
          </a:p>
        </p:txBody>
      </p:sp>
      <p:sp>
        <p:nvSpPr>
          <p:cNvPr id="17" name="Rounded Rectangle 16"/>
          <p:cNvSpPr/>
          <p:nvPr/>
        </p:nvSpPr>
        <p:spPr>
          <a:xfrm>
            <a:off x="3310128" y="1371600"/>
            <a:ext cx="2788920" cy="32461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474720" y="151790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1536192"/>
            <a:ext cx="347472" cy="310896"/>
          </a:xfrm>
          <a:prstGeom prst="rect">
            <a:avLst/>
          </a:prstGeom>
          <a:noFill/>
        </p:spPr>
        <p:txBody>
          <a:bodyPr wrap="square" anchor="t"/>
          <a:lstStyle/>
          <a:p>
            <a:pPr algn="ctr"/>
            <a:r>
              <a:rPr sz="1300" b="1" i="0">
                <a:solidFill>
                  <a:srgbClr val="FFFFFF"/>
                </a:solidFill>
                <a:latin typeface="Calibri"/>
              </a:rPr>
              <a:t>3</a:t>
            </a:r>
          </a:p>
        </p:txBody>
      </p:sp>
      <p:sp>
        <p:nvSpPr>
          <p:cNvPr id="20" name="TextBox 19"/>
          <p:cNvSpPr txBox="1"/>
          <p:nvPr/>
        </p:nvSpPr>
        <p:spPr>
          <a:xfrm>
            <a:off x="3895344" y="1536192"/>
            <a:ext cx="2020824" cy="310896"/>
          </a:xfrm>
          <a:prstGeom prst="rect">
            <a:avLst/>
          </a:prstGeom>
          <a:noFill/>
        </p:spPr>
        <p:txBody>
          <a:bodyPr wrap="square" anchor="ctr"/>
          <a:lstStyle/>
          <a:p>
            <a:pPr algn="l"/>
            <a:r>
              <a:rPr sz="1500" b="1" i="0">
                <a:solidFill>
                  <a:srgbClr val="0F172A"/>
                </a:solidFill>
                <a:latin typeface="Calibri"/>
              </a:rPr>
              <a:t>Intern agreement</a:t>
            </a:r>
          </a:p>
        </p:txBody>
      </p:sp>
      <p:sp>
        <p:nvSpPr>
          <p:cNvPr id="21" name="TextBox 20"/>
          <p:cNvSpPr txBox="1"/>
          <p:nvPr/>
        </p:nvSpPr>
        <p:spPr>
          <a:xfrm>
            <a:off x="3474720" y="1901952"/>
            <a:ext cx="2459736" cy="2606039"/>
          </a:xfrm>
          <a:prstGeom prst="rect">
            <a:avLst/>
          </a:prstGeom>
          <a:noFill/>
        </p:spPr>
        <p:txBody>
          <a:bodyPr wrap="square" anchor="t"/>
          <a:lstStyle/>
          <a:p>
            <a:pPr algn="l"/>
            <a:r>
              <a:rPr sz="1300" b="0" i="0">
                <a:solidFill>
                  <a:srgbClr val="475569"/>
                </a:solidFill>
                <a:latin typeface="Calibri"/>
              </a:rPr>
              <a:t>Read and e-sign with your legal name. Employer: Graff Enterprises LLC dba SitGuru. This is not the syllabus.</a:t>
            </a:r>
          </a:p>
        </p:txBody>
      </p:sp>
      <p:sp>
        <p:nvSpPr>
          <p:cNvPr id="22" name="Rounded Rectangle 21"/>
          <p:cNvSpPr/>
          <p:nvPr/>
        </p:nvSpPr>
        <p:spPr>
          <a:xfrm>
            <a:off x="6236208" y="1371600"/>
            <a:ext cx="2788920" cy="32461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0" y="151790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1536192"/>
            <a:ext cx="347472" cy="310896"/>
          </a:xfrm>
          <a:prstGeom prst="rect">
            <a:avLst/>
          </a:prstGeom>
          <a:noFill/>
        </p:spPr>
        <p:txBody>
          <a:bodyPr wrap="square" anchor="t"/>
          <a:lstStyle/>
          <a:p>
            <a:pPr algn="ctr"/>
            <a:r>
              <a:rPr sz="1300" b="1" i="0">
                <a:solidFill>
                  <a:srgbClr val="FFFFFF"/>
                </a:solidFill>
                <a:latin typeface="Calibri"/>
              </a:rPr>
              <a:t>4</a:t>
            </a:r>
          </a:p>
        </p:txBody>
      </p:sp>
      <p:sp>
        <p:nvSpPr>
          <p:cNvPr id="25" name="TextBox 24"/>
          <p:cNvSpPr txBox="1"/>
          <p:nvPr/>
        </p:nvSpPr>
        <p:spPr>
          <a:xfrm>
            <a:off x="6821424" y="1536192"/>
            <a:ext cx="2020824" cy="310896"/>
          </a:xfrm>
          <a:prstGeom prst="rect">
            <a:avLst/>
          </a:prstGeom>
          <a:noFill/>
        </p:spPr>
        <p:txBody>
          <a:bodyPr wrap="square" anchor="ctr"/>
          <a:lstStyle/>
          <a:p>
            <a:pPr algn="l"/>
            <a:r>
              <a:rPr sz="1500" b="1" i="0">
                <a:solidFill>
                  <a:srgbClr val="0F172A"/>
                </a:solidFill>
                <a:latin typeface="Calibri"/>
              </a:rPr>
              <a:t>Print, sign, upload</a:t>
            </a:r>
          </a:p>
        </p:txBody>
      </p:sp>
      <p:sp>
        <p:nvSpPr>
          <p:cNvPr id="26" name="TextBox 25"/>
          <p:cNvSpPr txBox="1"/>
          <p:nvPr/>
        </p:nvSpPr>
        <p:spPr>
          <a:xfrm>
            <a:off x="6400800" y="1901952"/>
            <a:ext cx="2459736" cy="2606039"/>
          </a:xfrm>
          <a:prstGeom prst="rect">
            <a:avLst/>
          </a:prstGeom>
          <a:noFill/>
        </p:spPr>
        <p:txBody>
          <a:bodyPr wrap="square" anchor="t"/>
          <a:lstStyle/>
          <a:p>
            <a:pPr algn="l"/>
            <a:r>
              <a:rPr sz="1300" b="0" i="0">
                <a:solidFill>
                  <a:srgbClr val="475569"/>
                </a:solidFill>
                <a:latin typeface="Calibri"/>
              </a:rPr>
              <a:t>Print or photo a signed page, then upload it. Wet-ink is SitGuru policy — an extra record, not a law requirement.</a:t>
            </a:r>
          </a:p>
        </p:txBody>
      </p:sp>
      <p:sp>
        <p:nvSpPr>
          <p:cNvPr id="27" name="Rounded Rectangle 26"/>
          <p:cNvSpPr/>
          <p:nvPr/>
        </p:nvSpPr>
        <p:spPr>
          <a:xfrm>
            <a:off x="9162288" y="1371600"/>
            <a:ext cx="2788920" cy="32461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326880" y="151790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536192"/>
            <a:ext cx="347472" cy="310896"/>
          </a:xfrm>
          <a:prstGeom prst="rect">
            <a:avLst/>
          </a:prstGeom>
          <a:noFill/>
        </p:spPr>
        <p:txBody>
          <a:bodyPr wrap="square" anchor="t"/>
          <a:lstStyle/>
          <a:p>
            <a:pPr algn="ctr"/>
            <a:r>
              <a:rPr sz="1300" b="1" i="0">
                <a:solidFill>
                  <a:srgbClr val="FFFFFF"/>
                </a:solidFill>
                <a:latin typeface="Calibri"/>
              </a:rPr>
              <a:t>5</a:t>
            </a:r>
          </a:p>
        </p:txBody>
      </p:sp>
      <p:sp>
        <p:nvSpPr>
          <p:cNvPr id="30" name="TextBox 29"/>
          <p:cNvSpPr txBox="1"/>
          <p:nvPr/>
        </p:nvSpPr>
        <p:spPr>
          <a:xfrm>
            <a:off x="9747504" y="1536192"/>
            <a:ext cx="2020824" cy="310896"/>
          </a:xfrm>
          <a:prstGeom prst="rect">
            <a:avLst/>
          </a:prstGeom>
          <a:noFill/>
        </p:spPr>
        <p:txBody>
          <a:bodyPr wrap="square" anchor="ctr"/>
          <a:lstStyle/>
          <a:p>
            <a:pPr algn="l"/>
            <a:r>
              <a:rPr sz="1500" b="1" i="0">
                <a:solidFill>
                  <a:srgbClr val="0F172A"/>
                </a:solidFill>
                <a:latin typeface="Calibri"/>
              </a:rPr>
              <a:t>Submit</a:t>
            </a:r>
          </a:p>
        </p:txBody>
      </p:sp>
      <p:sp>
        <p:nvSpPr>
          <p:cNvPr id="31" name="TextBox 30"/>
          <p:cNvSpPr txBox="1"/>
          <p:nvPr/>
        </p:nvSpPr>
        <p:spPr>
          <a:xfrm>
            <a:off x="9326880" y="1901952"/>
            <a:ext cx="2459736" cy="2606039"/>
          </a:xfrm>
          <a:prstGeom prst="rect">
            <a:avLst/>
          </a:prstGeom>
          <a:noFill/>
        </p:spPr>
        <p:txBody>
          <a:bodyPr wrap="square" anchor="t"/>
          <a:lstStyle/>
          <a:p>
            <a:pPr algn="l"/>
            <a:r>
              <a:rPr sz="1300" b="0" i="0">
                <a:solidFill>
                  <a:srgbClr val="475569"/>
                </a:solidFill>
                <a:latin typeface="Calibri"/>
              </a:rPr>
              <a:t>Confirmation goes to your email on file. Then open sitguru.com/intern.</a:t>
            </a:r>
          </a:p>
        </p:txBody>
      </p:sp>
      <p:sp>
        <p:nvSpPr>
          <p:cNvPr id="32" name="Rounded Rectangle 31"/>
          <p:cNvSpPr/>
          <p:nvPr/>
        </p:nvSpPr>
        <p:spPr>
          <a:xfrm>
            <a:off x="384048" y="4773168"/>
            <a:ext cx="11430000" cy="1536192"/>
          </a:xfrm>
          <a:prstGeom prst="roundRect">
            <a:avLst>
              <a:gd name="adj" fmla="val 6000"/>
            </a:avLst>
          </a:prstGeom>
          <a:solidFill>
            <a:srgbClr val="FFF7ED"/>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901184"/>
            <a:ext cx="11064240" cy="292608"/>
          </a:xfrm>
          <a:prstGeom prst="rect">
            <a:avLst/>
          </a:prstGeom>
          <a:noFill/>
        </p:spPr>
        <p:txBody>
          <a:bodyPr wrap="square" anchor="t"/>
          <a:lstStyle/>
          <a:p>
            <a:pPr algn="l"/>
            <a:r>
              <a:rPr sz="1500" b="1" i="0">
                <a:solidFill>
                  <a:srgbClr val="9A3412"/>
                </a:solidFill>
                <a:latin typeface="Calibri"/>
              </a:rPr>
              <a:t>Keep it intern-safe</a:t>
            </a:r>
          </a:p>
        </p:txBody>
      </p:sp>
      <p:sp>
        <p:nvSpPr>
          <p:cNvPr id="34" name="TextBox 33"/>
          <p:cNvSpPr txBox="1"/>
          <p:nvPr/>
        </p:nvSpPr>
        <p:spPr>
          <a:xfrm>
            <a:off x="566928" y="5212080"/>
            <a:ext cx="11064240" cy="932688"/>
          </a:xfrm>
          <a:prstGeom prst="rect">
            <a:avLst/>
          </a:prstGeom>
          <a:noFill/>
        </p:spPr>
        <p:txBody>
          <a:bodyPr wrap="square" anchor="t"/>
          <a:lstStyle/>
          <a:p>
            <a:pPr algn="l"/>
            <a:r>
              <a:rPr sz="1400" b="0" i="0">
                <a:solidFill>
                  <a:srgbClr val="9A3412"/>
                </a:solidFill>
                <a:latin typeface="Calibri"/>
              </a:rPr>
              <a:t>Do not paste SitGuru plans, passwords, customer names, or internal numbers into ChatGPT or group chats. Do not treat Admin HQ, PawPerks, SSN, or bank setup as intern homework. Hours approval is separate from deliverable approval.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Your intern portal</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sitguru.com/intern is the student workplace — not Admin HQ and not a public Guru listing</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9</a:t>
            </a:r>
          </a:p>
        </p:txBody>
      </p:sp>
      <p:sp>
        <p:nvSpPr>
          <p:cNvPr id="12" name="Rounded Rectangle 11"/>
          <p:cNvSpPr/>
          <p:nvPr/>
        </p:nvSpPr>
        <p:spPr>
          <a:xfrm>
            <a:off x="384048" y="1353312"/>
            <a:ext cx="3703320" cy="17373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481328"/>
            <a:ext cx="3374136" cy="310896"/>
          </a:xfrm>
          <a:prstGeom prst="rect">
            <a:avLst/>
          </a:prstGeom>
          <a:noFill/>
        </p:spPr>
        <p:txBody>
          <a:bodyPr wrap="square" anchor="t"/>
          <a:lstStyle/>
          <a:p>
            <a:pPr algn="l"/>
            <a:r>
              <a:rPr sz="1500" b="1" i="0">
                <a:solidFill>
                  <a:srgbClr val="166534"/>
                </a:solidFill>
                <a:latin typeface="Calibri"/>
              </a:rPr>
              <a:t>Home</a:t>
            </a:r>
          </a:p>
        </p:txBody>
      </p:sp>
      <p:sp>
        <p:nvSpPr>
          <p:cNvPr id="14" name="TextBox 13"/>
          <p:cNvSpPr txBox="1"/>
          <p:nvPr/>
        </p:nvSpPr>
        <p:spPr>
          <a:xfrm>
            <a:off x="548640" y="1792224"/>
            <a:ext cx="3374136" cy="1207007"/>
          </a:xfrm>
          <a:prstGeom prst="rect">
            <a:avLst/>
          </a:prstGeom>
          <a:noFill/>
        </p:spPr>
        <p:txBody>
          <a:bodyPr wrap="square" anchor="t"/>
          <a:lstStyle/>
          <a:p>
            <a:pPr algn="l"/>
            <a:r>
              <a:rPr sz="1300" b="0" i="0">
                <a:solidFill>
                  <a:srgbClr val="475569"/>
                </a:solidFill>
                <a:latin typeface="Calibri"/>
              </a:rPr>
              <a:t>This week’s focus, check-in, Brand kit, live market totals.</a:t>
            </a:r>
          </a:p>
        </p:txBody>
      </p:sp>
      <p:sp>
        <p:nvSpPr>
          <p:cNvPr id="15" name="Rounded Rectangle 14"/>
          <p:cNvSpPr/>
          <p:nvPr/>
        </p:nvSpPr>
        <p:spPr>
          <a:xfrm>
            <a:off x="4242816" y="1353312"/>
            <a:ext cx="3703320" cy="17373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7407" y="1481328"/>
            <a:ext cx="3374136" cy="310896"/>
          </a:xfrm>
          <a:prstGeom prst="rect">
            <a:avLst/>
          </a:prstGeom>
          <a:noFill/>
        </p:spPr>
        <p:txBody>
          <a:bodyPr wrap="square" anchor="t"/>
          <a:lstStyle/>
          <a:p>
            <a:pPr algn="l"/>
            <a:r>
              <a:rPr sz="1500" b="1" i="0">
                <a:solidFill>
                  <a:srgbClr val="166534"/>
                </a:solidFill>
                <a:latin typeface="Calibri"/>
              </a:rPr>
              <a:t>Calendar</a:t>
            </a:r>
          </a:p>
        </p:txBody>
      </p:sp>
      <p:sp>
        <p:nvSpPr>
          <p:cNvPr id="17" name="TextBox 16"/>
          <p:cNvSpPr txBox="1"/>
          <p:nvPr/>
        </p:nvSpPr>
        <p:spPr>
          <a:xfrm>
            <a:off x="4407407" y="1792224"/>
            <a:ext cx="3374136" cy="1207007"/>
          </a:xfrm>
          <a:prstGeom prst="rect">
            <a:avLst/>
          </a:prstGeom>
          <a:noFill/>
        </p:spPr>
        <p:txBody>
          <a:bodyPr wrap="square" anchor="t"/>
          <a:lstStyle/>
          <a:p>
            <a:pPr algn="l"/>
            <a:r>
              <a:rPr sz="1300" b="0" i="0">
                <a:solidFill>
                  <a:srgbClr val="475569"/>
                </a:solidFill>
                <a:latin typeface="Calibri"/>
              </a:rPr>
              <a:t>Tasks, check-ins, and milestones. Dots mean something is due.</a:t>
            </a:r>
          </a:p>
        </p:txBody>
      </p:sp>
      <p:sp>
        <p:nvSpPr>
          <p:cNvPr id="18" name="Rounded Rectangle 17"/>
          <p:cNvSpPr/>
          <p:nvPr/>
        </p:nvSpPr>
        <p:spPr>
          <a:xfrm>
            <a:off x="8101583" y="1353312"/>
            <a:ext cx="3703320" cy="17373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5" y="1481328"/>
            <a:ext cx="3374136" cy="310896"/>
          </a:xfrm>
          <a:prstGeom prst="rect">
            <a:avLst/>
          </a:prstGeom>
          <a:noFill/>
        </p:spPr>
        <p:txBody>
          <a:bodyPr wrap="square" anchor="t"/>
          <a:lstStyle/>
          <a:p>
            <a:pPr algn="l"/>
            <a:r>
              <a:rPr sz="1500" b="1" i="0">
                <a:solidFill>
                  <a:srgbClr val="166534"/>
                </a:solidFill>
                <a:latin typeface="Calibri"/>
              </a:rPr>
              <a:t>Work</a:t>
            </a:r>
          </a:p>
        </p:txBody>
      </p:sp>
      <p:sp>
        <p:nvSpPr>
          <p:cNvPr id="20" name="TextBox 19"/>
          <p:cNvSpPr txBox="1"/>
          <p:nvPr/>
        </p:nvSpPr>
        <p:spPr>
          <a:xfrm>
            <a:off x="8266175" y="1792224"/>
            <a:ext cx="3374136" cy="1207007"/>
          </a:xfrm>
          <a:prstGeom prst="rect">
            <a:avLst/>
          </a:prstGeom>
          <a:noFill/>
        </p:spPr>
        <p:txBody>
          <a:bodyPr wrap="square" anchor="t"/>
          <a:lstStyle/>
          <a:p>
            <a:pPr algn="l"/>
            <a:r>
              <a:rPr sz="1300" b="0" i="0">
                <a:solidFill>
                  <a:srgbClr val="475569"/>
                </a:solidFill>
                <a:latin typeface="Calibri"/>
              </a:rPr>
              <a:t>Tasks, social logs, and tracking campaigns.</a:t>
            </a:r>
          </a:p>
        </p:txBody>
      </p:sp>
      <p:sp>
        <p:nvSpPr>
          <p:cNvPr id="21" name="Rounded Rectangle 20"/>
          <p:cNvSpPr/>
          <p:nvPr/>
        </p:nvSpPr>
        <p:spPr>
          <a:xfrm>
            <a:off x="384048" y="3227832"/>
            <a:ext cx="3703320" cy="17373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355848"/>
            <a:ext cx="3374136" cy="310896"/>
          </a:xfrm>
          <a:prstGeom prst="rect">
            <a:avLst/>
          </a:prstGeom>
          <a:noFill/>
        </p:spPr>
        <p:txBody>
          <a:bodyPr wrap="square" anchor="t"/>
          <a:lstStyle/>
          <a:p>
            <a:pPr algn="l"/>
            <a:r>
              <a:rPr sz="1500" b="1" i="0">
                <a:solidFill>
                  <a:srgbClr val="166534"/>
                </a:solidFill>
                <a:latin typeface="Calibri"/>
              </a:rPr>
              <a:t>Report</a:t>
            </a:r>
          </a:p>
        </p:txBody>
      </p:sp>
      <p:sp>
        <p:nvSpPr>
          <p:cNvPr id="23" name="TextBox 22"/>
          <p:cNvSpPr txBox="1"/>
          <p:nvPr/>
        </p:nvSpPr>
        <p:spPr>
          <a:xfrm>
            <a:off x="548640" y="3666744"/>
            <a:ext cx="3374136" cy="1207007"/>
          </a:xfrm>
          <a:prstGeom prst="rect">
            <a:avLst/>
          </a:prstGeom>
          <a:noFill/>
        </p:spPr>
        <p:txBody>
          <a:bodyPr wrap="square" anchor="t"/>
          <a:lstStyle/>
          <a:p>
            <a:pPr algn="l"/>
            <a:r>
              <a:rPr sz="1300" b="0" i="0">
                <a:solidFill>
                  <a:srgbClr val="475569"/>
                </a:solidFill>
                <a:latin typeface="Calibri"/>
              </a:rPr>
              <a:t>Business Growth Report draft plus Hours this week.</a:t>
            </a:r>
          </a:p>
        </p:txBody>
      </p:sp>
      <p:sp>
        <p:nvSpPr>
          <p:cNvPr id="24" name="Rounded Rectangle 23"/>
          <p:cNvSpPr/>
          <p:nvPr/>
        </p:nvSpPr>
        <p:spPr>
          <a:xfrm>
            <a:off x="4242816" y="3227832"/>
            <a:ext cx="3703320" cy="17373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407" y="3355848"/>
            <a:ext cx="3374136" cy="310896"/>
          </a:xfrm>
          <a:prstGeom prst="rect">
            <a:avLst/>
          </a:prstGeom>
          <a:noFill/>
        </p:spPr>
        <p:txBody>
          <a:bodyPr wrap="square" anchor="t"/>
          <a:lstStyle/>
          <a:p>
            <a:pPr algn="l"/>
            <a:r>
              <a:rPr sz="1500" b="1" i="0">
                <a:solidFill>
                  <a:srgbClr val="166534"/>
                </a:solidFill>
                <a:latin typeface="Calibri"/>
              </a:rPr>
              <a:t>Metrics</a:t>
            </a:r>
          </a:p>
        </p:txBody>
      </p:sp>
      <p:sp>
        <p:nvSpPr>
          <p:cNvPr id="26" name="TextBox 25"/>
          <p:cNvSpPr txBox="1"/>
          <p:nvPr/>
        </p:nvSpPr>
        <p:spPr>
          <a:xfrm>
            <a:off x="4407407" y="3666744"/>
            <a:ext cx="3374136" cy="1207007"/>
          </a:xfrm>
          <a:prstGeom prst="rect">
            <a:avLst/>
          </a:prstGeom>
          <a:noFill/>
        </p:spPr>
        <p:txBody>
          <a:bodyPr wrap="square" anchor="t"/>
          <a:lstStyle/>
          <a:p>
            <a:pPr algn="l"/>
            <a:r>
              <a:rPr sz="1300" b="0" i="0">
                <a:solidFill>
                  <a:srgbClr val="475569"/>
                </a:solidFill>
                <a:latin typeface="Calibri"/>
              </a:rPr>
              <a:t>Send a number. It stays Waiting until SitGuru verifies it.</a:t>
            </a:r>
          </a:p>
        </p:txBody>
      </p:sp>
      <p:sp>
        <p:nvSpPr>
          <p:cNvPr id="27" name="Rounded Rectangle 26"/>
          <p:cNvSpPr/>
          <p:nvPr/>
        </p:nvSpPr>
        <p:spPr>
          <a:xfrm>
            <a:off x="8101583" y="3227832"/>
            <a:ext cx="3703320" cy="17373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6175" y="3355848"/>
            <a:ext cx="3374136" cy="310896"/>
          </a:xfrm>
          <a:prstGeom prst="rect">
            <a:avLst/>
          </a:prstGeom>
          <a:noFill/>
        </p:spPr>
        <p:txBody>
          <a:bodyPr wrap="square" anchor="t"/>
          <a:lstStyle/>
          <a:p>
            <a:pPr algn="l"/>
            <a:r>
              <a:rPr sz="1500" b="1" i="0">
                <a:solidFill>
                  <a:srgbClr val="166534"/>
                </a:solidFill>
                <a:latin typeface="Calibri"/>
              </a:rPr>
              <a:t>Help</a:t>
            </a:r>
          </a:p>
        </p:txBody>
      </p:sp>
      <p:sp>
        <p:nvSpPr>
          <p:cNvPr id="29" name="TextBox 28"/>
          <p:cNvSpPr txBox="1"/>
          <p:nvPr/>
        </p:nvSpPr>
        <p:spPr>
          <a:xfrm>
            <a:off x="8266175" y="3666744"/>
            <a:ext cx="3374136" cy="1207007"/>
          </a:xfrm>
          <a:prstGeom prst="rect">
            <a:avLst/>
          </a:prstGeom>
          <a:noFill/>
        </p:spPr>
        <p:txBody>
          <a:bodyPr wrap="square" anchor="t"/>
          <a:lstStyle/>
          <a:p>
            <a:pPr algn="l"/>
            <a:r>
              <a:rPr sz="1300" b="0" i="0">
                <a:solidFill>
                  <a:srgbClr val="475569"/>
                </a:solidFill>
                <a:latin typeface="Calibri"/>
              </a:rPr>
              <a:t>sitguru.com/intern/help — field meanings, videos, and this deck.</a:t>
            </a:r>
          </a:p>
        </p:txBody>
      </p:sp>
      <p:sp>
        <p:nvSpPr>
          <p:cNvPr id="30" name="TextBox 29"/>
          <p:cNvSpPr txBox="1"/>
          <p:nvPr/>
        </p:nvSpPr>
        <p:spPr>
          <a:xfrm>
            <a:off x="384048" y="5212080"/>
            <a:ext cx="11430000" cy="1097280"/>
          </a:xfrm>
          <a:prstGeom prst="rect">
            <a:avLst/>
          </a:prstGeom>
          <a:noFill/>
        </p:spPr>
        <p:txBody>
          <a:bodyPr wrap="square" anchor="t"/>
          <a:lstStyle/>
          <a:p>
            <a:pPr algn="l"/>
            <a:r>
              <a:rPr sz="1100" b="0" i="0">
                <a:solidFill>
                  <a:srgbClr val="475569"/>
                </a:solidFill>
                <a:latin typeface="Calibri"/>
              </a:rPr>
              <a:t>Growth workplace is on-the-project training (Home · Campaigns · Create · Media · More). SitGuru reviews work before anything goes live. SitGuru letters are an employer snapshot — not your university grade.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Brand kit + official look</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Home → Brand kit: download logos, upload Canva or CapCut files, then wait for SitGuru</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10</a:t>
            </a:r>
          </a:p>
        </p:txBody>
      </p:sp>
      <p:sp>
        <p:nvSpPr>
          <p:cNvPr id="12" name="Rounded Rectangle 11"/>
          <p:cNvSpPr/>
          <p:nvPr/>
        </p:nvSpPr>
        <p:spPr>
          <a:xfrm>
            <a:off x="384048" y="1353312"/>
            <a:ext cx="2788920" cy="169164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1536192"/>
            <a:ext cx="2514600" cy="365760"/>
          </a:xfrm>
          <a:prstGeom prst="rect">
            <a:avLst/>
          </a:prstGeom>
          <a:noFill/>
        </p:spPr>
        <p:txBody>
          <a:bodyPr wrap="square" anchor="t"/>
          <a:lstStyle/>
          <a:p>
            <a:pPr algn="l"/>
            <a:r>
              <a:rPr sz="1600" b="1" i="0">
                <a:solidFill>
                  <a:srgbClr val="FFFFFF"/>
                </a:solidFill>
                <a:latin typeface="Calibri"/>
              </a:rPr>
              <a:t>SitGuru Green</a:t>
            </a:r>
          </a:p>
        </p:txBody>
      </p:sp>
      <p:sp>
        <p:nvSpPr>
          <p:cNvPr id="14" name="TextBox 13"/>
          <p:cNvSpPr txBox="1"/>
          <p:nvPr/>
        </p:nvSpPr>
        <p:spPr>
          <a:xfrm>
            <a:off x="530352" y="1965960"/>
            <a:ext cx="2514600" cy="777240"/>
          </a:xfrm>
          <a:prstGeom prst="rect">
            <a:avLst/>
          </a:prstGeom>
          <a:noFill/>
        </p:spPr>
        <p:txBody>
          <a:bodyPr wrap="square" anchor="t"/>
          <a:lstStyle/>
          <a:p>
            <a:pPr algn="l"/>
            <a:r>
              <a:rPr sz="1300" b="0" i="0">
                <a:solidFill>
                  <a:srgbClr val="FFFFFF"/>
                </a:solidFill>
                <a:latin typeface="Calibri"/>
              </a:rPr>
              <a:t>#166534  ·  RGB 22, 101, 52  Never dark text on this green.</a:t>
            </a:r>
          </a:p>
        </p:txBody>
      </p:sp>
      <p:sp>
        <p:nvSpPr>
          <p:cNvPr id="15" name="Rounded Rectangle 14"/>
          <p:cNvSpPr/>
          <p:nvPr/>
        </p:nvSpPr>
        <p:spPr>
          <a:xfrm>
            <a:off x="3310128" y="1353312"/>
            <a:ext cx="2788920" cy="1691640"/>
          </a:xfrm>
          <a:prstGeom prst="round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6432" y="1536192"/>
            <a:ext cx="2514600" cy="365760"/>
          </a:xfrm>
          <a:prstGeom prst="rect">
            <a:avLst/>
          </a:prstGeom>
          <a:noFill/>
        </p:spPr>
        <p:txBody>
          <a:bodyPr wrap="square" anchor="t"/>
          <a:lstStyle/>
          <a:p>
            <a:pPr algn="l"/>
            <a:r>
              <a:rPr sz="1600" b="1" i="0">
                <a:solidFill>
                  <a:srgbClr val="FFFFFF"/>
                </a:solidFill>
                <a:latin typeface="Calibri"/>
              </a:rPr>
              <a:t>Dark green</a:t>
            </a:r>
          </a:p>
        </p:txBody>
      </p:sp>
      <p:sp>
        <p:nvSpPr>
          <p:cNvPr id="17" name="TextBox 16"/>
          <p:cNvSpPr txBox="1"/>
          <p:nvPr/>
        </p:nvSpPr>
        <p:spPr>
          <a:xfrm>
            <a:off x="3456432" y="1965960"/>
            <a:ext cx="2514600" cy="777240"/>
          </a:xfrm>
          <a:prstGeom prst="rect">
            <a:avLst/>
          </a:prstGeom>
          <a:noFill/>
        </p:spPr>
        <p:txBody>
          <a:bodyPr wrap="square" anchor="t"/>
          <a:lstStyle/>
          <a:p>
            <a:pPr algn="l"/>
            <a:r>
              <a:rPr sz="1300" b="0" i="0">
                <a:solidFill>
                  <a:srgbClr val="FFFFFF"/>
                </a:solidFill>
                <a:latin typeface="Calibri"/>
              </a:rPr>
              <a:t>#102417</a:t>
            </a:r>
          </a:p>
        </p:txBody>
      </p:sp>
      <p:sp>
        <p:nvSpPr>
          <p:cNvPr id="18" name="Rounded Rectangle 17"/>
          <p:cNvSpPr/>
          <p:nvPr/>
        </p:nvSpPr>
        <p:spPr>
          <a:xfrm>
            <a:off x="6236208" y="1353312"/>
            <a:ext cx="2788920" cy="1691640"/>
          </a:xfrm>
          <a:prstGeom prst="roundRect">
            <a:avLst/>
          </a:prstGeom>
          <a:solidFill>
            <a:srgbClr val="C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1536192"/>
            <a:ext cx="2514600" cy="365760"/>
          </a:xfrm>
          <a:prstGeom prst="rect">
            <a:avLst/>
          </a:prstGeom>
          <a:noFill/>
        </p:spPr>
        <p:txBody>
          <a:bodyPr wrap="square" anchor="t"/>
          <a:lstStyle/>
          <a:p>
            <a:pPr algn="l"/>
            <a:r>
              <a:rPr sz="1600" b="1" i="0">
                <a:solidFill>
                  <a:srgbClr val="102417"/>
                </a:solidFill>
                <a:latin typeface="Calibri"/>
              </a:rPr>
              <a:t>Light green</a:t>
            </a:r>
          </a:p>
        </p:txBody>
      </p:sp>
      <p:sp>
        <p:nvSpPr>
          <p:cNvPr id="20" name="TextBox 19"/>
          <p:cNvSpPr txBox="1"/>
          <p:nvPr/>
        </p:nvSpPr>
        <p:spPr>
          <a:xfrm>
            <a:off x="6382512" y="1965960"/>
            <a:ext cx="2514600" cy="777240"/>
          </a:xfrm>
          <a:prstGeom prst="rect">
            <a:avLst/>
          </a:prstGeom>
          <a:noFill/>
        </p:spPr>
        <p:txBody>
          <a:bodyPr wrap="square" anchor="t"/>
          <a:lstStyle/>
          <a:p>
            <a:pPr algn="l"/>
            <a:r>
              <a:rPr sz="1300" b="0" i="0">
                <a:solidFill>
                  <a:srgbClr val="102417"/>
                </a:solidFill>
                <a:latin typeface="Calibri"/>
              </a:rPr>
              <a:t>#CFE6D5</a:t>
            </a:r>
          </a:p>
        </p:txBody>
      </p:sp>
      <p:sp>
        <p:nvSpPr>
          <p:cNvPr id="21" name="Rounded Rectangle 20"/>
          <p:cNvSpPr/>
          <p:nvPr/>
        </p:nvSpPr>
        <p:spPr>
          <a:xfrm>
            <a:off x="9162288" y="1353312"/>
            <a:ext cx="2788920" cy="1691640"/>
          </a:xfrm>
          <a:prstGeom prst="roundRect">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08592" y="1536192"/>
            <a:ext cx="2514600" cy="365760"/>
          </a:xfrm>
          <a:prstGeom prst="rect">
            <a:avLst/>
          </a:prstGeom>
          <a:noFill/>
        </p:spPr>
        <p:txBody>
          <a:bodyPr wrap="square" anchor="t"/>
          <a:lstStyle/>
          <a:p>
            <a:pPr algn="l"/>
            <a:r>
              <a:rPr sz="1600" b="1" i="0">
                <a:solidFill>
                  <a:srgbClr val="0F172A"/>
                </a:solidFill>
                <a:latin typeface="Calibri"/>
              </a:rPr>
              <a:t>White type</a:t>
            </a:r>
          </a:p>
        </p:txBody>
      </p:sp>
      <p:sp>
        <p:nvSpPr>
          <p:cNvPr id="23" name="TextBox 22"/>
          <p:cNvSpPr txBox="1"/>
          <p:nvPr/>
        </p:nvSpPr>
        <p:spPr>
          <a:xfrm>
            <a:off x="9308592" y="1965960"/>
            <a:ext cx="2514600" cy="777240"/>
          </a:xfrm>
          <a:prstGeom prst="rect">
            <a:avLst/>
          </a:prstGeom>
          <a:noFill/>
        </p:spPr>
        <p:txBody>
          <a:bodyPr wrap="square" anchor="t"/>
          <a:lstStyle/>
          <a:p>
            <a:pPr algn="l"/>
            <a:r>
              <a:rPr sz="1300" b="0" i="0">
                <a:solidFill>
                  <a:srgbClr val="0F172A"/>
                </a:solidFill>
                <a:latin typeface="Calibri"/>
              </a:rPr>
              <a:t>Always on SitGuru Green</a:t>
            </a:r>
          </a:p>
        </p:txBody>
      </p:sp>
      <p:sp>
        <p:nvSpPr>
          <p:cNvPr id="24" name="Rounded Rectangle 23"/>
          <p:cNvSpPr/>
          <p:nvPr/>
        </p:nvSpPr>
        <p:spPr>
          <a:xfrm>
            <a:off x="384048" y="3218688"/>
            <a:ext cx="5742432" cy="1298448"/>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346704"/>
            <a:ext cx="5413248" cy="310896"/>
          </a:xfrm>
          <a:prstGeom prst="rect">
            <a:avLst/>
          </a:prstGeom>
          <a:noFill/>
        </p:spPr>
        <p:txBody>
          <a:bodyPr wrap="square" anchor="t"/>
          <a:lstStyle/>
          <a:p>
            <a:pPr algn="l"/>
            <a:r>
              <a:rPr sz="1500" b="1" i="0">
                <a:solidFill>
                  <a:srgbClr val="166534"/>
                </a:solidFill>
                <a:latin typeface="Calibri"/>
              </a:rPr>
              <a:t>Official logos</a:t>
            </a:r>
          </a:p>
        </p:txBody>
      </p:sp>
      <p:sp>
        <p:nvSpPr>
          <p:cNvPr id="26" name="TextBox 25"/>
          <p:cNvSpPr txBox="1"/>
          <p:nvPr/>
        </p:nvSpPr>
        <p:spPr>
          <a:xfrm>
            <a:off x="548640" y="3657600"/>
            <a:ext cx="5413248" cy="768096"/>
          </a:xfrm>
          <a:prstGeom prst="rect">
            <a:avLst/>
          </a:prstGeom>
          <a:noFill/>
        </p:spPr>
        <p:txBody>
          <a:bodyPr wrap="square" anchor="t"/>
          <a:lstStyle/>
          <a:p>
            <a:pPr algn="l"/>
            <a:r>
              <a:rPr sz="1300" b="0" i="0">
                <a:solidFill>
                  <a:srgbClr val="475569"/>
                </a:solidFill>
                <a:latin typeface="Calibri"/>
              </a:rPr>
              <a:t>Use SitGuru brand files from Brand kit or intern Help. Put a logo on a white chip if it has a white box.</a:t>
            </a:r>
          </a:p>
        </p:txBody>
      </p:sp>
      <p:sp>
        <p:nvSpPr>
          <p:cNvPr id="27" name="Rounded Rectangle 26"/>
          <p:cNvSpPr/>
          <p:nvPr/>
        </p:nvSpPr>
        <p:spPr>
          <a:xfrm>
            <a:off x="6281928" y="3218688"/>
            <a:ext cx="5742432" cy="1298448"/>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3346704"/>
            <a:ext cx="5413248" cy="310896"/>
          </a:xfrm>
          <a:prstGeom prst="rect">
            <a:avLst/>
          </a:prstGeom>
          <a:noFill/>
        </p:spPr>
        <p:txBody>
          <a:bodyPr wrap="square" anchor="t"/>
          <a:lstStyle/>
          <a:p>
            <a:pPr algn="l"/>
            <a:r>
              <a:rPr sz="1500" b="1" i="0">
                <a:solidFill>
                  <a:srgbClr val="166534"/>
                </a:solidFill>
                <a:latin typeface="Calibri"/>
              </a:rPr>
              <a:t>Handle</a:t>
            </a:r>
          </a:p>
        </p:txBody>
      </p:sp>
      <p:sp>
        <p:nvSpPr>
          <p:cNvPr id="29" name="TextBox 28"/>
          <p:cNvSpPr txBox="1"/>
          <p:nvPr/>
        </p:nvSpPr>
        <p:spPr>
          <a:xfrm>
            <a:off x="6446520" y="3657600"/>
            <a:ext cx="5413248" cy="768096"/>
          </a:xfrm>
          <a:prstGeom prst="rect">
            <a:avLst/>
          </a:prstGeom>
          <a:noFill/>
        </p:spPr>
        <p:txBody>
          <a:bodyPr wrap="square" anchor="t"/>
          <a:lstStyle/>
          <a:p>
            <a:pPr algn="l"/>
            <a:r>
              <a:rPr sz="1300" b="0" i="0">
                <a:solidFill>
                  <a:srgbClr val="475569"/>
                </a:solidFill>
                <a:latin typeface="Calibri"/>
              </a:rPr>
              <a:t>@SitGuruOfficial on Instagram, Facebook, TikTok, X, and YouTube.</a:t>
            </a:r>
          </a:p>
        </p:txBody>
      </p:sp>
      <p:sp>
        <p:nvSpPr>
          <p:cNvPr id="30" name="Rounded Rectangle 29"/>
          <p:cNvSpPr/>
          <p:nvPr/>
        </p:nvSpPr>
        <p:spPr>
          <a:xfrm>
            <a:off x="384048" y="4636008"/>
            <a:ext cx="5742432" cy="1298448"/>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764024"/>
            <a:ext cx="5413248" cy="310896"/>
          </a:xfrm>
          <a:prstGeom prst="rect">
            <a:avLst/>
          </a:prstGeom>
          <a:noFill/>
        </p:spPr>
        <p:txBody>
          <a:bodyPr wrap="square" anchor="t"/>
          <a:lstStyle/>
          <a:p>
            <a:pPr algn="l"/>
            <a:r>
              <a:rPr sz="1500" b="1" i="0">
                <a:solidFill>
                  <a:srgbClr val="166534"/>
                </a:solidFill>
                <a:latin typeface="Calibri"/>
              </a:rPr>
              <a:t>Mascot</a:t>
            </a:r>
          </a:p>
        </p:txBody>
      </p:sp>
      <p:sp>
        <p:nvSpPr>
          <p:cNvPr id="32" name="TextBox 31"/>
          <p:cNvSpPr txBox="1"/>
          <p:nvPr/>
        </p:nvSpPr>
        <p:spPr>
          <a:xfrm>
            <a:off x="548640" y="5074920"/>
            <a:ext cx="5413248" cy="768096"/>
          </a:xfrm>
          <a:prstGeom prst="rect">
            <a:avLst/>
          </a:prstGeom>
          <a:noFill/>
        </p:spPr>
        <p:txBody>
          <a:bodyPr wrap="square" anchor="t"/>
          <a:lstStyle/>
          <a:p>
            <a:pPr algn="l"/>
            <a:r>
              <a:rPr sz="1300" b="0" i="0">
                <a:solidFill>
                  <a:srgbClr val="475569"/>
                </a:solidFill>
                <a:latin typeface="Calibri"/>
              </a:rPr>
              <a:t>Rogue — a high-energy, loving GSP. Do not invent another mascot.</a:t>
            </a:r>
          </a:p>
        </p:txBody>
      </p:sp>
      <p:sp>
        <p:nvSpPr>
          <p:cNvPr id="33" name="Rounded Rectangle 32"/>
          <p:cNvSpPr/>
          <p:nvPr/>
        </p:nvSpPr>
        <p:spPr>
          <a:xfrm>
            <a:off x="6281928" y="4636008"/>
            <a:ext cx="5742432" cy="1298448"/>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4764024"/>
            <a:ext cx="5413248" cy="310896"/>
          </a:xfrm>
          <a:prstGeom prst="rect">
            <a:avLst/>
          </a:prstGeom>
          <a:noFill/>
        </p:spPr>
        <p:txBody>
          <a:bodyPr wrap="square" anchor="t"/>
          <a:lstStyle/>
          <a:p>
            <a:pPr algn="l"/>
            <a:r>
              <a:rPr sz="1500" b="1" i="0">
                <a:solidFill>
                  <a:srgbClr val="166534"/>
                </a:solidFill>
                <a:latin typeface="Calibri"/>
              </a:rPr>
              <a:t>Uploads</a:t>
            </a:r>
          </a:p>
        </p:txBody>
      </p:sp>
      <p:sp>
        <p:nvSpPr>
          <p:cNvPr id="35" name="TextBox 34"/>
          <p:cNvSpPr txBox="1"/>
          <p:nvPr/>
        </p:nvSpPr>
        <p:spPr>
          <a:xfrm>
            <a:off x="6446520" y="5074920"/>
            <a:ext cx="5413248" cy="768096"/>
          </a:xfrm>
          <a:prstGeom prst="rect">
            <a:avLst/>
          </a:prstGeom>
          <a:noFill/>
        </p:spPr>
        <p:txBody>
          <a:bodyPr wrap="square" anchor="t"/>
          <a:lstStyle/>
          <a:p>
            <a:pPr algn="l"/>
            <a:r>
              <a:rPr sz="1300" b="0" i="0">
                <a:solidFill>
                  <a:srgbClr val="475569"/>
                </a:solidFill>
                <a:latin typeface="Calibri"/>
              </a:rPr>
              <a:t>PDF, PNG, JPG, SVG, or slides under 10MB. Upload is review, not auto-publish.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Payments stay on SitGuru</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Checkout only — never a personal Venmo, PayPal, or cash to a Guru</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11</a:t>
            </a:r>
          </a:p>
        </p:txBody>
      </p:sp>
      <p:sp>
        <p:nvSpPr>
          <p:cNvPr id="12" name="TextBox 11"/>
          <p:cNvSpPr txBox="1"/>
          <p:nvPr/>
        </p:nvSpPr>
        <p:spPr>
          <a:xfrm>
            <a:off x="384048" y="1335024"/>
            <a:ext cx="11430000" cy="566928"/>
          </a:xfrm>
          <a:prstGeom prst="rect">
            <a:avLst/>
          </a:prstGeom>
          <a:noFill/>
        </p:spPr>
        <p:txBody>
          <a:bodyPr wrap="square" anchor="t"/>
          <a:lstStyle/>
          <a:p>
            <a:pPr algn="l"/>
            <a:r>
              <a:rPr sz="1600" b="0" i="0">
                <a:solidFill>
                  <a:srgbClr val="0F172A"/>
                </a:solidFill>
                <a:latin typeface="Calibri"/>
              </a:rPr>
              <a:t>Pet Parents, Gurus, and Ambassadors pay for SitGuru services inside SitGuru checkout. Interns never collect money off-platform.</a:t>
            </a:r>
          </a:p>
        </p:txBody>
      </p:sp>
      <p:sp>
        <p:nvSpPr>
          <p:cNvPr id="13" name="Rounded Rectangle 12"/>
          <p:cNvSpPr/>
          <p:nvPr/>
        </p:nvSpPr>
        <p:spPr>
          <a:xfrm>
            <a:off x="384048" y="2011680"/>
            <a:ext cx="1828800" cy="658368"/>
          </a:xfrm>
          <a:prstGeom prst="roundRect">
            <a:avLst>
              <a:gd name="adj" fmla="val 20000"/>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2121408"/>
            <a:ext cx="1828800" cy="438912"/>
          </a:xfrm>
          <a:prstGeom prst="rect">
            <a:avLst/>
          </a:prstGeom>
          <a:noFill/>
        </p:spPr>
        <p:txBody>
          <a:bodyPr wrap="square" anchor="ctr"/>
          <a:lstStyle/>
          <a:p>
            <a:pPr algn="ctr"/>
            <a:r>
              <a:rPr sz="1400" b="1" i="0">
                <a:solidFill>
                  <a:srgbClr val="FFFFFF"/>
                </a:solidFill>
                <a:latin typeface="Calibri"/>
              </a:rPr>
              <a:t>Stripe</a:t>
            </a:r>
          </a:p>
        </p:txBody>
      </p:sp>
      <p:sp>
        <p:nvSpPr>
          <p:cNvPr id="15" name="Rounded Rectangle 14"/>
          <p:cNvSpPr/>
          <p:nvPr/>
        </p:nvSpPr>
        <p:spPr>
          <a:xfrm>
            <a:off x="2322576" y="2011680"/>
            <a:ext cx="1828800" cy="658368"/>
          </a:xfrm>
          <a:prstGeom prst="roundRect">
            <a:avLst>
              <a:gd name="adj" fmla="val 20000"/>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22576" y="2121408"/>
            <a:ext cx="1828800" cy="438912"/>
          </a:xfrm>
          <a:prstGeom prst="rect">
            <a:avLst/>
          </a:prstGeom>
          <a:noFill/>
        </p:spPr>
        <p:txBody>
          <a:bodyPr wrap="square" anchor="ctr"/>
          <a:lstStyle/>
          <a:p>
            <a:pPr algn="ctr"/>
            <a:r>
              <a:rPr sz="1400" b="1" i="0">
                <a:solidFill>
                  <a:srgbClr val="FFFFFF"/>
                </a:solidFill>
                <a:latin typeface="Calibri"/>
              </a:rPr>
              <a:t>PayPal</a:t>
            </a:r>
          </a:p>
        </p:txBody>
      </p:sp>
      <p:sp>
        <p:nvSpPr>
          <p:cNvPr id="17" name="Rounded Rectangle 16"/>
          <p:cNvSpPr/>
          <p:nvPr/>
        </p:nvSpPr>
        <p:spPr>
          <a:xfrm>
            <a:off x="4261104" y="2011680"/>
            <a:ext cx="1828800" cy="658368"/>
          </a:xfrm>
          <a:prstGeom prst="roundRect">
            <a:avLst>
              <a:gd name="adj" fmla="val 20000"/>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61104" y="2121408"/>
            <a:ext cx="1828800" cy="438912"/>
          </a:xfrm>
          <a:prstGeom prst="rect">
            <a:avLst/>
          </a:prstGeom>
          <a:noFill/>
        </p:spPr>
        <p:txBody>
          <a:bodyPr wrap="square" anchor="ctr"/>
          <a:lstStyle/>
          <a:p>
            <a:pPr algn="ctr"/>
            <a:r>
              <a:rPr sz="1400" b="1" i="0">
                <a:solidFill>
                  <a:srgbClr val="FFFFFF"/>
                </a:solidFill>
                <a:latin typeface="Calibri"/>
              </a:rPr>
              <a:t>Apple Pay</a:t>
            </a:r>
          </a:p>
        </p:txBody>
      </p:sp>
      <p:sp>
        <p:nvSpPr>
          <p:cNvPr id="19" name="Rounded Rectangle 18"/>
          <p:cNvSpPr/>
          <p:nvPr/>
        </p:nvSpPr>
        <p:spPr>
          <a:xfrm>
            <a:off x="6199632" y="2011680"/>
            <a:ext cx="1828800" cy="658368"/>
          </a:xfrm>
          <a:prstGeom prst="roundRect">
            <a:avLst>
              <a:gd name="adj" fmla="val 20000"/>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9632" y="2121408"/>
            <a:ext cx="1828800" cy="438912"/>
          </a:xfrm>
          <a:prstGeom prst="rect">
            <a:avLst/>
          </a:prstGeom>
          <a:noFill/>
        </p:spPr>
        <p:txBody>
          <a:bodyPr wrap="square" anchor="ctr"/>
          <a:lstStyle/>
          <a:p>
            <a:pPr algn="ctr"/>
            <a:r>
              <a:rPr sz="1400" b="1" i="0">
                <a:solidFill>
                  <a:srgbClr val="FFFFFF"/>
                </a:solidFill>
                <a:latin typeface="Calibri"/>
              </a:rPr>
              <a:t>Google Pay</a:t>
            </a:r>
          </a:p>
        </p:txBody>
      </p:sp>
      <p:sp>
        <p:nvSpPr>
          <p:cNvPr id="21" name="Rounded Rectangle 20"/>
          <p:cNvSpPr/>
          <p:nvPr/>
        </p:nvSpPr>
        <p:spPr>
          <a:xfrm>
            <a:off x="8138160" y="2011680"/>
            <a:ext cx="1828800" cy="658368"/>
          </a:xfrm>
          <a:prstGeom prst="roundRect">
            <a:avLst>
              <a:gd name="adj" fmla="val 20000"/>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2121408"/>
            <a:ext cx="1828800" cy="438912"/>
          </a:xfrm>
          <a:prstGeom prst="rect">
            <a:avLst/>
          </a:prstGeom>
          <a:noFill/>
        </p:spPr>
        <p:txBody>
          <a:bodyPr wrap="square" anchor="ctr"/>
          <a:lstStyle/>
          <a:p>
            <a:pPr algn="ctr"/>
            <a:r>
              <a:rPr sz="1400" b="1" i="0">
                <a:solidFill>
                  <a:srgbClr val="FFFFFF"/>
                </a:solidFill>
                <a:latin typeface="Calibri"/>
              </a:rPr>
              <a:t>Venmo</a:t>
            </a:r>
          </a:p>
        </p:txBody>
      </p:sp>
      <p:sp>
        <p:nvSpPr>
          <p:cNvPr id="23" name="Rounded Rectangle 22"/>
          <p:cNvSpPr/>
          <p:nvPr/>
        </p:nvSpPr>
        <p:spPr>
          <a:xfrm>
            <a:off x="10076688" y="2011680"/>
            <a:ext cx="1828800" cy="658368"/>
          </a:xfrm>
          <a:prstGeom prst="roundRect">
            <a:avLst>
              <a:gd name="adj" fmla="val 20000"/>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76688" y="2121408"/>
            <a:ext cx="1828800" cy="438912"/>
          </a:xfrm>
          <a:prstGeom prst="rect">
            <a:avLst/>
          </a:prstGeom>
          <a:noFill/>
        </p:spPr>
        <p:txBody>
          <a:bodyPr wrap="square" anchor="ctr"/>
          <a:lstStyle/>
          <a:p>
            <a:pPr algn="ctr"/>
            <a:r>
              <a:rPr sz="1400" b="1" i="0">
                <a:solidFill>
                  <a:srgbClr val="FFFFFF"/>
                </a:solidFill>
                <a:latin typeface="Calibri"/>
              </a:rPr>
              <a:t>Plaid</a:t>
            </a:r>
          </a:p>
        </p:txBody>
      </p:sp>
      <p:sp>
        <p:nvSpPr>
          <p:cNvPr id="25" name="Rounded Rectangle 24"/>
          <p:cNvSpPr/>
          <p:nvPr/>
        </p:nvSpPr>
        <p:spPr>
          <a:xfrm>
            <a:off x="384048" y="2880360"/>
            <a:ext cx="3703320" cy="23317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008376"/>
            <a:ext cx="3374136" cy="310896"/>
          </a:xfrm>
          <a:prstGeom prst="rect">
            <a:avLst/>
          </a:prstGeom>
          <a:noFill/>
        </p:spPr>
        <p:txBody>
          <a:bodyPr wrap="square" anchor="t"/>
          <a:lstStyle/>
          <a:p>
            <a:pPr algn="l"/>
            <a:r>
              <a:rPr sz="1500" b="1" i="0">
                <a:solidFill>
                  <a:srgbClr val="166534"/>
                </a:solidFill>
                <a:latin typeface="Calibri"/>
              </a:rPr>
              <a:t>Trust &amp; Safety</a:t>
            </a:r>
          </a:p>
        </p:txBody>
      </p:sp>
      <p:sp>
        <p:nvSpPr>
          <p:cNvPr id="27" name="TextBox 26"/>
          <p:cNvSpPr txBox="1"/>
          <p:nvPr/>
        </p:nvSpPr>
        <p:spPr>
          <a:xfrm>
            <a:off x="548640" y="3319272"/>
            <a:ext cx="3374136" cy="1801367"/>
          </a:xfrm>
          <a:prstGeom prst="rect">
            <a:avLst/>
          </a:prstGeom>
          <a:noFill/>
        </p:spPr>
        <p:txBody>
          <a:bodyPr wrap="square" anchor="t"/>
          <a:lstStyle/>
          <a:p>
            <a:pPr algn="l"/>
            <a:r>
              <a:rPr sz="1300" b="0" i="0">
                <a:solidFill>
                  <a:srgbClr val="475569"/>
                </a:solidFill>
                <a:latin typeface="Calibri"/>
              </a:rPr>
              <a:t>SitGuru holds the booking and the payment. A personal Venmo handle is not SitGuru.</a:t>
            </a:r>
          </a:p>
        </p:txBody>
      </p:sp>
      <p:sp>
        <p:nvSpPr>
          <p:cNvPr id="28" name="Rounded Rectangle 27"/>
          <p:cNvSpPr/>
          <p:nvPr/>
        </p:nvSpPr>
        <p:spPr>
          <a:xfrm>
            <a:off x="4242816" y="2880360"/>
            <a:ext cx="3703320" cy="23317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07407" y="3008376"/>
            <a:ext cx="3374136" cy="310896"/>
          </a:xfrm>
          <a:prstGeom prst="rect">
            <a:avLst/>
          </a:prstGeom>
          <a:noFill/>
        </p:spPr>
        <p:txBody>
          <a:bodyPr wrap="square" anchor="t"/>
          <a:lstStyle/>
          <a:p>
            <a:pPr algn="l"/>
            <a:r>
              <a:rPr sz="1500" b="1" i="0">
                <a:solidFill>
                  <a:srgbClr val="166534"/>
                </a:solidFill>
                <a:latin typeface="Calibri"/>
              </a:rPr>
              <a:t>Intern job</a:t>
            </a:r>
          </a:p>
        </p:txBody>
      </p:sp>
      <p:sp>
        <p:nvSpPr>
          <p:cNvPr id="30" name="TextBox 29"/>
          <p:cNvSpPr txBox="1"/>
          <p:nvPr/>
        </p:nvSpPr>
        <p:spPr>
          <a:xfrm>
            <a:off x="4407407" y="3319272"/>
            <a:ext cx="3374136" cy="1801367"/>
          </a:xfrm>
          <a:prstGeom prst="rect">
            <a:avLst/>
          </a:prstGeom>
          <a:noFill/>
        </p:spPr>
        <p:txBody>
          <a:bodyPr wrap="square" anchor="t"/>
          <a:lstStyle/>
          <a:p>
            <a:pPr algn="l"/>
            <a:r>
              <a:rPr sz="1300" b="0" i="0">
                <a:solidFill>
                  <a:srgbClr val="475569"/>
                </a:solidFill>
                <a:latin typeface="Calibri"/>
              </a:rPr>
              <a:t>Say: pay in SitGuru checkout. Send Gurus to Become a Guru with a tracking link.</a:t>
            </a:r>
          </a:p>
        </p:txBody>
      </p:sp>
      <p:sp>
        <p:nvSpPr>
          <p:cNvPr id="31" name="Rounded Rectangle 30"/>
          <p:cNvSpPr/>
          <p:nvPr/>
        </p:nvSpPr>
        <p:spPr>
          <a:xfrm>
            <a:off x="8101583" y="2880360"/>
            <a:ext cx="3703320" cy="23317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66175" y="3008376"/>
            <a:ext cx="3374136" cy="310896"/>
          </a:xfrm>
          <a:prstGeom prst="rect">
            <a:avLst/>
          </a:prstGeom>
          <a:noFill/>
        </p:spPr>
        <p:txBody>
          <a:bodyPr wrap="square" anchor="t"/>
          <a:lstStyle/>
          <a:p>
            <a:pPr algn="l"/>
            <a:r>
              <a:rPr sz="1500" b="1" i="0">
                <a:solidFill>
                  <a:srgbClr val="166534"/>
                </a:solidFill>
                <a:latin typeface="Calibri"/>
              </a:rPr>
              <a:t>Never intern homework</a:t>
            </a:r>
          </a:p>
        </p:txBody>
      </p:sp>
      <p:sp>
        <p:nvSpPr>
          <p:cNvPr id="33" name="TextBox 32"/>
          <p:cNvSpPr txBox="1"/>
          <p:nvPr/>
        </p:nvSpPr>
        <p:spPr>
          <a:xfrm>
            <a:off x="8266175" y="3319272"/>
            <a:ext cx="3374136" cy="1801367"/>
          </a:xfrm>
          <a:prstGeom prst="rect">
            <a:avLst/>
          </a:prstGeom>
          <a:noFill/>
        </p:spPr>
        <p:txBody>
          <a:bodyPr wrap="square" anchor="t"/>
          <a:lstStyle/>
          <a:p>
            <a:pPr algn="l"/>
            <a:r>
              <a:rPr sz="1300" b="0" i="0">
                <a:solidFill>
                  <a:srgbClr val="475569"/>
                </a:solidFill>
                <a:latin typeface="Calibri"/>
              </a:rPr>
              <a:t>No SSN, bank login, card numbers, Admin HQ, or PawPerks account. No Rover or Wag.</a:t>
            </a:r>
          </a:p>
        </p:txBody>
      </p:sp>
      <p:sp>
        <p:nvSpPr>
          <p:cNvPr id="34" name="TextBox 33"/>
          <p:cNvSpPr txBox="1"/>
          <p:nvPr/>
        </p:nvSpPr>
        <p:spPr>
          <a:xfrm>
            <a:off x="384048" y="5349240"/>
            <a:ext cx="11430000" cy="960120"/>
          </a:xfrm>
          <a:prstGeom prst="rect">
            <a:avLst/>
          </a:prstGeom>
          <a:noFill/>
        </p:spPr>
        <p:txBody>
          <a:bodyPr wrap="square" anchor="t"/>
          <a:lstStyle/>
          <a:p>
            <a:pPr algn="l"/>
            <a:r>
              <a:rPr sz="1100" b="0" i="0">
                <a:solidFill>
                  <a:srgbClr val="475569"/>
                </a:solidFill>
                <a:latin typeface="Calibri"/>
              </a:rPr>
              <a:t>Payout help for Gurus and Ambassadors is support@sitguru.com. Intern questions: intern@sitguru.com.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1965960" cy="960120"/>
          </a:xfrm>
          <a:prstGeom prst="roundRect">
            <a:avLst>
              <a:gd name="adj" fmla="val 1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itguru-logo-horizontal.jpg"/>
          <p:cNvPicPr>
            <a:picLocks noChangeAspect="1"/>
          </p:cNvPicPr>
          <p:nvPr/>
        </p:nvPicPr>
        <p:blipFill>
          <a:blip r:embed="rId2"/>
          <a:stretch>
            <a:fillRect/>
          </a:stretch>
        </p:blipFill>
        <p:spPr>
          <a:xfrm>
            <a:off x="621792" y="530352"/>
            <a:ext cx="1737360" cy="658368"/>
          </a:xfrm>
          <a:prstGeom prst="rect">
            <a:avLst/>
          </a:prstGeom>
        </p:spPr>
      </p:pic>
      <p:sp>
        <p:nvSpPr>
          <p:cNvPr id="6" name="TextBox 5"/>
          <p:cNvSpPr txBox="1"/>
          <p:nvPr/>
        </p:nvSpPr>
        <p:spPr>
          <a:xfrm>
            <a:off x="502920" y="1965960"/>
            <a:ext cx="10789920" cy="329184"/>
          </a:xfrm>
          <a:prstGeom prst="rect">
            <a:avLst/>
          </a:prstGeom>
          <a:noFill/>
        </p:spPr>
        <p:txBody>
          <a:bodyPr wrap="square" anchor="t"/>
          <a:lstStyle/>
          <a:p>
            <a:pPr algn="l"/>
            <a:r>
              <a:rPr sz="1300" b="1" i="0">
                <a:solidFill>
                  <a:srgbClr val="CFE6D5"/>
                </a:solidFill>
                <a:latin typeface="Calibri"/>
              </a:rPr>
              <a:t>SECTION  ·  WEEKS 1–2</a:t>
            </a:r>
          </a:p>
        </p:txBody>
      </p:sp>
      <p:sp>
        <p:nvSpPr>
          <p:cNvPr id="7" name="TextBox 6"/>
          <p:cNvSpPr txBox="1"/>
          <p:nvPr/>
        </p:nvSpPr>
        <p:spPr>
          <a:xfrm>
            <a:off x="502920" y="2304288"/>
            <a:ext cx="10789920" cy="1280160"/>
          </a:xfrm>
          <a:prstGeom prst="rect">
            <a:avLst/>
          </a:prstGeom>
          <a:noFill/>
        </p:spPr>
        <p:txBody>
          <a:bodyPr wrap="square" anchor="t"/>
          <a:lstStyle/>
          <a:p>
            <a:pPr algn="l"/>
            <a:r>
              <a:rPr sz="4000" b="1" i="0">
                <a:solidFill>
                  <a:srgbClr val="FFFFFF"/>
                </a:solidFill>
                <a:latin typeface="Calibri"/>
              </a:rPr>
              <a:t>Baseline &amp; Growth Brief</a:t>
            </a:r>
          </a:p>
        </p:txBody>
      </p:sp>
      <p:sp>
        <p:nvSpPr>
          <p:cNvPr id="8" name="TextBox 7"/>
          <p:cNvSpPr txBox="1"/>
          <p:nvPr/>
        </p:nvSpPr>
        <p:spPr>
          <a:xfrm>
            <a:off x="502920" y="3794760"/>
            <a:ext cx="9509760" cy="1280160"/>
          </a:xfrm>
          <a:prstGeom prst="rect">
            <a:avLst/>
          </a:prstGeom>
          <a:noFill/>
        </p:spPr>
        <p:txBody>
          <a:bodyPr wrap="square" anchor="t"/>
          <a:lstStyle/>
          <a:p>
            <a:pPr algn="l"/>
            <a:r>
              <a:rPr sz="1800" b="0" i="0">
                <a:solidFill>
                  <a:srgbClr val="FFFFFF"/>
                </a:solidFill>
                <a:latin typeface="Calibri"/>
              </a:rPr>
              <a:t>Written brief + presentation + evidence. SitGuru approval required. This feeds the Final Growth Report.</a:t>
            </a:r>
          </a:p>
        </p:txBody>
      </p:sp>
      <p:sp>
        <p:nvSpPr>
          <p:cNvPr id="9" name="TextBox 8"/>
          <p:cNvSpPr txBox="1"/>
          <p:nvPr/>
        </p:nvSpPr>
        <p:spPr>
          <a:xfrm>
            <a:off x="502920" y="5806440"/>
            <a:ext cx="9509760" cy="365760"/>
          </a:xfrm>
          <a:prstGeom prst="rect">
            <a:avLst/>
          </a:prstGeom>
          <a:noFill/>
        </p:spPr>
        <p:txBody>
          <a:bodyPr wrap="square" anchor="t"/>
          <a:lstStyle/>
          <a:p>
            <a:pPr algn="l"/>
            <a:r>
              <a:rPr sz="1300" b="0" i="0">
                <a:solidFill>
                  <a:srgbClr val="CFE6D5"/>
                </a:solidFill>
                <a:latin typeface="Calibri"/>
              </a:rPr>
              <a:t>Social Media &amp; Community Growth Internship  ·  Spring 2027</a:t>
            </a:r>
          </a:p>
        </p:txBody>
      </p:sp>
      <p:sp>
        <p:nvSpPr>
          <p:cNvPr id="10" name="TextBox 9"/>
          <p:cNvSpPr txBox="1"/>
          <p:nvPr/>
        </p:nvSpPr>
        <p:spPr>
          <a:xfrm>
            <a:off x="384048" y="6473952"/>
            <a:ext cx="10424160" cy="292608"/>
          </a:xfrm>
          <a:prstGeom prst="rect">
            <a:avLst/>
          </a:prstGeom>
          <a:noFill/>
        </p:spPr>
        <p:txBody>
          <a:bodyPr wrap="square" anchor="t"/>
          <a:lstStyle/>
          <a:p>
            <a:pPr algn="l"/>
            <a:r>
              <a:rPr sz="800" b="0" i="0">
                <a:solidFill>
                  <a:srgbClr val="CFE6D5"/>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881360" y="6473952"/>
            <a:ext cx="960120" cy="292608"/>
          </a:xfrm>
          <a:prstGeom prst="rect">
            <a:avLst/>
          </a:prstGeom>
          <a:noFill/>
        </p:spPr>
        <p:txBody>
          <a:bodyPr wrap="square" anchor="t"/>
          <a:lstStyle/>
          <a:p>
            <a:pPr algn="r"/>
            <a:r>
              <a:rPr sz="1000" b="1" i="0">
                <a:solidFill>
                  <a:srgbClr val="FFFFFF"/>
                </a:solidFill>
                <a:latin typeface="Calibri"/>
              </a:rPr>
              <a:t>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Weeks 1–2: Baseline &amp; Growth Brief</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Phase 1 of the Final Business Growth Report. SitGuru approval required. A file alone does not finish it.</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13</a:t>
            </a:r>
          </a:p>
        </p:txBody>
      </p:sp>
      <p:sp>
        <p:nvSpPr>
          <p:cNvPr id="12" name="Rounded Rectangle 11"/>
          <p:cNvSpPr/>
          <p:nvPr/>
        </p:nvSpPr>
        <p:spPr>
          <a:xfrm>
            <a:off x="384048" y="1335024"/>
            <a:ext cx="3703320" cy="19659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463040"/>
            <a:ext cx="3374136" cy="310896"/>
          </a:xfrm>
          <a:prstGeom prst="rect">
            <a:avLst/>
          </a:prstGeom>
          <a:noFill/>
        </p:spPr>
        <p:txBody>
          <a:bodyPr wrap="square" anchor="t"/>
          <a:lstStyle/>
          <a:p>
            <a:pPr algn="l"/>
            <a:r>
              <a:rPr sz="1500" b="1" i="0">
                <a:solidFill>
                  <a:srgbClr val="166534"/>
                </a:solidFill>
                <a:latin typeface="Calibri"/>
              </a:rPr>
              <a:t>1. Written brief</a:t>
            </a:r>
          </a:p>
        </p:txBody>
      </p:sp>
      <p:sp>
        <p:nvSpPr>
          <p:cNvPr id="14" name="TextBox 13"/>
          <p:cNvSpPr txBox="1"/>
          <p:nvPr/>
        </p:nvSpPr>
        <p:spPr>
          <a:xfrm>
            <a:off x="548640" y="1773936"/>
            <a:ext cx="3374136" cy="1435607"/>
          </a:xfrm>
          <a:prstGeom prst="rect">
            <a:avLst/>
          </a:prstGeom>
          <a:noFill/>
        </p:spPr>
        <p:txBody>
          <a:bodyPr wrap="square" anchor="t"/>
          <a:lstStyle/>
          <a:p>
            <a:pPr algn="l"/>
            <a:r>
              <a:rPr sz="1300" b="0" i="0">
                <a:solidFill>
                  <a:srgbClr val="475569"/>
                </a:solidFill>
                <a:latin typeface="Calibri"/>
              </a:rPr>
              <a:t>DOC / DOCX / PDF  ·  2–5 pages
The source-of-record story SitGuru keeps.</a:t>
            </a:r>
          </a:p>
        </p:txBody>
      </p:sp>
      <p:sp>
        <p:nvSpPr>
          <p:cNvPr id="15" name="Rounded Rectangle 14"/>
          <p:cNvSpPr/>
          <p:nvPr/>
        </p:nvSpPr>
        <p:spPr>
          <a:xfrm>
            <a:off x="4242816" y="1335024"/>
            <a:ext cx="3703320" cy="19659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7407" y="1463040"/>
            <a:ext cx="3374136" cy="310896"/>
          </a:xfrm>
          <a:prstGeom prst="rect">
            <a:avLst/>
          </a:prstGeom>
          <a:noFill/>
        </p:spPr>
        <p:txBody>
          <a:bodyPr wrap="square" anchor="t"/>
          <a:lstStyle/>
          <a:p>
            <a:pPr algn="l"/>
            <a:r>
              <a:rPr sz="1500" b="1" i="0">
                <a:solidFill>
                  <a:srgbClr val="166534"/>
                </a:solidFill>
                <a:latin typeface="Calibri"/>
              </a:rPr>
              <a:t>2. Presentation</a:t>
            </a:r>
          </a:p>
        </p:txBody>
      </p:sp>
      <p:sp>
        <p:nvSpPr>
          <p:cNvPr id="17" name="TextBox 16"/>
          <p:cNvSpPr txBox="1"/>
          <p:nvPr/>
        </p:nvSpPr>
        <p:spPr>
          <a:xfrm>
            <a:off x="4407407" y="1773936"/>
            <a:ext cx="3374136" cy="1435607"/>
          </a:xfrm>
          <a:prstGeom prst="rect">
            <a:avLst/>
          </a:prstGeom>
          <a:noFill/>
        </p:spPr>
        <p:txBody>
          <a:bodyPr wrap="square" anchor="t"/>
          <a:lstStyle/>
          <a:p>
            <a:pPr algn="l"/>
            <a:r>
              <a:rPr sz="1300" b="0" i="0">
                <a:solidFill>
                  <a:srgbClr val="475569"/>
                </a:solidFill>
                <a:latin typeface="Calibri"/>
              </a:rPr>
              <a:t>PPT / PPTX  ·  6–10 slides
Short supervisor review deck — not a screenshot.</a:t>
            </a:r>
          </a:p>
        </p:txBody>
      </p:sp>
      <p:sp>
        <p:nvSpPr>
          <p:cNvPr id="18" name="Rounded Rectangle 17"/>
          <p:cNvSpPr/>
          <p:nvPr/>
        </p:nvSpPr>
        <p:spPr>
          <a:xfrm>
            <a:off x="8101583" y="1335024"/>
            <a:ext cx="3703320" cy="19659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5" y="1463040"/>
            <a:ext cx="3374136" cy="310896"/>
          </a:xfrm>
          <a:prstGeom prst="rect">
            <a:avLst/>
          </a:prstGeom>
          <a:noFill/>
        </p:spPr>
        <p:txBody>
          <a:bodyPr wrap="square" anchor="t"/>
          <a:lstStyle/>
          <a:p>
            <a:pPr algn="l"/>
            <a:r>
              <a:rPr sz="1500" b="1" i="0">
                <a:solidFill>
                  <a:srgbClr val="166534"/>
                </a:solidFill>
                <a:latin typeface="Calibri"/>
              </a:rPr>
              <a:t>3. Supporting evidence</a:t>
            </a:r>
          </a:p>
        </p:txBody>
      </p:sp>
      <p:sp>
        <p:nvSpPr>
          <p:cNvPr id="20" name="TextBox 19"/>
          <p:cNvSpPr txBox="1"/>
          <p:nvPr/>
        </p:nvSpPr>
        <p:spPr>
          <a:xfrm>
            <a:off x="8266175" y="1773936"/>
            <a:ext cx="3374136" cy="1435607"/>
          </a:xfrm>
          <a:prstGeom prst="rect">
            <a:avLst/>
          </a:prstGeom>
          <a:noFill/>
        </p:spPr>
        <p:txBody>
          <a:bodyPr wrap="square" anchor="t"/>
          <a:lstStyle/>
          <a:p>
            <a:pPr algn="l"/>
            <a:r>
              <a:rPr sz="1300" b="0" i="0">
                <a:solidFill>
                  <a:srgbClr val="475569"/>
                </a:solidFill>
                <a:latin typeface="Calibri"/>
              </a:rPr>
              <a:t>Charts, public research, approved analytics.
No customer names or payment details.</a:t>
            </a:r>
          </a:p>
        </p:txBody>
      </p:sp>
      <p:sp>
        <p:nvSpPr>
          <p:cNvPr id="21" name="Rounded Rectangle 20"/>
          <p:cNvSpPr/>
          <p:nvPr/>
        </p:nvSpPr>
        <p:spPr>
          <a:xfrm>
            <a:off x="384048" y="3474720"/>
            <a:ext cx="3703320" cy="566928"/>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 y="3602736"/>
            <a:ext cx="3429000" cy="310896"/>
          </a:xfrm>
          <a:prstGeom prst="rect">
            <a:avLst/>
          </a:prstGeom>
          <a:noFill/>
        </p:spPr>
        <p:txBody>
          <a:bodyPr wrap="square" anchor="t"/>
          <a:lstStyle/>
          <a:p>
            <a:pPr algn="l"/>
            <a:r>
              <a:rPr sz="1300" b="1" i="0">
                <a:solidFill>
                  <a:srgbClr val="0F172A"/>
                </a:solidFill>
                <a:latin typeface="Calibri"/>
              </a:rPr>
              <a:t>✓  Project &amp; market</a:t>
            </a:r>
          </a:p>
        </p:txBody>
      </p:sp>
      <p:sp>
        <p:nvSpPr>
          <p:cNvPr id="23" name="Rounded Rectangle 22"/>
          <p:cNvSpPr/>
          <p:nvPr/>
        </p:nvSpPr>
        <p:spPr>
          <a:xfrm>
            <a:off x="4242816" y="3474720"/>
            <a:ext cx="3703320" cy="566928"/>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0831" y="3602736"/>
            <a:ext cx="3429000" cy="310896"/>
          </a:xfrm>
          <a:prstGeom prst="rect">
            <a:avLst/>
          </a:prstGeom>
          <a:noFill/>
        </p:spPr>
        <p:txBody>
          <a:bodyPr wrap="square" anchor="t"/>
          <a:lstStyle/>
          <a:p>
            <a:pPr algn="l"/>
            <a:r>
              <a:rPr sz="1300" b="1" i="0">
                <a:solidFill>
                  <a:srgbClr val="0F172A"/>
                </a:solidFill>
                <a:latin typeface="Calibri"/>
              </a:rPr>
              <a:t>✓  Baseline KPIs + sources</a:t>
            </a:r>
          </a:p>
        </p:txBody>
      </p:sp>
      <p:sp>
        <p:nvSpPr>
          <p:cNvPr id="25" name="Rounded Rectangle 24"/>
          <p:cNvSpPr/>
          <p:nvPr/>
        </p:nvSpPr>
        <p:spPr>
          <a:xfrm>
            <a:off x="8101583" y="3474720"/>
            <a:ext cx="3703320" cy="566928"/>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3602736"/>
            <a:ext cx="3429000" cy="310896"/>
          </a:xfrm>
          <a:prstGeom prst="rect">
            <a:avLst/>
          </a:prstGeom>
          <a:noFill/>
        </p:spPr>
        <p:txBody>
          <a:bodyPr wrap="square" anchor="t"/>
          <a:lstStyle/>
          <a:p>
            <a:pPr algn="l"/>
            <a:r>
              <a:rPr sz="1300" b="1" i="0">
                <a:solidFill>
                  <a:srgbClr val="0F172A"/>
                </a:solidFill>
                <a:latin typeface="Calibri"/>
              </a:rPr>
              <a:t>✓  Target audience</a:t>
            </a:r>
          </a:p>
        </p:txBody>
      </p:sp>
      <p:sp>
        <p:nvSpPr>
          <p:cNvPr id="27" name="Rounded Rectangle 26"/>
          <p:cNvSpPr/>
          <p:nvPr/>
        </p:nvSpPr>
        <p:spPr>
          <a:xfrm>
            <a:off x="384048" y="4133087"/>
            <a:ext cx="3703320" cy="566928"/>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 y="4261103"/>
            <a:ext cx="3429000" cy="310896"/>
          </a:xfrm>
          <a:prstGeom prst="rect">
            <a:avLst/>
          </a:prstGeom>
          <a:noFill/>
        </p:spPr>
        <p:txBody>
          <a:bodyPr wrap="square" anchor="t"/>
          <a:lstStyle/>
          <a:p>
            <a:pPr algn="l"/>
            <a:r>
              <a:rPr sz="1300" b="1" i="0">
                <a:solidFill>
                  <a:srgbClr val="0F172A"/>
                </a:solidFill>
                <a:latin typeface="Calibri"/>
              </a:rPr>
              <a:t>✓  Current situation</a:t>
            </a:r>
          </a:p>
        </p:txBody>
      </p:sp>
      <p:sp>
        <p:nvSpPr>
          <p:cNvPr id="29" name="Rounded Rectangle 28"/>
          <p:cNvSpPr/>
          <p:nvPr/>
        </p:nvSpPr>
        <p:spPr>
          <a:xfrm>
            <a:off x="4242816" y="4133087"/>
            <a:ext cx="3703320" cy="566928"/>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0831" y="4261103"/>
            <a:ext cx="3429000" cy="310896"/>
          </a:xfrm>
          <a:prstGeom prst="rect">
            <a:avLst/>
          </a:prstGeom>
          <a:noFill/>
        </p:spPr>
        <p:txBody>
          <a:bodyPr wrap="square" anchor="t"/>
          <a:lstStyle/>
          <a:p>
            <a:pPr algn="l"/>
            <a:r>
              <a:rPr sz="1300" b="1" i="0">
                <a:solidFill>
                  <a:srgbClr val="0F172A"/>
                </a:solidFill>
                <a:latin typeface="Calibri"/>
              </a:rPr>
              <a:t>✓  Three risks</a:t>
            </a:r>
          </a:p>
        </p:txBody>
      </p:sp>
      <p:sp>
        <p:nvSpPr>
          <p:cNvPr id="31" name="Rounded Rectangle 30"/>
          <p:cNvSpPr/>
          <p:nvPr/>
        </p:nvSpPr>
        <p:spPr>
          <a:xfrm>
            <a:off x="8101583" y="4133087"/>
            <a:ext cx="3703320" cy="566928"/>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0" y="4261103"/>
            <a:ext cx="3429000" cy="310896"/>
          </a:xfrm>
          <a:prstGeom prst="rect">
            <a:avLst/>
          </a:prstGeom>
          <a:noFill/>
        </p:spPr>
        <p:txBody>
          <a:bodyPr wrap="square" anchor="t"/>
          <a:lstStyle/>
          <a:p>
            <a:pPr algn="l"/>
            <a:r>
              <a:rPr sz="1300" b="1" i="0">
                <a:solidFill>
                  <a:srgbClr val="0F172A"/>
                </a:solidFill>
                <a:latin typeface="Calibri"/>
              </a:rPr>
              <a:t>✓  Three opportunities</a:t>
            </a:r>
          </a:p>
        </p:txBody>
      </p:sp>
      <p:sp>
        <p:nvSpPr>
          <p:cNvPr id="33" name="Rounded Rectangle 32"/>
          <p:cNvSpPr/>
          <p:nvPr/>
        </p:nvSpPr>
        <p:spPr>
          <a:xfrm>
            <a:off x="384048" y="4791456"/>
            <a:ext cx="3703320" cy="566928"/>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 y="4919472"/>
            <a:ext cx="3429000" cy="310896"/>
          </a:xfrm>
          <a:prstGeom prst="rect">
            <a:avLst/>
          </a:prstGeom>
          <a:noFill/>
        </p:spPr>
        <p:txBody>
          <a:bodyPr wrap="square" anchor="t"/>
          <a:lstStyle/>
          <a:p>
            <a:pPr algn="l"/>
            <a:r>
              <a:rPr sz="1300" b="1" i="0">
                <a:solidFill>
                  <a:srgbClr val="0F172A"/>
                </a:solidFill>
                <a:latin typeface="Calibri"/>
              </a:rPr>
              <a:t>✓  SMART goals</a:t>
            </a:r>
          </a:p>
        </p:txBody>
      </p:sp>
      <p:sp>
        <p:nvSpPr>
          <p:cNvPr id="35" name="Rounded Rectangle 34"/>
          <p:cNvSpPr/>
          <p:nvPr/>
        </p:nvSpPr>
        <p:spPr>
          <a:xfrm>
            <a:off x="4242816" y="4791456"/>
            <a:ext cx="3703320" cy="566928"/>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0831" y="4919472"/>
            <a:ext cx="3429000" cy="310896"/>
          </a:xfrm>
          <a:prstGeom prst="rect">
            <a:avLst/>
          </a:prstGeom>
          <a:noFill/>
        </p:spPr>
        <p:txBody>
          <a:bodyPr wrap="square" anchor="t"/>
          <a:lstStyle/>
          <a:p>
            <a:pPr algn="l"/>
            <a:r>
              <a:rPr sz="1300" b="1" i="0">
                <a:solidFill>
                  <a:srgbClr val="0F172A"/>
                </a:solidFill>
                <a:latin typeface="Calibri"/>
              </a:rPr>
              <a:t>✓  First experiments</a:t>
            </a:r>
          </a:p>
        </p:txBody>
      </p:sp>
      <p:sp>
        <p:nvSpPr>
          <p:cNvPr id="37" name="Rounded Rectangle 36"/>
          <p:cNvSpPr/>
          <p:nvPr/>
        </p:nvSpPr>
        <p:spPr>
          <a:xfrm>
            <a:off x="8101583" y="4791456"/>
            <a:ext cx="3703320" cy="566928"/>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0" y="4919472"/>
            <a:ext cx="3429000" cy="310896"/>
          </a:xfrm>
          <a:prstGeom prst="rect">
            <a:avLst/>
          </a:prstGeom>
          <a:noFill/>
        </p:spPr>
        <p:txBody>
          <a:bodyPr wrap="square" anchor="t"/>
          <a:lstStyle/>
          <a:p>
            <a:pPr algn="l"/>
            <a:r>
              <a:rPr sz="1300" b="1" i="0">
                <a:solidFill>
                  <a:srgbClr val="0F172A"/>
                </a:solidFill>
                <a:latin typeface="Calibri"/>
              </a:rPr>
              <a:t>✓  SitGuru decisions</a:t>
            </a:r>
          </a:p>
        </p:txBody>
      </p:sp>
      <p:sp>
        <p:nvSpPr>
          <p:cNvPr id="39" name="TextBox 38"/>
          <p:cNvSpPr txBox="1"/>
          <p:nvPr/>
        </p:nvSpPr>
        <p:spPr>
          <a:xfrm>
            <a:off x="384048" y="5532120"/>
            <a:ext cx="11430000" cy="822960"/>
          </a:xfrm>
          <a:prstGeom prst="rect">
            <a:avLst/>
          </a:prstGeom>
          <a:noFill/>
        </p:spPr>
        <p:txBody>
          <a:bodyPr wrap="square" anchor="t"/>
          <a:lstStyle/>
          <a:p>
            <a:pPr algn="l"/>
            <a:r>
              <a:rPr sz="1100" b="0" i="0">
                <a:solidFill>
                  <a:srgbClr val="475569"/>
                </a:solidFill>
                <a:latin typeface="Calibri"/>
              </a:rPr>
              <a:t>Baseline = starting number SitGuru can check. SMART = Specific, Measurable, Achievable, Relevant, Time-bound. Approved sections feed Executive Summary, Starting Position, Audience, Challenges, Opportunities, SMART goals, and the Initial Testing Plan.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Your weekly operating rhythm</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Plan → execute → measure → learn → submit → improve</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14</a:t>
            </a:r>
          </a:p>
        </p:txBody>
      </p:sp>
      <p:sp>
        <p:nvSpPr>
          <p:cNvPr id="12" name="Rounded Rectangle 11"/>
          <p:cNvSpPr/>
          <p:nvPr/>
        </p:nvSpPr>
        <p:spPr>
          <a:xfrm>
            <a:off x="384048" y="1353312"/>
            <a:ext cx="3703320" cy="2084831"/>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481328"/>
            <a:ext cx="3374136" cy="310896"/>
          </a:xfrm>
          <a:prstGeom prst="rect">
            <a:avLst/>
          </a:prstGeom>
          <a:noFill/>
        </p:spPr>
        <p:txBody>
          <a:bodyPr wrap="square" anchor="t"/>
          <a:lstStyle/>
          <a:p>
            <a:pPr algn="l"/>
            <a:r>
              <a:rPr sz="1500" b="1" i="0">
                <a:solidFill>
                  <a:srgbClr val="166534"/>
                </a:solidFill>
                <a:latin typeface="Calibri"/>
              </a:rPr>
              <a:t>Mon  ·  Plan</a:t>
            </a:r>
          </a:p>
        </p:txBody>
      </p:sp>
      <p:sp>
        <p:nvSpPr>
          <p:cNvPr id="14" name="TextBox 13"/>
          <p:cNvSpPr txBox="1"/>
          <p:nvPr/>
        </p:nvSpPr>
        <p:spPr>
          <a:xfrm>
            <a:off x="548640" y="1792224"/>
            <a:ext cx="3374136" cy="1554479"/>
          </a:xfrm>
          <a:prstGeom prst="rect">
            <a:avLst/>
          </a:prstGeom>
          <a:noFill/>
        </p:spPr>
        <p:txBody>
          <a:bodyPr wrap="square" anchor="t"/>
          <a:lstStyle/>
          <a:p>
            <a:pPr algn="l"/>
            <a:r>
              <a:rPr sz="1300" b="0" i="0">
                <a:solidFill>
                  <a:srgbClr val="475569"/>
                </a:solidFill>
                <a:latin typeface="Calibri"/>
              </a:rPr>
              <a:t>Confirm priorities, tasks, hours target, and which Final Growth Report chapter this week helps.</a:t>
            </a:r>
          </a:p>
        </p:txBody>
      </p:sp>
      <p:sp>
        <p:nvSpPr>
          <p:cNvPr id="15" name="Rounded Rectangle 14"/>
          <p:cNvSpPr/>
          <p:nvPr/>
        </p:nvSpPr>
        <p:spPr>
          <a:xfrm>
            <a:off x="4242816" y="1353312"/>
            <a:ext cx="3703320" cy="2084831"/>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7407" y="1481328"/>
            <a:ext cx="3374136" cy="310896"/>
          </a:xfrm>
          <a:prstGeom prst="rect">
            <a:avLst/>
          </a:prstGeom>
          <a:noFill/>
        </p:spPr>
        <p:txBody>
          <a:bodyPr wrap="square" anchor="t"/>
          <a:lstStyle/>
          <a:p>
            <a:pPr algn="l"/>
            <a:r>
              <a:rPr sz="1500" b="1" i="0">
                <a:solidFill>
                  <a:srgbClr val="166534"/>
                </a:solidFill>
                <a:latin typeface="Calibri"/>
              </a:rPr>
              <a:t>Tue–Thu  ·  Execute</a:t>
            </a:r>
          </a:p>
        </p:txBody>
      </p:sp>
      <p:sp>
        <p:nvSpPr>
          <p:cNvPr id="17" name="TextBox 16"/>
          <p:cNvSpPr txBox="1"/>
          <p:nvPr/>
        </p:nvSpPr>
        <p:spPr>
          <a:xfrm>
            <a:off x="4407407" y="1792224"/>
            <a:ext cx="3374136" cy="1554479"/>
          </a:xfrm>
          <a:prstGeom prst="rect">
            <a:avLst/>
          </a:prstGeom>
          <a:noFill/>
        </p:spPr>
        <p:txBody>
          <a:bodyPr wrap="square" anchor="t"/>
          <a:lstStyle/>
          <a:p>
            <a:pPr algn="l"/>
            <a:r>
              <a:rPr sz="1300" b="0" i="0">
                <a:solidFill>
                  <a:srgbClr val="475569"/>
                </a:solidFill>
                <a:latin typeface="Calibri"/>
              </a:rPr>
              <a:t>Create, research, test, and save proof in the portal — not only in Canva.</a:t>
            </a:r>
          </a:p>
        </p:txBody>
      </p:sp>
      <p:sp>
        <p:nvSpPr>
          <p:cNvPr id="18" name="Rounded Rectangle 17"/>
          <p:cNvSpPr/>
          <p:nvPr/>
        </p:nvSpPr>
        <p:spPr>
          <a:xfrm>
            <a:off x="8101583" y="1353312"/>
            <a:ext cx="3703320" cy="2084831"/>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5" y="1481328"/>
            <a:ext cx="3374136" cy="310896"/>
          </a:xfrm>
          <a:prstGeom prst="rect">
            <a:avLst/>
          </a:prstGeom>
          <a:noFill/>
        </p:spPr>
        <p:txBody>
          <a:bodyPr wrap="square" anchor="t"/>
          <a:lstStyle/>
          <a:p>
            <a:pPr algn="l"/>
            <a:r>
              <a:rPr sz="1500" b="1" i="0">
                <a:solidFill>
                  <a:srgbClr val="166534"/>
                </a:solidFill>
                <a:latin typeface="Calibri"/>
              </a:rPr>
              <a:t>Thu  ·  Measure</a:t>
            </a:r>
          </a:p>
        </p:txBody>
      </p:sp>
      <p:sp>
        <p:nvSpPr>
          <p:cNvPr id="20" name="TextBox 19"/>
          <p:cNvSpPr txBox="1"/>
          <p:nvPr/>
        </p:nvSpPr>
        <p:spPr>
          <a:xfrm>
            <a:off x="8266175" y="1792224"/>
            <a:ext cx="3374136" cy="1554479"/>
          </a:xfrm>
          <a:prstGeom prst="rect">
            <a:avLst/>
          </a:prstGeom>
          <a:noFill/>
        </p:spPr>
        <p:txBody>
          <a:bodyPr wrap="square" anchor="t"/>
          <a:lstStyle/>
          <a:p>
            <a:pPr algn="l"/>
            <a:r>
              <a:rPr sz="1300" b="0" i="0">
                <a:solidFill>
                  <a:srgbClr val="475569"/>
                </a:solidFill>
                <a:latin typeface="Calibri"/>
              </a:rPr>
              <a:t>Update tracking, results, and experiment notes. Intern-reported numbers wait for SitGuru.</a:t>
            </a:r>
          </a:p>
        </p:txBody>
      </p:sp>
      <p:sp>
        <p:nvSpPr>
          <p:cNvPr id="21" name="Rounded Rectangle 20"/>
          <p:cNvSpPr/>
          <p:nvPr/>
        </p:nvSpPr>
        <p:spPr>
          <a:xfrm>
            <a:off x="384048" y="3593592"/>
            <a:ext cx="3703320" cy="2084831"/>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721608"/>
            <a:ext cx="3374136" cy="310896"/>
          </a:xfrm>
          <a:prstGeom prst="rect">
            <a:avLst/>
          </a:prstGeom>
          <a:noFill/>
        </p:spPr>
        <p:txBody>
          <a:bodyPr wrap="square" anchor="t"/>
          <a:lstStyle/>
          <a:p>
            <a:pPr algn="l"/>
            <a:r>
              <a:rPr sz="1500" b="1" i="0">
                <a:solidFill>
                  <a:srgbClr val="166534"/>
                </a:solidFill>
                <a:latin typeface="Calibri"/>
              </a:rPr>
              <a:t>Fri  ·  Submit</a:t>
            </a:r>
          </a:p>
        </p:txBody>
      </p:sp>
      <p:sp>
        <p:nvSpPr>
          <p:cNvPr id="23" name="TextBox 22"/>
          <p:cNvSpPr txBox="1"/>
          <p:nvPr/>
        </p:nvSpPr>
        <p:spPr>
          <a:xfrm>
            <a:off x="548640" y="4032504"/>
            <a:ext cx="3374136" cy="1554479"/>
          </a:xfrm>
          <a:prstGeom prst="rect">
            <a:avLst/>
          </a:prstGeom>
          <a:noFill/>
        </p:spPr>
        <p:txBody>
          <a:bodyPr wrap="square" anchor="t"/>
          <a:lstStyle/>
          <a:p>
            <a:pPr algn="l"/>
            <a:r>
              <a:rPr sz="1300" b="0" i="0">
                <a:solidFill>
                  <a:srgbClr val="475569"/>
                </a:solidFill>
                <a:latin typeface="Calibri"/>
              </a:rPr>
              <a:t>Send the weekly check-in: what you added, tested, or learned — plus hours.</a:t>
            </a:r>
          </a:p>
        </p:txBody>
      </p:sp>
      <p:sp>
        <p:nvSpPr>
          <p:cNvPr id="24" name="Rounded Rectangle 23"/>
          <p:cNvSpPr/>
          <p:nvPr/>
        </p:nvSpPr>
        <p:spPr>
          <a:xfrm>
            <a:off x="4242816" y="3593592"/>
            <a:ext cx="3703320" cy="2084831"/>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407" y="3721608"/>
            <a:ext cx="3374136" cy="310896"/>
          </a:xfrm>
          <a:prstGeom prst="rect">
            <a:avLst/>
          </a:prstGeom>
          <a:noFill/>
        </p:spPr>
        <p:txBody>
          <a:bodyPr wrap="square" anchor="t"/>
          <a:lstStyle/>
          <a:p>
            <a:pPr algn="l"/>
            <a:r>
              <a:rPr sz="1500" b="1" i="0">
                <a:solidFill>
                  <a:srgbClr val="166534"/>
                </a:solidFill>
                <a:latin typeface="Calibri"/>
              </a:rPr>
              <a:t>Review  ·  Approve</a:t>
            </a:r>
          </a:p>
        </p:txBody>
      </p:sp>
      <p:sp>
        <p:nvSpPr>
          <p:cNvPr id="26" name="TextBox 25"/>
          <p:cNvSpPr txBox="1"/>
          <p:nvPr/>
        </p:nvSpPr>
        <p:spPr>
          <a:xfrm>
            <a:off x="4407407" y="4032504"/>
            <a:ext cx="3374136" cy="1554479"/>
          </a:xfrm>
          <a:prstGeom prst="rect">
            <a:avLst/>
          </a:prstGeom>
          <a:noFill/>
        </p:spPr>
        <p:txBody>
          <a:bodyPr wrap="square" anchor="t"/>
          <a:lstStyle/>
          <a:p>
            <a:pPr algn="l"/>
            <a:r>
              <a:rPr sz="1300" b="0" i="0">
                <a:solidFill>
                  <a:srgbClr val="475569"/>
                </a:solidFill>
                <a:latin typeface="Calibri"/>
              </a:rPr>
              <a:t>SitGuru reviews work, hours, and KPI claims separately.</a:t>
            </a:r>
          </a:p>
        </p:txBody>
      </p:sp>
      <p:sp>
        <p:nvSpPr>
          <p:cNvPr id="27" name="Rounded Rectangle 26"/>
          <p:cNvSpPr/>
          <p:nvPr/>
        </p:nvSpPr>
        <p:spPr>
          <a:xfrm>
            <a:off x="8101583" y="3593592"/>
            <a:ext cx="3703320" cy="2084831"/>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6175" y="3721608"/>
            <a:ext cx="3374136" cy="310896"/>
          </a:xfrm>
          <a:prstGeom prst="rect">
            <a:avLst/>
          </a:prstGeom>
          <a:noFill/>
        </p:spPr>
        <p:txBody>
          <a:bodyPr wrap="square" anchor="t"/>
          <a:lstStyle/>
          <a:p>
            <a:pPr algn="l"/>
            <a:r>
              <a:rPr sz="1500" b="1" i="0">
                <a:solidFill>
                  <a:srgbClr val="166534"/>
                </a:solidFill>
                <a:latin typeface="Calibri"/>
              </a:rPr>
              <a:t>Next  ·  Improve</a:t>
            </a:r>
          </a:p>
        </p:txBody>
      </p:sp>
      <p:sp>
        <p:nvSpPr>
          <p:cNvPr id="29" name="TextBox 28"/>
          <p:cNvSpPr txBox="1"/>
          <p:nvPr/>
        </p:nvSpPr>
        <p:spPr>
          <a:xfrm>
            <a:off x="8266175" y="4032504"/>
            <a:ext cx="3374136" cy="1554479"/>
          </a:xfrm>
          <a:prstGeom prst="rect">
            <a:avLst/>
          </a:prstGeom>
          <a:noFill/>
        </p:spPr>
        <p:txBody>
          <a:bodyPr wrap="square" anchor="t"/>
          <a:lstStyle/>
          <a:p>
            <a:pPr algn="l"/>
            <a:r>
              <a:rPr sz="1300" b="0" i="0">
                <a:solidFill>
                  <a:srgbClr val="475569"/>
                </a:solidFill>
                <a:latin typeface="Calibri"/>
              </a:rPr>
              <a:t>Use feedback. Do not wait until week 15 to write the story.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Log hours so SitGuru can approve time</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Hours prove time spent — not that a deliverable or KPI is correct</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15</a:t>
            </a:r>
          </a:p>
        </p:txBody>
      </p:sp>
      <p:sp>
        <p:nvSpPr>
          <p:cNvPr id="12" name="Rectangle 11"/>
          <p:cNvSpPr/>
          <p:nvPr/>
        </p:nvSpPr>
        <p:spPr>
          <a:xfrm>
            <a:off x="384048" y="1353312"/>
            <a:ext cx="11430000" cy="38404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1389888"/>
            <a:ext cx="1280160" cy="310896"/>
          </a:xfrm>
          <a:prstGeom prst="rect">
            <a:avLst/>
          </a:prstGeom>
          <a:noFill/>
        </p:spPr>
        <p:txBody>
          <a:bodyPr wrap="square" anchor="t"/>
          <a:lstStyle/>
          <a:p>
            <a:pPr algn="l"/>
            <a:r>
              <a:rPr sz="1300" b="1" i="0">
                <a:solidFill>
                  <a:srgbClr val="FFFFFF"/>
                </a:solidFill>
                <a:latin typeface="Calibri"/>
              </a:rPr>
              <a:t>Date</a:t>
            </a:r>
          </a:p>
        </p:txBody>
      </p:sp>
      <p:sp>
        <p:nvSpPr>
          <p:cNvPr id="14" name="TextBox 13"/>
          <p:cNvSpPr txBox="1"/>
          <p:nvPr/>
        </p:nvSpPr>
        <p:spPr>
          <a:xfrm>
            <a:off x="1664207" y="1389888"/>
            <a:ext cx="1097280" cy="310896"/>
          </a:xfrm>
          <a:prstGeom prst="rect">
            <a:avLst/>
          </a:prstGeom>
          <a:noFill/>
        </p:spPr>
        <p:txBody>
          <a:bodyPr wrap="square" anchor="t"/>
          <a:lstStyle/>
          <a:p>
            <a:pPr algn="l"/>
            <a:r>
              <a:rPr sz="1300" b="1" i="0">
                <a:solidFill>
                  <a:srgbClr val="FFFFFF"/>
                </a:solidFill>
                <a:latin typeface="Calibri"/>
              </a:rPr>
              <a:t>Hours</a:t>
            </a:r>
          </a:p>
        </p:txBody>
      </p:sp>
      <p:sp>
        <p:nvSpPr>
          <p:cNvPr id="15" name="TextBox 14"/>
          <p:cNvSpPr txBox="1"/>
          <p:nvPr/>
        </p:nvSpPr>
        <p:spPr>
          <a:xfrm>
            <a:off x="2761487" y="1389888"/>
            <a:ext cx="1828800" cy="310896"/>
          </a:xfrm>
          <a:prstGeom prst="rect">
            <a:avLst/>
          </a:prstGeom>
          <a:noFill/>
        </p:spPr>
        <p:txBody>
          <a:bodyPr wrap="square" anchor="t"/>
          <a:lstStyle/>
          <a:p>
            <a:pPr algn="l"/>
            <a:r>
              <a:rPr sz="1300" b="1" i="0">
                <a:solidFill>
                  <a:srgbClr val="FFFFFF"/>
                </a:solidFill>
                <a:latin typeface="Calibri"/>
              </a:rPr>
              <a:t>Category</a:t>
            </a:r>
          </a:p>
        </p:txBody>
      </p:sp>
      <p:sp>
        <p:nvSpPr>
          <p:cNvPr id="16" name="TextBox 15"/>
          <p:cNvSpPr txBox="1"/>
          <p:nvPr/>
        </p:nvSpPr>
        <p:spPr>
          <a:xfrm>
            <a:off x="4590288" y="1389888"/>
            <a:ext cx="4023360" cy="310896"/>
          </a:xfrm>
          <a:prstGeom prst="rect">
            <a:avLst/>
          </a:prstGeom>
          <a:noFill/>
        </p:spPr>
        <p:txBody>
          <a:bodyPr wrap="square" anchor="t"/>
          <a:lstStyle/>
          <a:p>
            <a:pPr algn="l"/>
            <a:r>
              <a:rPr sz="1300" b="1" i="0">
                <a:solidFill>
                  <a:srgbClr val="FFFFFF"/>
                </a:solidFill>
                <a:latin typeface="Calibri"/>
              </a:rPr>
              <a:t>Work</a:t>
            </a:r>
          </a:p>
        </p:txBody>
      </p:sp>
      <p:sp>
        <p:nvSpPr>
          <p:cNvPr id="17" name="TextBox 16"/>
          <p:cNvSpPr txBox="1"/>
          <p:nvPr/>
        </p:nvSpPr>
        <p:spPr>
          <a:xfrm>
            <a:off x="8613648" y="1389888"/>
            <a:ext cx="2926080" cy="310896"/>
          </a:xfrm>
          <a:prstGeom prst="rect">
            <a:avLst/>
          </a:prstGeom>
          <a:noFill/>
        </p:spPr>
        <p:txBody>
          <a:bodyPr wrap="square" anchor="t"/>
          <a:lstStyle/>
          <a:p>
            <a:pPr algn="l"/>
            <a:r>
              <a:rPr sz="1300" b="1" i="0">
                <a:solidFill>
                  <a:srgbClr val="FFFFFF"/>
                </a:solidFill>
                <a:latin typeface="Calibri"/>
              </a:rPr>
              <a:t>Evidence</a:t>
            </a:r>
          </a:p>
        </p:txBody>
      </p:sp>
      <p:sp>
        <p:nvSpPr>
          <p:cNvPr id="18" name="Rectangle 17"/>
          <p:cNvSpPr/>
          <p:nvPr/>
        </p:nvSpPr>
        <p:spPr>
          <a:xfrm>
            <a:off x="384048" y="1737360"/>
            <a:ext cx="1143000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 y="1792224"/>
            <a:ext cx="1207007" cy="310896"/>
          </a:xfrm>
          <a:prstGeom prst="rect">
            <a:avLst/>
          </a:prstGeom>
          <a:noFill/>
        </p:spPr>
        <p:txBody>
          <a:bodyPr wrap="square" anchor="t"/>
          <a:lstStyle/>
          <a:p>
            <a:pPr algn="l"/>
            <a:r>
              <a:rPr sz="1300" b="0" i="0">
                <a:solidFill>
                  <a:srgbClr val="0F172A"/>
                </a:solidFill>
                <a:latin typeface="Calibri"/>
              </a:rPr>
              <a:t>Mon</a:t>
            </a:r>
          </a:p>
        </p:txBody>
      </p:sp>
      <p:sp>
        <p:nvSpPr>
          <p:cNvPr id="20" name="TextBox 19"/>
          <p:cNvSpPr txBox="1"/>
          <p:nvPr/>
        </p:nvSpPr>
        <p:spPr>
          <a:xfrm>
            <a:off x="1719072" y="1792224"/>
            <a:ext cx="1024127" cy="310896"/>
          </a:xfrm>
          <a:prstGeom prst="rect">
            <a:avLst/>
          </a:prstGeom>
          <a:noFill/>
        </p:spPr>
        <p:txBody>
          <a:bodyPr wrap="square" anchor="t"/>
          <a:lstStyle/>
          <a:p>
            <a:pPr algn="l"/>
            <a:r>
              <a:rPr sz="1300" b="1" i="0">
                <a:solidFill>
                  <a:srgbClr val="0F172A"/>
                </a:solidFill>
                <a:latin typeface="Calibri"/>
              </a:rPr>
              <a:t>2.0</a:t>
            </a:r>
          </a:p>
        </p:txBody>
      </p:sp>
      <p:sp>
        <p:nvSpPr>
          <p:cNvPr id="21" name="TextBox 20"/>
          <p:cNvSpPr txBox="1"/>
          <p:nvPr/>
        </p:nvSpPr>
        <p:spPr>
          <a:xfrm>
            <a:off x="2816351" y="1792224"/>
            <a:ext cx="1755648" cy="310896"/>
          </a:xfrm>
          <a:prstGeom prst="rect">
            <a:avLst/>
          </a:prstGeom>
          <a:noFill/>
        </p:spPr>
        <p:txBody>
          <a:bodyPr wrap="square" anchor="t"/>
          <a:lstStyle/>
          <a:p>
            <a:pPr algn="l"/>
            <a:r>
              <a:rPr sz="1300" b="0" i="0">
                <a:solidFill>
                  <a:srgbClr val="0F172A"/>
                </a:solidFill>
                <a:latin typeface="Calibri"/>
              </a:rPr>
              <a:t>Research</a:t>
            </a:r>
          </a:p>
        </p:txBody>
      </p:sp>
      <p:sp>
        <p:nvSpPr>
          <p:cNvPr id="22" name="TextBox 21"/>
          <p:cNvSpPr txBox="1"/>
          <p:nvPr/>
        </p:nvSpPr>
        <p:spPr>
          <a:xfrm>
            <a:off x="4645151" y="1792224"/>
            <a:ext cx="3950208" cy="310896"/>
          </a:xfrm>
          <a:prstGeom prst="rect">
            <a:avLst/>
          </a:prstGeom>
          <a:noFill/>
        </p:spPr>
        <p:txBody>
          <a:bodyPr wrap="square" anchor="t"/>
          <a:lstStyle/>
          <a:p>
            <a:pPr algn="l"/>
            <a:r>
              <a:rPr sz="1300" b="0" i="0">
                <a:solidFill>
                  <a:srgbClr val="0F172A"/>
                </a:solidFill>
                <a:latin typeface="Calibri"/>
              </a:rPr>
              <a:t>Audience + public market notes</a:t>
            </a:r>
          </a:p>
        </p:txBody>
      </p:sp>
      <p:sp>
        <p:nvSpPr>
          <p:cNvPr id="23" name="TextBox 22"/>
          <p:cNvSpPr txBox="1"/>
          <p:nvPr/>
        </p:nvSpPr>
        <p:spPr>
          <a:xfrm>
            <a:off x="8668512" y="1792224"/>
            <a:ext cx="2852928" cy="310896"/>
          </a:xfrm>
          <a:prstGeom prst="rect">
            <a:avLst/>
          </a:prstGeom>
          <a:noFill/>
        </p:spPr>
        <p:txBody>
          <a:bodyPr wrap="square" anchor="t"/>
          <a:lstStyle/>
          <a:p>
            <a:pPr algn="l"/>
            <a:r>
              <a:rPr sz="1300" b="0" i="0">
                <a:solidFill>
                  <a:srgbClr val="0F172A"/>
                </a:solidFill>
                <a:latin typeface="Calibri"/>
              </a:rPr>
              <a:t>Research doc</a:t>
            </a:r>
          </a:p>
        </p:txBody>
      </p:sp>
      <p:sp>
        <p:nvSpPr>
          <p:cNvPr id="24" name="Rectangle 23"/>
          <p:cNvSpPr/>
          <p:nvPr/>
        </p:nvSpPr>
        <p:spPr>
          <a:xfrm>
            <a:off x="384048" y="2157984"/>
            <a:ext cx="11430000" cy="420624"/>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2212848"/>
            <a:ext cx="1207007" cy="310896"/>
          </a:xfrm>
          <a:prstGeom prst="rect">
            <a:avLst/>
          </a:prstGeom>
          <a:noFill/>
        </p:spPr>
        <p:txBody>
          <a:bodyPr wrap="square" anchor="t"/>
          <a:lstStyle/>
          <a:p>
            <a:pPr algn="l"/>
            <a:r>
              <a:rPr sz="1300" b="0" i="0">
                <a:solidFill>
                  <a:srgbClr val="0F172A"/>
                </a:solidFill>
                <a:latin typeface="Calibri"/>
              </a:rPr>
              <a:t>Tue</a:t>
            </a:r>
          </a:p>
        </p:txBody>
      </p:sp>
      <p:sp>
        <p:nvSpPr>
          <p:cNvPr id="26" name="TextBox 25"/>
          <p:cNvSpPr txBox="1"/>
          <p:nvPr/>
        </p:nvSpPr>
        <p:spPr>
          <a:xfrm>
            <a:off x="1719072" y="2212848"/>
            <a:ext cx="1024127" cy="310896"/>
          </a:xfrm>
          <a:prstGeom prst="rect">
            <a:avLst/>
          </a:prstGeom>
          <a:noFill/>
        </p:spPr>
        <p:txBody>
          <a:bodyPr wrap="square" anchor="t"/>
          <a:lstStyle/>
          <a:p>
            <a:pPr algn="l"/>
            <a:r>
              <a:rPr sz="1300" b="1" i="0">
                <a:solidFill>
                  <a:srgbClr val="0F172A"/>
                </a:solidFill>
                <a:latin typeface="Calibri"/>
              </a:rPr>
              <a:t>2.5</a:t>
            </a:r>
          </a:p>
        </p:txBody>
      </p:sp>
      <p:sp>
        <p:nvSpPr>
          <p:cNvPr id="27" name="TextBox 26"/>
          <p:cNvSpPr txBox="1"/>
          <p:nvPr/>
        </p:nvSpPr>
        <p:spPr>
          <a:xfrm>
            <a:off x="2816351" y="2212848"/>
            <a:ext cx="1755648" cy="310896"/>
          </a:xfrm>
          <a:prstGeom prst="rect">
            <a:avLst/>
          </a:prstGeom>
          <a:noFill/>
        </p:spPr>
        <p:txBody>
          <a:bodyPr wrap="square" anchor="t"/>
          <a:lstStyle/>
          <a:p>
            <a:pPr algn="l"/>
            <a:r>
              <a:rPr sz="1300" b="0" i="0">
                <a:solidFill>
                  <a:srgbClr val="0F172A"/>
                </a:solidFill>
                <a:latin typeface="Calibri"/>
              </a:rPr>
              <a:t>Content</a:t>
            </a:r>
          </a:p>
        </p:txBody>
      </p:sp>
      <p:sp>
        <p:nvSpPr>
          <p:cNvPr id="28" name="TextBox 27"/>
          <p:cNvSpPr txBox="1"/>
          <p:nvPr/>
        </p:nvSpPr>
        <p:spPr>
          <a:xfrm>
            <a:off x="4645151" y="2212848"/>
            <a:ext cx="3950208" cy="310896"/>
          </a:xfrm>
          <a:prstGeom prst="rect">
            <a:avLst/>
          </a:prstGeom>
          <a:noFill/>
        </p:spPr>
        <p:txBody>
          <a:bodyPr wrap="square" anchor="t"/>
          <a:lstStyle/>
          <a:p>
            <a:pPr algn="l"/>
            <a:r>
              <a:rPr sz="1300" b="0" i="0">
                <a:solidFill>
                  <a:srgbClr val="0F172A"/>
                </a:solidFill>
                <a:latin typeface="Calibri"/>
              </a:rPr>
              <a:t>Pet Parent message drafts</a:t>
            </a:r>
          </a:p>
        </p:txBody>
      </p:sp>
      <p:sp>
        <p:nvSpPr>
          <p:cNvPr id="29" name="TextBox 28"/>
          <p:cNvSpPr txBox="1"/>
          <p:nvPr/>
        </p:nvSpPr>
        <p:spPr>
          <a:xfrm>
            <a:off x="8668512" y="2212848"/>
            <a:ext cx="2852928" cy="310896"/>
          </a:xfrm>
          <a:prstGeom prst="rect">
            <a:avLst/>
          </a:prstGeom>
          <a:noFill/>
        </p:spPr>
        <p:txBody>
          <a:bodyPr wrap="square" anchor="t"/>
          <a:lstStyle/>
          <a:p>
            <a:pPr algn="l"/>
            <a:r>
              <a:rPr sz="1300" b="0" i="0">
                <a:solidFill>
                  <a:srgbClr val="0F172A"/>
                </a:solidFill>
                <a:latin typeface="Calibri"/>
              </a:rPr>
              <a:t>Brand kit upload</a:t>
            </a:r>
          </a:p>
        </p:txBody>
      </p:sp>
      <p:sp>
        <p:nvSpPr>
          <p:cNvPr id="30" name="Rectangle 29"/>
          <p:cNvSpPr/>
          <p:nvPr/>
        </p:nvSpPr>
        <p:spPr>
          <a:xfrm>
            <a:off x="384048" y="2578608"/>
            <a:ext cx="1143000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 y="2633472"/>
            <a:ext cx="1207007" cy="310896"/>
          </a:xfrm>
          <a:prstGeom prst="rect">
            <a:avLst/>
          </a:prstGeom>
          <a:noFill/>
        </p:spPr>
        <p:txBody>
          <a:bodyPr wrap="square" anchor="t"/>
          <a:lstStyle/>
          <a:p>
            <a:pPr algn="l"/>
            <a:r>
              <a:rPr sz="1300" b="0" i="0">
                <a:solidFill>
                  <a:srgbClr val="0F172A"/>
                </a:solidFill>
                <a:latin typeface="Calibri"/>
              </a:rPr>
              <a:t>Wed</a:t>
            </a:r>
          </a:p>
        </p:txBody>
      </p:sp>
      <p:sp>
        <p:nvSpPr>
          <p:cNvPr id="32" name="TextBox 31"/>
          <p:cNvSpPr txBox="1"/>
          <p:nvPr/>
        </p:nvSpPr>
        <p:spPr>
          <a:xfrm>
            <a:off x="1719072" y="2633472"/>
            <a:ext cx="1024127" cy="310896"/>
          </a:xfrm>
          <a:prstGeom prst="rect">
            <a:avLst/>
          </a:prstGeom>
          <a:noFill/>
        </p:spPr>
        <p:txBody>
          <a:bodyPr wrap="square" anchor="t"/>
          <a:lstStyle/>
          <a:p>
            <a:pPr algn="l"/>
            <a:r>
              <a:rPr sz="1300" b="1" i="0">
                <a:solidFill>
                  <a:srgbClr val="0F172A"/>
                </a:solidFill>
                <a:latin typeface="Calibri"/>
              </a:rPr>
              <a:t>1.5</a:t>
            </a:r>
          </a:p>
        </p:txBody>
      </p:sp>
      <p:sp>
        <p:nvSpPr>
          <p:cNvPr id="33" name="TextBox 32"/>
          <p:cNvSpPr txBox="1"/>
          <p:nvPr/>
        </p:nvSpPr>
        <p:spPr>
          <a:xfrm>
            <a:off x="2816351" y="2633472"/>
            <a:ext cx="1755648" cy="310896"/>
          </a:xfrm>
          <a:prstGeom prst="rect">
            <a:avLst/>
          </a:prstGeom>
          <a:noFill/>
        </p:spPr>
        <p:txBody>
          <a:bodyPr wrap="square" anchor="t"/>
          <a:lstStyle/>
          <a:p>
            <a:pPr algn="l"/>
            <a:r>
              <a:rPr sz="1300" b="0" i="0">
                <a:solidFill>
                  <a:srgbClr val="0F172A"/>
                </a:solidFill>
                <a:latin typeface="Calibri"/>
              </a:rPr>
              <a:t>Campaign</a:t>
            </a:r>
          </a:p>
        </p:txBody>
      </p:sp>
      <p:sp>
        <p:nvSpPr>
          <p:cNvPr id="34" name="TextBox 33"/>
          <p:cNvSpPr txBox="1"/>
          <p:nvPr/>
        </p:nvSpPr>
        <p:spPr>
          <a:xfrm>
            <a:off x="4645151" y="2633472"/>
            <a:ext cx="3950208" cy="310896"/>
          </a:xfrm>
          <a:prstGeom prst="rect">
            <a:avLst/>
          </a:prstGeom>
          <a:noFill/>
        </p:spPr>
        <p:txBody>
          <a:bodyPr wrap="square" anchor="t"/>
          <a:lstStyle/>
          <a:p>
            <a:pPr algn="l"/>
            <a:r>
              <a:rPr sz="1300" b="0" i="0">
                <a:solidFill>
                  <a:srgbClr val="0F172A"/>
                </a:solidFill>
                <a:latin typeface="Calibri"/>
              </a:rPr>
              <a:t>Create a tracking campaign</a:t>
            </a:r>
          </a:p>
        </p:txBody>
      </p:sp>
      <p:sp>
        <p:nvSpPr>
          <p:cNvPr id="35" name="TextBox 34"/>
          <p:cNvSpPr txBox="1"/>
          <p:nvPr/>
        </p:nvSpPr>
        <p:spPr>
          <a:xfrm>
            <a:off x="8668512" y="2633472"/>
            <a:ext cx="2852928" cy="310896"/>
          </a:xfrm>
          <a:prstGeom prst="rect">
            <a:avLst/>
          </a:prstGeom>
          <a:noFill/>
        </p:spPr>
        <p:txBody>
          <a:bodyPr wrap="square" anchor="t"/>
          <a:lstStyle/>
          <a:p>
            <a:pPr algn="l"/>
            <a:r>
              <a:rPr sz="1300" b="0" i="0">
                <a:solidFill>
                  <a:srgbClr val="0F172A"/>
                </a:solidFill>
                <a:latin typeface="Calibri"/>
              </a:rPr>
              <a:t>Campaign name</a:t>
            </a:r>
          </a:p>
        </p:txBody>
      </p:sp>
      <p:sp>
        <p:nvSpPr>
          <p:cNvPr id="36" name="Rectangle 35"/>
          <p:cNvSpPr/>
          <p:nvPr/>
        </p:nvSpPr>
        <p:spPr>
          <a:xfrm>
            <a:off x="384048" y="2999232"/>
            <a:ext cx="11430000" cy="420624"/>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3054096"/>
            <a:ext cx="1207007" cy="310896"/>
          </a:xfrm>
          <a:prstGeom prst="rect">
            <a:avLst/>
          </a:prstGeom>
          <a:noFill/>
        </p:spPr>
        <p:txBody>
          <a:bodyPr wrap="square" anchor="t"/>
          <a:lstStyle/>
          <a:p>
            <a:pPr algn="l"/>
            <a:r>
              <a:rPr sz="1300" b="0" i="0">
                <a:solidFill>
                  <a:srgbClr val="0F172A"/>
                </a:solidFill>
                <a:latin typeface="Calibri"/>
              </a:rPr>
              <a:t>Thu</a:t>
            </a:r>
          </a:p>
        </p:txBody>
      </p:sp>
      <p:sp>
        <p:nvSpPr>
          <p:cNvPr id="38" name="TextBox 37"/>
          <p:cNvSpPr txBox="1"/>
          <p:nvPr/>
        </p:nvSpPr>
        <p:spPr>
          <a:xfrm>
            <a:off x="1719072" y="3054096"/>
            <a:ext cx="1024127" cy="310896"/>
          </a:xfrm>
          <a:prstGeom prst="rect">
            <a:avLst/>
          </a:prstGeom>
          <a:noFill/>
        </p:spPr>
        <p:txBody>
          <a:bodyPr wrap="square" anchor="t"/>
          <a:lstStyle/>
          <a:p>
            <a:pPr algn="l"/>
            <a:r>
              <a:rPr sz="1300" b="1" i="0">
                <a:solidFill>
                  <a:srgbClr val="0F172A"/>
                </a:solidFill>
                <a:latin typeface="Calibri"/>
              </a:rPr>
              <a:t>2.0</a:t>
            </a:r>
          </a:p>
        </p:txBody>
      </p:sp>
      <p:sp>
        <p:nvSpPr>
          <p:cNvPr id="39" name="TextBox 38"/>
          <p:cNvSpPr txBox="1"/>
          <p:nvPr/>
        </p:nvSpPr>
        <p:spPr>
          <a:xfrm>
            <a:off x="2816351" y="3054096"/>
            <a:ext cx="1755648" cy="310896"/>
          </a:xfrm>
          <a:prstGeom prst="rect">
            <a:avLst/>
          </a:prstGeom>
          <a:noFill/>
        </p:spPr>
        <p:txBody>
          <a:bodyPr wrap="square" anchor="t"/>
          <a:lstStyle/>
          <a:p>
            <a:pPr algn="l"/>
            <a:r>
              <a:rPr sz="1300" b="0" i="0">
                <a:solidFill>
                  <a:srgbClr val="0F172A"/>
                </a:solidFill>
                <a:latin typeface="Calibri"/>
              </a:rPr>
              <a:t>Analytics</a:t>
            </a:r>
          </a:p>
        </p:txBody>
      </p:sp>
      <p:sp>
        <p:nvSpPr>
          <p:cNvPr id="40" name="TextBox 39"/>
          <p:cNvSpPr txBox="1"/>
          <p:nvPr/>
        </p:nvSpPr>
        <p:spPr>
          <a:xfrm>
            <a:off x="4645151" y="3054096"/>
            <a:ext cx="3950208" cy="310896"/>
          </a:xfrm>
          <a:prstGeom prst="rect">
            <a:avLst/>
          </a:prstGeom>
          <a:noFill/>
        </p:spPr>
        <p:txBody>
          <a:bodyPr wrap="square" anchor="t"/>
          <a:lstStyle/>
          <a:p>
            <a:pPr algn="l"/>
            <a:r>
              <a:rPr sz="1300" b="0" i="0">
                <a:solidFill>
                  <a:srgbClr val="0F172A"/>
                </a:solidFill>
                <a:latin typeface="Calibri"/>
              </a:rPr>
              <a:t>Review tracked sessions</a:t>
            </a:r>
          </a:p>
        </p:txBody>
      </p:sp>
      <p:sp>
        <p:nvSpPr>
          <p:cNvPr id="41" name="TextBox 40"/>
          <p:cNvSpPr txBox="1"/>
          <p:nvPr/>
        </p:nvSpPr>
        <p:spPr>
          <a:xfrm>
            <a:off x="8668512" y="3054096"/>
            <a:ext cx="2852928" cy="310896"/>
          </a:xfrm>
          <a:prstGeom prst="rect">
            <a:avLst/>
          </a:prstGeom>
          <a:noFill/>
        </p:spPr>
        <p:txBody>
          <a:bodyPr wrap="square" anchor="t"/>
          <a:lstStyle/>
          <a:p>
            <a:pPr algn="l"/>
            <a:r>
              <a:rPr sz="1300" b="0" i="0">
                <a:solidFill>
                  <a:srgbClr val="0F172A"/>
                </a:solidFill>
                <a:latin typeface="Calibri"/>
              </a:rPr>
              <a:t>Approved source</a:t>
            </a:r>
          </a:p>
        </p:txBody>
      </p:sp>
      <p:sp>
        <p:nvSpPr>
          <p:cNvPr id="42" name="Rectangle 41"/>
          <p:cNvSpPr/>
          <p:nvPr/>
        </p:nvSpPr>
        <p:spPr>
          <a:xfrm>
            <a:off x="384048" y="3419856"/>
            <a:ext cx="1143000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8912" y="3474720"/>
            <a:ext cx="1207007" cy="310896"/>
          </a:xfrm>
          <a:prstGeom prst="rect">
            <a:avLst/>
          </a:prstGeom>
          <a:noFill/>
        </p:spPr>
        <p:txBody>
          <a:bodyPr wrap="square" anchor="t"/>
          <a:lstStyle/>
          <a:p>
            <a:pPr algn="l"/>
            <a:r>
              <a:rPr sz="1300" b="0" i="0">
                <a:solidFill>
                  <a:srgbClr val="0F172A"/>
                </a:solidFill>
                <a:latin typeface="Calibri"/>
              </a:rPr>
              <a:t>Fri</a:t>
            </a:r>
          </a:p>
        </p:txBody>
      </p:sp>
      <p:sp>
        <p:nvSpPr>
          <p:cNvPr id="44" name="TextBox 43"/>
          <p:cNvSpPr txBox="1"/>
          <p:nvPr/>
        </p:nvSpPr>
        <p:spPr>
          <a:xfrm>
            <a:off x="1719072" y="3474720"/>
            <a:ext cx="1024127" cy="310896"/>
          </a:xfrm>
          <a:prstGeom prst="rect">
            <a:avLst/>
          </a:prstGeom>
          <a:noFill/>
        </p:spPr>
        <p:txBody>
          <a:bodyPr wrap="square" anchor="t"/>
          <a:lstStyle/>
          <a:p>
            <a:pPr algn="l"/>
            <a:r>
              <a:rPr sz="1300" b="1" i="0">
                <a:solidFill>
                  <a:srgbClr val="0F172A"/>
                </a:solidFill>
                <a:latin typeface="Calibri"/>
              </a:rPr>
              <a:t>2.0</a:t>
            </a:r>
          </a:p>
        </p:txBody>
      </p:sp>
      <p:sp>
        <p:nvSpPr>
          <p:cNvPr id="45" name="TextBox 44"/>
          <p:cNvSpPr txBox="1"/>
          <p:nvPr/>
        </p:nvSpPr>
        <p:spPr>
          <a:xfrm>
            <a:off x="2816351" y="3474720"/>
            <a:ext cx="1755648" cy="310896"/>
          </a:xfrm>
          <a:prstGeom prst="rect">
            <a:avLst/>
          </a:prstGeom>
          <a:noFill/>
        </p:spPr>
        <p:txBody>
          <a:bodyPr wrap="square" anchor="t"/>
          <a:lstStyle/>
          <a:p>
            <a:pPr algn="l"/>
            <a:r>
              <a:rPr sz="1300" b="0" i="0">
                <a:solidFill>
                  <a:srgbClr val="0F172A"/>
                </a:solidFill>
                <a:latin typeface="Calibri"/>
              </a:rPr>
              <a:t>Check-in</a:t>
            </a:r>
          </a:p>
        </p:txBody>
      </p:sp>
      <p:sp>
        <p:nvSpPr>
          <p:cNvPr id="46" name="TextBox 45"/>
          <p:cNvSpPr txBox="1"/>
          <p:nvPr/>
        </p:nvSpPr>
        <p:spPr>
          <a:xfrm>
            <a:off x="4645151" y="3474720"/>
            <a:ext cx="3950208" cy="310896"/>
          </a:xfrm>
          <a:prstGeom prst="rect">
            <a:avLst/>
          </a:prstGeom>
          <a:noFill/>
        </p:spPr>
        <p:txBody>
          <a:bodyPr wrap="square" anchor="t"/>
          <a:lstStyle/>
          <a:p>
            <a:pPr algn="l"/>
            <a:r>
              <a:rPr sz="1300" b="0" i="0">
                <a:solidFill>
                  <a:srgbClr val="0F172A"/>
                </a:solidFill>
                <a:latin typeface="Calibri"/>
              </a:rPr>
              <a:t>Weekly story + hours</a:t>
            </a:r>
          </a:p>
        </p:txBody>
      </p:sp>
      <p:sp>
        <p:nvSpPr>
          <p:cNvPr id="47" name="TextBox 46"/>
          <p:cNvSpPr txBox="1"/>
          <p:nvPr/>
        </p:nvSpPr>
        <p:spPr>
          <a:xfrm>
            <a:off x="8668512" y="3474720"/>
            <a:ext cx="2852928" cy="310896"/>
          </a:xfrm>
          <a:prstGeom prst="rect">
            <a:avLst/>
          </a:prstGeom>
          <a:noFill/>
        </p:spPr>
        <p:txBody>
          <a:bodyPr wrap="square" anchor="t"/>
          <a:lstStyle/>
          <a:p>
            <a:pPr algn="l"/>
            <a:r>
              <a:rPr sz="1300" b="0" i="0">
                <a:solidFill>
                  <a:srgbClr val="0F172A"/>
                </a:solidFill>
                <a:latin typeface="Calibri"/>
              </a:rPr>
              <a:t>Sent in portal</a:t>
            </a:r>
          </a:p>
        </p:txBody>
      </p:sp>
      <p:sp>
        <p:nvSpPr>
          <p:cNvPr id="48" name="Rectangle 47"/>
          <p:cNvSpPr/>
          <p:nvPr/>
        </p:nvSpPr>
        <p:spPr>
          <a:xfrm>
            <a:off x="384048" y="3840480"/>
            <a:ext cx="11430000" cy="384048"/>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75488" y="3895344"/>
            <a:ext cx="11247120" cy="292608"/>
          </a:xfrm>
          <a:prstGeom prst="rect">
            <a:avLst/>
          </a:prstGeom>
          <a:noFill/>
        </p:spPr>
        <p:txBody>
          <a:bodyPr wrap="square" anchor="t"/>
          <a:lstStyle/>
          <a:p>
            <a:pPr algn="l"/>
            <a:r>
              <a:rPr sz="1300" b="1" i="0">
                <a:solidFill>
                  <a:srgbClr val="FFFFFF"/>
                </a:solidFill>
                <a:latin typeface="Calibri"/>
              </a:rPr>
              <a:t>Example week total  10.0 hours   ·   Use one honest weekly number. Do not invent hours to look busy.</a:t>
            </a:r>
          </a:p>
        </p:txBody>
      </p:sp>
      <p:sp>
        <p:nvSpPr>
          <p:cNvPr id="50" name="Rounded Rectangle 49"/>
          <p:cNvSpPr/>
          <p:nvPr/>
        </p:nvSpPr>
        <p:spPr>
          <a:xfrm>
            <a:off x="384048" y="4389120"/>
            <a:ext cx="3703320" cy="1874519"/>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4517136"/>
            <a:ext cx="3374136" cy="310896"/>
          </a:xfrm>
          <a:prstGeom prst="rect">
            <a:avLst/>
          </a:prstGeom>
          <a:noFill/>
        </p:spPr>
        <p:txBody>
          <a:bodyPr wrap="square" anchor="t"/>
          <a:lstStyle/>
          <a:p>
            <a:pPr algn="l"/>
            <a:r>
              <a:rPr sz="1500" b="1" i="0">
                <a:solidFill>
                  <a:srgbClr val="166534"/>
                </a:solidFill>
                <a:latin typeface="Calibri"/>
              </a:rPr>
              <a:t>Tie every entry to real work</a:t>
            </a:r>
          </a:p>
        </p:txBody>
      </p:sp>
      <p:sp>
        <p:nvSpPr>
          <p:cNvPr id="52" name="TextBox 51"/>
          <p:cNvSpPr txBox="1"/>
          <p:nvPr/>
        </p:nvSpPr>
        <p:spPr>
          <a:xfrm>
            <a:off x="548640" y="4828031"/>
            <a:ext cx="3374136" cy="1344167"/>
          </a:xfrm>
          <a:prstGeom prst="rect">
            <a:avLst/>
          </a:prstGeom>
          <a:noFill/>
        </p:spPr>
        <p:txBody>
          <a:bodyPr wrap="square" anchor="t"/>
          <a:lstStyle/>
          <a:p>
            <a:pPr algn="l"/>
            <a:r>
              <a:rPr sz="1300" b="0" i="0">
                <a:solidFill>
                  <a:srgbClr val="475569"/>
                </a:solidFill>
                <a:latin typeface="Calibri"/>
              </a:rPr>
              <a:t>What did you do? What did it support? Where is the proof?</a:t>
            </a:r>
          </a:p>
        </p:txBody>
      </p:sp>
      <p:sp>
        <p:nvSpPr>
          <p:cNvPr id="53" name="Rounded Rectangle 52"/>
          <p:cNvSpPr/>
          <p:nvPr/>
        </p:nvSpPr>
        <p:spPr>
          <a:xfrm>
            <a:off x="4242816" y="4389120"/>
            <a:ext cx="3703320" cy="1874519"/>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407407" y="4517136"/>
            <a:ext cx="3374136" cy="310896"/>
          </a:xfrm>
          <a:prstGeom prst="rect">
            <a:avLst/>
          </a:prstGeom>
          <a:noFill/>
        </p:spPr>
        <p:txBody>
          <a:bodyPr wrap="square" anchor="t"/>
          <a:lstStyle/>
          <a:p>
            <a:pPr algn="l"/>
            <a:r>
              <a:rPr sz="1500" b="1" i="0">
                <a:solidFill>
                  <a:srgbClr val="166534"/>
                </a:solidFill>
                <a:latin typeface="Calibri"/>
              </a:rPr>
              <a:t>Hours approval is separate</a:t>
            </a:r>
          </a:p>
        </p:txBody>
      </p:sp>
      <p:sp>
        <p:nvSpPr>
          <p:cNvPr id="55" name="TextBox 54"/>
          <p:cNvSpPr txBox="1"/>
          <p:nvPr/>
        </p:nvSpPr>
        <p:spPr>
          <a:xfrm>
            <a:off x="4407407" y="4828031"/>
            <a:ext cx="3374136" cy="1344167"/>
          </a:xfrm>
          <a:prstGeom prst="rect">
            <a:avLst/>
          </a:prstGeom>
          <a:noFill/>
        </p:spPr>
        <p:txBody>
          <a:bodyPr wrap="square" anchor="t"/>
          <a:lstStyle/>
          <a:p>
            <a:pPr algn="l"/>
            <a:r>
              <a:rPr sz="1300" b="0" i="0">
                <a:solidFill>
                  <a:srgbClr val="475569"/>
                </a:solidFill>
                <a:latin typeface="Calibri"/>
              </a:rPr>
              <a:t>SitGuru can approve hours and still send a brief back — or the reverse.</a:t>
            </a:r>
          </a:p>
        </p:txBody>
      </p:sp>
      <p:sp>
        <p:nvSpPr>
          <p:cNvPr id="56" name="Rounded Rectangle 55"/>
          <p:cNvSpPr/>
          <p:nvPr/>
        </p:nvSpPr>
        <p:spPr>
          <a:xfrm>
            <a:off x="8101583" y="4389120"/>
            <a:ext cx="3703320" cy="1874519"/>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66175" y="4517136"/>
            <a:ext cx="3374136" cy="310896"/>
          </a:xfrm>
          <a:prstGeom prst="rect">
            <a:avLst/>
          </a:prstGeom>
          <a:noFill/>
        </p:spPr>
        <p:txBody>
          <a:bodyPr wrap="square" anchor="t"/>
          <a:lstStyle/>
          <a:p>
            <a:pPr algn="l"/>
            <a:r>
              <a:rPr sz="1500" b="1" i="0">
                <a:solidFill>
                  <a:srgbClr val="166534"/>
                </a:solidFill>
                <a:latin typeface="Calibri"/>
              </a:rPr>
              <a:t>School still owns credit</a:t>
            </a:r>
          </a:p>
        </p:txBody>
      </p:sp>
      <p:sp>
        <p:nvSpPr>
          <p:cNvPr id="58" name="TextBox 57"/>
          <p:cNvSpPr txBox="1"/>
          <p:nvPr/>
        </p:nvSpPr>
        <p:spPr>
          <a:xfrm>
            <a:off x="8266175" y="4828031"/>
            <a:ext cx="3374136" cy="1344167"/>
          </a:xfrm>
          <a:prstGeom prst="rect">
            <a:avLst/>
          </a:prstGeom>
          <a:noFill/>
        </p:spPr>
        <p:txBody>
          <a:bodyPr wrap="square" anchor="t"/>
          <a:lstStyle/>
          <a:p>
            <a:pPr algn="l"/>
            <a:r>
              <a:rPr sz="1300" b="0" i="0">
                <a:solidFill>
                  <a:srgbClr val="475569"/>
                </a:solidFill>
                <a:latin typeface="Calibri"/>
              </a:rPr>
              <a:t>SitGuru files hours. Your university certifies credit hours.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Draft freely. Publish only after SitGuru.</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If the campaign matters enough to claim as a result, track it and document it.</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16</a:t>
            </a:r>
          </a:p>
        </p:txBody>
      </p:sp>
      <p:sp>
        <p:nvSpPr>
          <p:cNvPr id="12" name="Rounded Rectangle 11"/>
          <p:cNvSpPr/>
          <p:nvPr/>
        </p:nvSpPr>
        <p:spPr>
          <a:xfrm>
            <a:off x="384048" y="1353312"/>
            <a:ext cx="1828800" cy="713232"/>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1481328"/>
            <a:ext cx="1828800" cy="457200"/>
          </a:xfrm>
          <a:prstGeom prst="rect">
            <a:avLst/>
          </a:prstGeom>
          <a:noFill/>
        </p:spPr>
        <p:txBody>
          <a:bodyPr wrap="square" anchor="ctr"/>
          <a:lstStyle/>
          <a:p>
            <a:pPr algn="ctr"/>
            <a:r>
              <a:rPr sz="1400" b="1" i="0">
                <a:solidFill>
                  <a:srgbClr val="0F172A"/>
                </a:solidFill>
                <a:latin typeface="Calibri"/>
              </a:rPr>
              <a:t>Draft</a:t>
            </a:r>
          </a:p>
        </p:txBody>
      </p:sp>
      <p:sp>
        <p:nvSpPr>
          <p:cNvPr id="14" name="Rounded Rectangle 13"/>
          <p:cNvSpPr/>
          <p:nvPr/>
        </p:nvSpPr>
        <p:spPr>
          <a:xfrm>
            <a:off x="2340864" y="1353312"/>
            <a:ext cx="1828800" cy="713232"/>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40864" y="1481328"/>
            <a:ext cx="1828800" cy="457200"/>
          </a:xfrm>
          <a:prstGeom prst="rect">
            <a:avLst/>
          </a:prstGeom>
          <a:noFill/>
        </p:spPr>
        <p:txBody>
          <a:bodyPr wrap="square" anchor="ctr"/>
          <a:lstStyle/>
          <a:p>
            <a:pPr algn="ctr"/>
            <a:r>
              <a:rPr sz="1400" b="1" i="0">
                <a:solidFill>
                  <a:srgbClr val="0F172A"/>
                </a:solidFill>
                <a:latin typeface="Calibri"/>
              </a:rPr>
              <a:t>Submit</a:t>
            </a:r>
          </a:p>
        </p:txBody>
      </p:sp>
      <p:sp>
        <p:nvSpPr>
          <p:cNvPr id="16" name="Rounded Rectangle 15"/>
          <p:cNvSpPr/>
          <p:nvPr/>
        </p:nvSpPr>
        <p:spPr>
          <a:xfrm>
            <a:off x="4297680" y="1353312"/>
            <a:ext cx="1828800" cy="713232"/>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0" y="1481328"/>
            <a:ext cx="1828800" cy="457200"/>
          </a:xfrm>
          <a:prstGeom prst="rect">
            <a:avLst/>
          </a:prstGeom>
          <a:noFill/>
        </p:spPr>
        <p:txBody>
          <a:bodyPr wrap="square" anchor="ctr"/>
          <a:lstStyle/>
          <a:p>
            <a:pPr algn="ctr"/>
            <a:r>
              <a:rPr sz="1400" b="1" i="0">
                <a:solidFill>
                  <a:srgbClr val="0F172A"/>
                </a:solidFill>
                <a:latin typeface="Calibri"/>
              </a:rPr>
              <a:t>Revise</a:t>
            </a:r>
          </a:p>
        </p:txBody>
      </p:sp>
      <p:sp>
        <p:nvSpPr>
          <p:cNvPr id="18" name="Rounded Rectangle 17"/>
          <p:cNvSpPr/>
          <p:nvPr/>
        </p:nvSpPr>
        <p:spPr>
          <a:xfrm>
            <a:off x="6254496" y="1353312"/>
            <a:ext cx="1828800" cy="713232"/>
          </a:xfrm>
          <a:prstGeom prst="roundRect">
            <a:avLst>
              <a:gd name="adj" fmla="val 18000"/>
            </a:avLst>
          </a:prstGeom>
          <a:solidFill>
            <a:srgbClr val="166534"/>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4496" y="1481328"/>
            <a:ext cx="1828800" cy="457200"/>
          </a:xfrm>
          <a:prstGeom prst="rect">
            <a:avLst/>
          </a:prstGeom>
          <a:noFill/>
        </p:spPr>
        <p:txBody>
          <a:bodyPr wrap="square" anchor="ctr"/>
          <a:lstStyle/>
          <a:p>
            <a:pPr algn="ctr"/>
            <a:r>
              <a:rPr sz="1400" b="1" i="0">
                <a:solidFill>
                  <a:srgbClr val="FFFFFF"/>
                </a:solidFill>
                <a:latin typeface="Calibri"/>
              </a:rPr>
              <a:t>Approved</a:t>
            </a:r>
          </a:p>
        </p:txBody>
      </p:sp>
      <p:sp>
        <p:nvSpPr>
          <p:cNvPr id="20" name="Rounded Rectangle 19"/>
          <p:cNvSpPr/>
          <p:nvPr/>
        </p:nvSpPr>
        <p:spPr>
          <a:xfrm>
            <a:off x="8211312" y="1353312"/>
            <a:ext cx="1828800" cy="713232"/>
          </a:xfrm>
          <a:prstGeom prst="roundRect">
            <a:avLst>
              <a:gd name="adj" fmla="val 18000"/>
            </a:avLst>
          </a:prstGeom>
          <a:solidFill>
            <a:srgbClr val="166534"/>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11312" y="1481328"/>
            <a:ext cx="1828800" cy="457200"/>
          </a:xfrm>
          <a:prstGeom prst="rect">
            <a:avLst/>
          </a:prstGeom>
          <a:noFill/>
        </p:spPr>
        <p:txBody>
          <a:bodyPr wrap="square" anchor="ctr"/>
          <a:lstStyle/>
          <a:p>
            <a:pPr algn="ctr"/>
            <a:r>
              <a:rPr sz="1400" b="1" i="0">
                <a:solidFill>
                  <a:srgbClr val="FFFFFF"/>
                </a:solidFill>
                <a:latin typeface="Calibri"/>
              </a:rPr>
              <a:t>Live</a:t>
            </a:r>
          </a:p>
        </p:txBody>
      </p:sp>
      <p:sp>
        <p:nvSpPr>
          <p:cNvPr id="22" name="Rounded Rectangle 21"/>
          <p:cNvSpPr/>
          <p:nvPr/>
        </p:nvSpPr>
        <p:spPr>
          <a:xfrm>
            <a:off x="10168128" y="1353312"/>
            <a:ext cx="1828800" cy="713232"/>
          </a:xfrm>
          <a:prstGeom prst="roundRect">
            <a:avLst>
              <a:gd name="adj" fmla="val 1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68128" y="1481328"/>
            <a:ext cx="1828800" cy="457200"/>
          </a:xfrm>
          <a:prstGeom prst="rect">
            <a:avLst/>
          </a:prstGeom>
          <a:noFill/>
        </p:spPr>
        <p:txBody>
          <a:bodyPr wrap="square" anchor="ctr"/>
          <a:lstStyle/>
          <a:p>
            <a:pPr algn="ctr"/>
            <a:r>
              <a:rPr sz="1400" b="1" i="0">
                <a:solidFill>
                  <a:srgbClr val="0F172A"/>
                </a:solidFill>
                <a:latin typeface="Calibri"/>
              </a:rPr>
              <a:t>Record</a:t>
            </a:r>
          </a:p>
        </p:txBody>
      </p:sp>
      <p:sp>
        <p:nvSpPr>
          <p:cNvPr id="24" name="Rounded Rectangle 23"/>
          <p:cNvSpPr/>
          <p:nvPr/>
        </p:nvSpPr>
        <p:spPr>
          <a:xfrm>
            <a:off x="384048" y="2286000"/>
            <a:ext cx="3703320" cy="297180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2414016"/>
            <a:ext cx="3374136" cy="310896"/>
          </a:xfrm>
          <a:prstGeom prst="rect">
            <a:avLst/>
          </a:prstGeom>
          <a:noFill/>
        </p:spPr>
        <p:txBody>
          <a:bodyPr wrap="square" anchor="t"/>
          <a:lstStyle/>
          <a:p>
            <a:pPr algn="l"/>
            <a:r>
              <a:rPr sz="1500" b="1" i="0">
                <a:solidFill>
                  <a:srgbClr val="166534"/>
                </a:solidFill>
                <a:latin typeface="Calibri"/>
              </a:rPr>
              <a:t>Tracking link</a:t>
            </a:r>
          </a:p>
        </p:txBody>
      </p:sp>
      <p:sp>
        <p:nvSpPr>
          <p:cNvPr id="26" name="TextBox 25"/>
          <p:cNvSpPr txBox="1"/>
          <p:nvPr/>
        </p:nvSpPr>
        <p:spPr>
          <a:xfrm>
            <a:off x="548640" y="2724912"/>
            <a:ext cx="3374136" cy="2331720"/>
          </a:xfrm>
          <a:prstGeom prst="rect">
            <a:avLst/>
          </a:prstGeom>
          <a:noFill/>
        </p:spPr>
        <p:txBody>
          <a:bodyPr wrap="square" anchor="t"/>
          <a:lstStyle/>
          <a:p>
            <a:pPr algn="l"/>
            <a:r>
              <a:rPr sz="1300" b="0" i="0">
                <a:solidFill>
                  <a:srgbClr val="475569"/>
                </a:solidFill>
                <a:latin typeface="Calibri"/>
              </a:rPr>
              <a:t>A unique URL for this intern push. Create the campaign first. SitGuru only counts growth from that link — not a bare homepage.</a:t>
            </a:r>
          </a:p>
        </p:txBody>
      </p:sp>
      <p:sp>
        <p:nvSpPr>
          <p:cNvPr id="27" name="TextBox 26"/>
          <p:cNvSpPr txBox="1"/>
          <p:nvPr/>
        </p:nvSpPr>
        <p:spPr>
          <a:xfrm>
            <a:off x="548640" y="4946904"/>
            <a:ext cx="3374136" cy="237744"/>
          </a:xfrm>
          <a:prstGeom prst="rect">
            <a:avLst/>
          </a:prstGeom>
          <a:noFill/>
        </p:spPr>
        <p:txBody>
          <a:bodyPr wrap="square" anchor="t"/>
          <a:lstStyle/>
          <a:p>
            <a:pPr algn="l"/>
            <a:r>
              <a:rPr sz="1100" b="0" i="0">
                <a:solidFill>
                  <a:srgbClr val="475569"/>
                </a:solidFill>
                <a:latin typeface="Calibri"/>
              </a:rPr>
              <a:t>utm_source = channel (instagram). utm_campaign = this push (spring27_growth).</a:t>
            </a:r>
          </a:p>
        </p:txBody>
      </p:sp>
      <p:sp>
        <p:nvSpPr>
          <p:cNvPr id="28" name="Rounded Rectangle 27"/>
          <p:cNvSpPr/>
          <p:nvPr/>
        </p:nvSpPr>
        <p:spPr>
          <a:xfrm>
            <a:off x="4242816" y="2286000"/>
            <a:ext cx="3703320" cy="297180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07407" y="2414016"/>
            <a:ext cx="3374136" cy="310896"/>
          </a:xfrm>
          <a:prstGeom prst="rect">
            <a:avLst/>
          </a:prstGeom>
          <a:noFill/>
        </p:spPr>
        <p:txBody>
          <a:bodyPr wrap="square" anchor="t"/>
          <a:lstStyle/>
          <a:p>
            <a:pPr algn="l"/>
            <a:r>
              <a:rPr sz="1500" b="1" i="0">
                <a:solidFill>
                  <a:srgbClr val="166534"/>
                </a:solidFill>
                <a:latin typeface="Calibri"/>
              </a:rPr>
              <a:t>Respect publishing</a:t>
            </a:r>
          </a:p>
        </p:txBody>
      </p:sp>
      <p:sp>
        <p:nvSpPr>
          <p:cNvPr id="30" name="TextBox 29"/>
          <p:cNvSpPr txBox="1"/>
          <p:nvPr/>
        </p:nvSpPr>
        <p:spPr>
          <a:xfrm>
            <a:off x="4407407" y="2724912"/>
            <a:ext cx="3374136" cy="2331720"/>
          </a:xfrm>
          <a:prstGeom prst="rect">
            <a:avLst/>
          </a:prstGeom>
          <a:noFill/>
        </p:spPr>
        <p:txBody>
          <a:bodyPr wrap="square" anchor="t"/>
          <a:lstStyle/>
          <a:p>
            <a:pPr algn="l"/>
            <a:r>
              <a:rPr sz="1300" b="0" i="0">
                <a:solidFill>
                  <a:srgbClr val="475569"/>
                </a:solidFill>
                <a:latin typeface="Calibri"/>
              </a:rPr>
              <a:t>Log drafts in Work or Growth workplace. Official posting uses @SitGuruOfficial. Passwords stay with SitGuru.</a:t>
            </a:r>
          </a:p>
        </p:txBody>
      </p:sp>
      <p:sp>
        <p:nvSpPr>
          <p:cNvPr id="31" name="TextBox 30"/>
          <p:cNvSpPr txBox="1"/>
          <p:nvPr/>
        </p:nvSpPr>
        <p:spPr>
          <a:xfrm>
            <a:off x="4407407" y="4946904"/>
            <a:ext cx="3374136" cy="237744"/>
          </a:xfrm>
          <a:prstGeom prst="rect">
            <a:avLst/>
          </a:prstGeom>
          <a:noFill/>
        </p:spPr>
        <p:txBody>
          <a:bodyPr wrap="square" anchor="t"/>
          <a:lstStyle/>
          <a:p>
            <a:pPr algn="l"/>
            <a:r>
              <a:rPr sz="1100" b="0" i="0">
                <a:solidFill>
                  <a:srgbClr val="475569"/>
                </a:solidFill>
                <a:latin typeface="Calibri"/>
              </a:rPr>
              <a:t>Uploading to Brand kit does not post to Instagram.</a:t>
            </a:r>
          </a:p>
        </p:txBody>
      </p:sp>
      <p:sp>
        <p:nvSpPr>
          <p:cNvPr id="32" name="Rounded Rectangle 31"/>
          <p:cNvSpPr/>
          <p:nvPr/>
        </p:nvSpPr>
        <p:spPr>
          <a:xfrm>
            <a:off x="8101583" y="2286000"/>
            <a:ext cx="3703320" cy="297180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66175" y="2414016"/>
            <a:ext cx="3374136" cy="310896"/>
          </a:xfrm>
          <a:prstGeom prst="rect">
            <a:avLst/>
          </a:prstGeom>
          <a:noFill/>
        </p:spPr>
        <p:txBody>
          <a:bodyPr wrap="square" anchor="t"/>
          <a:lstStyle/>
          <a:p>
            <a:pPr algn="l"/>
            <a:r>
              <a:rPr sz="1500" b="1" i="0">
                <a:solidFill>
                  <a:srgbClr val="166534"/>
                </a:solidFill>
                <a:latin typeface="Calibri"/>
              </a:rPr>
              <a:t>Keep the record</a:t>
            </a:r>
          </a:p>
        </p:txBody>
      </p:sp>
      <p:sp>
        <p:nvSpPr>
          <p:cNvPr id="34" name="TextBox 33"/>
          <p:cNvSpPr txBox="1"/>
          <p:nvPr/>
        </p:nvSpPr>
        <p:spPr>
          <a:xfrm>
            <a:off x="8266175" y="2724912"/>
            <a:ext cx="3374136" cy="2331720"/>
          </a:xfrm>
          <a:prstGeom prst="rect">
            <a:avLst/>
          </a:prstGeom>
          <a:noFill/>
        </p:spPr>
        <p:txBody>
          <a:bodyPr wrap="square" anchor="t"/>
          <a:lstStyle/>
          <a:p>
            <a:pPr algn="l"/>
            <a:r>
              <a:rPr sz="1300" b="0" i="0">
                <a:solidFill>
                  <a:srgbClr val="475569"/>
                </a:solidFill>
                <a:latin typeface="Calibri"/>
              </a:rPr>
              <a:t>Final creative, caption, CTA, channel, tracking link, date, and result stay together.</a:t>
            </a:r>
          </a:p>
        </p:txBody>
      </p:sp>
      <p:sp>
        <p:nvSpPr>
          <p:cNvPr id="35" name="TextBox 34"/>
          <p:cNvSpPr txBox="1"/>
          <p:nvPr/>
        </p:nvSpPr>
        <p:spPr>
          <a:xfrm>
            <a:off x="8266175" y="4946904"/>
            <a:ext cx="3374136" cy="237744"/>
          </a:xfrm>
          <a:prstGeom prst="rect">
            <a:avLst/>
          </a:prstGeom>
          <a:noFill/>
        </p:spPr>
        <p:txBody>
          <a:bodyPr wrap="square" anchor="t"/>
          <a:lstStyle/>
          <a:p>
            <a:pPr algn="l"/>
            <a:r>
              <a:rPr sz="1100" b="0" i="0">
                <a:solidFill>
                  <a:srgbClr val="475569"/>
                </a:solidFill>
                <a:latin typeface="Calibri"/>
              </a:rPr>
              <a:t>Verified = SitGuru checked it. Intern-reported = still waiting.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SMART goals and KPI tiers</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Measure what matters. Know activity from business impact.</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17</a:t>
            </a:r>
          </a:p>
        </p:txBody>
      </p:sp>
      <p:sp>
        <p:nvSpPr>
          <p:cNvPr id="12" name="Rounded Rectangle 11"/>
          <p:cNvSpPr/>
          <p:nvPr/>
        </p:nvSpPr>
        <p:spPr>
          <a:xfrm>
            <a:off x="384048" y="1353312"/>
            <a:ext cx="3703320" cy="2880360"/>
          </a:xfrm>
          <a:prstGeom prst="roundRect">
            <a:avLst>
              <a:gd name="adj" fmla="val 7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 y="1353312"/>
            <a:ext cx="3703320" cy="47548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1426464"/>
            <a:ext cx="3429000" cy="329184"/>
          </a:xfrm>
          <a:prstGeom prst="rect">
            <a:avLst/>
          </a:prstGeom>
          <a:noFill/>
        </p:spPr>
        <p:txBody>
          <a:bodyPr wrap="square" anchor="t"/>
          <a:lstStyle/>
          <a:p>
            <a:pPr algn="l"/>
            <a:r>
              <a:rPr sz="1400" b="1" i="0">
                <a:solidFill>
                  <a:srgbClr val="FFFFFF"/>
                </a:solidFill>
                <a:latin typeface="Calibri"/>
              </a:rPr>
              <a:t>TIER 1</a:t>
            </a:r>
          </a:p>
        </p:txBody>
      </p:sp>
      <p:sp>
        <p:nvSpPr>
          <p:cNvPr id="15" name="TextBox 14"/>
          <p:cNvSpPr txBox="1"/>
          <p:nvPr/>
        </p:nvSpPr>
        <p:spPr>
          <a:xfrm>
            <a:off x="530352" y="1956816"/>
            <a:ext cx="3429000" cy="365760"/>
          </a:xfrm>
          <a:prstGeom prst="rect">
            <a:avLst/>
          </a:prstGeom>
          <a:noFill/>
        </p:spPr>
        <p:txBody>
          <a:bodyPr wrap="square" anchor="t"/>
          <a:lstStyle/>
          <a:p>
            <a:pPr algn="l"/>
            <a:r>
              <a:rPr sz="1800" b="1" i="0">
                <a:solidFill>
                  <a:srgbClr val="0F172A"/>
                </a:solidFill>
                <a:latin typeface="Calibri"/>
              </a:rPr>
              <a:t>Business outcomes</a:t>
            </a:r>
          </a:p>
        </p:txBody>
      </p:sp>
      <p:sp>
        <p:nvSpPr>
          <p:cNvPr id="16" name="TextBox 15"/>
          <p:cNvSpPr txBox="1"/>
          <p:nvPr/>
        </p:nvSpPr>
        <p:spPr>
          <a:xfrm>
            <a:off x="530352" y="2377440"/>
            <a:ext cx="3429000" cy="1600200"/>
          </a:xfrm>
          <a:prstGeom prst="rect">
            <a:avLst/>
          </a:prstGeom>
          <a:noFill/>
        </p:spPr>
        <p:txBody>
          <a:bodyPr wrap="square" anchor="t"/>
          <a:lstStyle/>
          <a:p>
            <a:pPr algn="l"/>
            <a:r>
              <a:rPr sz="1400" b="0" i="0">
                <a:solidFill>
                  <a:srgbClr val="475569"/>
                </a:solidFill>
                <a:latin typeface="Calibri"/>
              </a:rPr>
              <a:t>Pet Parent signups, bookable Gurus, booking intent, approved partners, referral activations. Prefer these.</a:t>
            </a:r>
          </a:p>
        </p:txBody>
      </p:sp>
      <p:sp>
        <p:nvSpPr>
          <p:cNvPr id="17" name="Rounded Rectangle 16"/>
          <p:cNvSpPr/>
          <p:nvPr/>
        </p:nvSpPr>
        <p:spPr>
          <a:xfrm>
            <a:off x="4242816" y="1353312"/>
            <a:ext cx="3703320" cy="2880360"/>
          </a:xfrm>
          <a:prstGeom prst="roundRect">
            <a:avLst>
              <a:gd name="adj" fmla="val 7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42816" y="1353312"/>
            <a:ext cx="3703320" cy="47548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0" y="1426464"/>
            <a:ext cx="3429000" cy="329184"/>
          </a:xfrm>
          <a:prstGeom prst="rect">
            <a:avLst/>
          </a:prstGeom>
          <a:noFill/>
        </p:spPr>
        <p:txBody>
          <a:bodyPr wrap="square" anchor="t"/>
          <a:lstStyle/>
          <a:p>
            <a:pPr algn="l"/>
            <a:r>
              <a:rPr sz="1400" b="1" i="0">
                <a:solidFill>
                  <a:srgbClr val="FFFFFF"/>
                </a:solidFill>
                <a:latin typeface="Calibri"/>
              </a:rPr>
              <a:t>TIER 2</a:t>
            </a:r>
          </a:p>
        </p:txBody>
      </p:sp>
      <p:sp>
        <p:nvSpPr>
          <p:cNvPr id="20" name="TextBox 19"/>
          <p:cNvSpPr txBox="1"/>
          <p:nvPr/>
        </p:nvSpPr>
        <p:spPr>
          <a:xfrm>
            <a:off x="4389120" y="1956816"/>
            <a:ext cx="3429000" cy="365760"/>
          </a:xfrm>
          <a:prstGeom prst="rect">
            <a:avLst/>
          </a:prstGeom>
          <a:noFill/>
        </p:spPr>
        <p:txBody>
          <a:bodyPr wrap="square" anchor="t"/>
          <a:lstStyle/>
          <a:p>
            <a:pPr algn="l"/>
            <a:r>
              <a:rPr sz="1800" b="1" i="0">
                <a:solidFill>
                  <a:srgbClr val="0F172A"/>
                </a:solidFill>
                <a:latin typeface="Calibri"/>
              </a:rPr>
              <a:t>Conversion / intent</a:t>
            </a:r>
          </a:p>
        </p:txBody>
      </p:sp>
      <p:sp>
        <p:nvSpPr>
          <p:cNvPr id="21" name="TextBox 20"/>
          <p:cNvSpPr txBox="1"/>
          <p:nvPr/>
        </p:nvSpPr>
        <p:spPr>
          <a:xfrm>
            <a:off x="4389120" y="2377440"/>
            <a:ext cx="3429000" cy="1600200"/>
          </a:xfrm>
          <a:prstGeom prst="rect">
            <a:avLst/>
          </a:prstGeom>
          <a:noFill/>
        </p:spPr>
        <p:txBody>
          <a:bodyPr wrap="square" anchor="t"/>
          <a:lstStyle/>
          <a:p>
            <a:pPr algn="l"/>
            <a:r>
              <a:rPr sz="1400" b="0" i="0">
                <a:solidFill>
                  <a:srgbClr val="475569"/>
                </a:solidFill>
                <a:latin typeface="Calibri"/>
              </a:rPr>
              <a:t>Landing-page conversion, qualified traffic, tracked CTA clicks — movement toward Tier 1.</a:t>
            </a:r>
          </a:p>
        </p:txBody>
      </p:sp>
      <p:sp>
        <p:nvSpPr>
          <p:cNvPr id="22" name="Rounded Rectangle 21"/>
          <p:cNvSpPr/>
          <p:nvPr/>
        </p:nvSpPr>
        <p:spPr>
          <a:xfrm>
            <a:off x="8101583" y="1353312"/>
            <a:ext cx="3703320" cy="2880360"/>
          </a:xfrm>
          <a:prstGeom prst="roundRect">
            <a:avLst>
              <a:gd name="adj" fmla="val 7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01583" y="1353312"/>
            <a:ext cx="3703320" cy="47548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47888" y="1426464"/>
            <a:ext cx="3429000" cy="329184"/>
          </a:xfrm>
          <a:prstGeom prst="rect">
            <a:avLst/>
          </a:prstGeom>
          <a:noFill/>
        </p:spPr>
        <p:txBody>
          <a:bodyPr wrap="square" anchor="t"/>
          <a:lstStyle/>
          <a:p>
            <a:pPr algn="l"/>
            <a:r>
              <a:rPr sz="1400" b="1" i="0">
                <a:solidFill>
                  <a:srgbClr val="FFFFFF"/>
                </a:solidFill>
                <a:latin typeface="Calibri"/>
              </a:rPr>
              <a:t>TIER 3</a:t>
            </a:r>
          </a:p>
        </p:txBody>
      </p:sp>
      <p:sp>
        <p:nvSpPr>
          <p:cNvPr id="25" name="TextBox 24"/>
          <p:cNvSpPr txBox="1"/>
          <p:nvPr/>
        </p:nvSpPr>
        <p:spPr>
          <a:xfrm>
            <a:off x="8247888" y="1956816"/>
            <a:ext cx="3429000" cy="365760"/>
          </a:xfrm>
          <a:prstGeom prst="rect">
            <a:avLst/>
          </a:prstGeom>
          <a:noFill/>
        </p:spPr>
        <p:txBody>
          <a:bodyPr wrap="square" anchor="t"/>
          <a:lstStyle/>
          <a:p>
            <a:pPr algn="l"/>
            <a:r>
              <a:rPr sz="1800" b="1" i="0">
                <a:solidFill>
                  <a:srgbClr val="0F172A"/>
                </a:solidFill>
                <a:latin typeface="Calibri"/>
              </a:rPr>
              <a:t>Awareness / activity</a:t>
            </a:r>
          </a:p>
        </p:txBody>
      </p:sp>
      <p:sp>
        <p:nvSpPr>
          <p:cNvPr id="26" name="TextBox 25"/>
          <p:cNvSpPr txBox="1"/>
          <p:nvPr/>
        </p:nvSpPr>
        <p:spPr>
          <a:xfrm>
            <a:off x="8247888" y="2377440"/>
            <a:ext cx="3429000" cy="1600200"/>
          </a:xfrm>
          <a:prstGeom prst="rect">
            <a:avLst/>
          </a:prstGeom>
          <a:noFill/>
        </p:spPr>
        <p:txBody>
          <a:bodyPr wrap="square" anchor="t"/>
          <a:lstStyle/>
          <a:p>
            <a:pPr algn="l"/>
            <a:r>
              <a:rPr sz="1400" b="0" i="0">
                <a:solidFill>
                  <a:srgbClr val="475569"/>
                </a:solidFill>
                <a:latin typeface="Calibri"/>
              </a:rPr>
              <a:t>Reach, views, followers, impressions. Useful context. Not enough alone.</a:t>
            </a:r>
          </a:p>
        </p:txBody>
      </p:sp>
      <p:sp>
        <p:nvSpPr>
          <p:cNvPr id="27" name="Rounded Rectangle 26"/>
          <p:cNvSpPr/>
          <p:nvPr/>
        </p:nvSpPr>
        <p:spPr>
          <a:xfrm>
            <a:off x="384048" y="4407408"/>
            <a:ext cx="11430000" cy="1874519"/>
          </a:xfrm>
          <a:prstGeom prst="roundRect">
            <a:avLst>
              <a:gd name="adj" fmla="val 6000"/>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572000"/>
            <a:ext cx="11064240" cy="329184"/>
          </a:xfrm>
          <a:prstGeom prst="rect">
            <a:avLst/>
          </a:prstGeom>
          <a:noFill/>
        </p:spPr>
        <p:txBody>
          <a:bodyPr wrap="square" anchor="t"/>
          <a:lstStyle/>
          <a:p>
            <a:pPr algn="l"/>
            <a:r>
              <a:rPr sz="1600" b="1" i="0">
                <a:solidFill>
                  <a:srgbClr val="FFFFFF"/>
                </a:solidFill>
                <a:latin typeface="Calibri"/>
              </a:rPr>
              <a:t>Official target</a:t>
            </a:r>
          </a:p>
        </p:txBody>
      </p:sp>
      <p:sp>
        <p:nvSpPr>
          <p:cNvPr id="29" name="TextBox 28"/>
          <p:cNvSpPr txBox="1"/>
          <p:nvPr/>
        </p:nvSpPr>
        <p:spPr>
          <a:xfrm>
            <a:off x="566928" y="4937760"/>
            <a:ext cx="11064240" cy="1143000"/>
          </a:xfrm>
          <a:prstGeom prst="rect">
            <a:avLst/>
          </a:prstGeom>
          <a:noFill/>
        </p:spPr>
        <p:txBody>
          <a:bodyPr wrap="square" anchor="t"/>
          <a:lstStyle/>
          <a:p>
            <a:pPr algn="l"/>
            <a:r>
              <a:rPr sz="1500" b="0" i="0">
                <a:solidFill>
                  <a:srgbClr val="FFFFFF"/>
                </a:solidFill>
                <a:latin typeface="Calibri"/>
              </a:rPr>
              <a:t>Supervisor-approved SMART goal + locked baseline + defined source + defined deadline. SMART means Specific, Measurable, Achievable, Relevant, Time-bound. Locked baseline means you cannot edit it after SitGuru locks it. Follower count alone is not a Tier 1 goal.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Growth workplace</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On-the-project training for the SitGuru Market Growth Project — not Admin HQ</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18</a:t>
            </a:r>
          </a:p>
        </p:txBody>
      </p:sp>
      <p:sp>
        <p:nvSpPr>
          <p:cNvPr id="12" name="Rounded Rectangle 11"/>
          <p:cNvSpPr/>
          <p:nvPr/>
        </p:nvSpPr>
        <p:spPr>
          <a:xfrm>
            <a:off x="384048" y="1353312"/>
            <a:ext cx="5742432" cy="182880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481328"/>
            <a:ext cx="5413248" cy="310896"/>
          </a:xfrm>
          <a:prstGeom prst="rect">
            <a:avLst/>
          </a:prstGeom>
          <a:noFill/>
        </p:spPr>
        <p:txBody>
          <a:bodyPr wrap="square" anchor="t"/>
          <a:lstStyle/>
          <a:p>
            <a:pPr algn="l"/>
            <a:r>
              <a:rPr sz="1500" b="1" i="0">
                <a:solidFill>
                  <a:srgbClr val="166534"/>
                </a:solidFill>
                <a:latin typeface="Calibri"/>
              </a:rPr>
              <a:t>Home</a:t>
            </a:r>
          </a:p>
        </p:txBody>
      </p:sp>
      <p:sp>
        <p:nvSpPr>
          <p:cNvPr id="14" name="TextBox 13"/>
          <p:cNvSpPr txBox="1"/>
          <p:nvPr/>
        </p:nvSpPr>
        <p:spPr>
          <a:xfrm>
            <a:off x="548640" y="1792224"/>
            <a:ext cx="5413248" cy="1298448"/>
          </a:xfrm>
          <a:prstGeom prst="rect">
            <a:avLst/>
          </a:prstGeom>
          <a:noFill/>
        </p:spPr>
        <p:txBody>
          <a:bodyPr wrap="square" anchor="t"/>
          <a:lstStyle/>
          <a:p>
            <a:pPr algn="l"/>
            <a:r>
              <a:rPr sz="1300" b="0" i="0">
                <a:solidFill>
                  <a:srgbClr val="475569"/>
                </a:solidFill>
                <a:latin typeface="Calibri"/>
              </a:rPr>
              <a:t>Intern-safe weekly signals. Open workplace from the header or the Home card.</a:t>
            </a:r>
          </a:p>
        </p:txBody>
      </p:sp>
      <p:sp>
        <p:nvSpPr>
          <p:cNvPr id="15" name="Rounded Rectangle 14"/>
          <p:cNvSpPr/>
          <p:nvPr/>
        </p:nvSpPr>
        <p:spPr>
          <a:xfrm>
            <a:off x="6281928" y="1353312"/>
            <a:ext cx="5742432" cy="182880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481328"/>
            <a:ext cx="5413248" cy="310896"/>
          </a:xfrm>
          <a:prstGeom prst="rect">
            <a:avLst/>
          </a:prstGeom>
          <a:noFill/>
        </p:spPr>
        <p:txBody>
          <a:bodyPr wrap="square" anchor="t"/>
          <a:lstStyle/>
          <a:p>
            <a:pPr algn="l"/>
            <a:r>
              <a:rPr sz="1500" b="1" i="0">
                <a:solidFill>
                  <a:srgbClr val="166534"/>
                </a:solidFill>
                <a:latin typeface="Calibri"/>
              </a:rPr>
              <a:t>Campaigns</a:t>
            </a:r>
          </a:p>
        </p:txBody>
      </p:sp>
      <p:sp>
        <p:nvSpPr>
          <p:cNvPr id="17" name="TextBox 16"/>
          <p:cNvSpPr txBox="1"/>
          <p:nvPr/>
        </p:nvSpPr>
        <p:spPr>
          <a:xfrm>
            <a:off x="6446520" y="1792224"/>
            <a:ext cx="5413248" cy="1298448"/>
          </a:xfrm>
          <a:prstGeom prst="rect">
            <a:avLst/>
          </a:prstGeom>
          <a:noFill/>
        </p:spPr>
        <p:txBody>
          <a:bodyPr wrap="square" anchor="t"/>
          <a:lstStyle/>
          <a:p>
            <a:pPr algn="l"/>
            <a:r>
              <a:rPr sz="1300" b="0" i="0">
                <a:solidFill>
                  <a:srgbClr val="475569"/>
                </a:solidFill>
                <a:latin typeface="Calibri"/>
              </a:rPr>
              <a:t>Your tracking-link drawer. Ready to share means you can copy it into a caption.</a:t>
            </a:r>
          </a:p>
        </p:txBody>
      </p:sp>
      <p:sp>
        <p:nvSpPr>
          <p:cNvPr id="18" name="Rounded Rectangle 17"/>
          <p:cNvSpPr/>
          <p:nvPr/>
        </p:nvSpPr>
        <p:spPr>
          <a:xfrm>
            <a:off x="384048" y="3319272"/>
            <a:ext cx="5742432" cy="182880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47288"/>
            <a:ext cx="5413248" cy="310896"/>
          </a:xfrm>
          <a:prstGeom prst="rect">
            <a:avLst/>
          </a:prstGeom>
          <a:noFill/>
        </p:spPr>
        <p:txBody>
          <a:bodyPr wrap="square" anchor="t"/>
          <a:lstStyle/>
          <a:p>
            <a:pPr algn="l"/>
            <a:r>
              <a:rPr sz="1500" b="1" i="0">
                <a:solidFill>
                  <a:srgbClr val="166534"/>
                </a:solidFill>
                <a:latin typeface="Calibri"/>
              </a:rPr>
              <a:t>Create (+)</a:t>
            </a:r>
          </a:p>
        </p:txBody>
      </p:sp>
      <p:sp>
        <p:nvSpPr>
          <p:cNvPr id="20" name="TextBox 19"/>
          <p:cNvSpPr txBox="1"/>
          <p:nvPr/>
        </p:nvSpPr>
        <p:spPr>
          <a:xfrm>
            <a:off x="548640" y="3758183"/>
            <a:ext cx="5413248" cy="1298448"/>
          </a:xfrm>
          <a:prstGeom prst="rect">
            <a:avLst/>
          </a:prstGeom>
          <a:noFill/>
        </p:spPr>
        <p:txBody>
          <a:bodyPr wrap="square" anchor="t"/>
          <a:lstStyle/>
          <a:p>
            <a:pPr algn="l"/>
            <a:r>
              <a:rPr sz="1300" b="0" i="0">
                <a:solidFill>
                  <a:srgbClr val="475569"/>
                </a:solidFill>
                <a:latin typeface="Calibri"/>
              </a:rPr>
              <a:t>Guru Spotlight, Event, Partner, PawPerks, Pet Parent, SitGuru Feature, or General.</a:t>
            </a:r>
          </a:p>
        </p:txBody>
      </p:sp>
      <p:sp>
        <p:nvSpPr>
          <p:cNvPr id="21" name="Rounded Rectangle 20"/>
          <p:cNvSpPr/>
          <p:nvPr/>
        </p:nvSpPr>
        <p:spPr>
          <a:xfrm>
            <a:off x="6281928" y="3319272"/>
            <a:ext cx="5742432" cy="182880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447288"/>
            <a:ext cx="5413248" cy="310896"/>
          </a:xfrm>
          <a:prstGeom prst="rect">
            <a:avLst/>
          </a:prstGeom>
          <a:noFill/>
        </p:spPr>
        <p:txBody>
          <a:bodyPr wrap="square" anchor="t"/>
          <a:lstStyle/>
          <a:p>
            <a:pPr algn="l"/>
            <a:r>
              <a:rPr sz="1500" b="1" i="0">
                <a:solidFill>
                  <a:srgbClr val="166534"/>
                </a:solidFill>
                <a:latin typeface="Calibri"/>
              </a:rPr>
              <a:t>Media</a:t>
            </a:r>
          </a:p>
        </p:txBody>
      </p:sp>
      <p:sp>
        <p:nvSpPr>
          <p:cNvPr id="23" name="TextBox 22"/>
          <p:cNvSpPr txBox="1"/>
          <p:nvPr/>
        </p:nvSpPr>
        <p:spPr>
          <a:xfrm>
            <a:off x="6446520" y="3758183"/>
            <a:ext cx="5413248" cy="1298448"/>
          </a:xfrm>
          <a:prstGeom prst="rect">
            <a:avLst/>
          </a:prstGeom>
          <a:noFill/>
        </p:spPr>
        <p:txBody>
          <a:bodyPr wrap="square" anchor="t"/>
          <a:lstStyle/>
          <a:p>
            <a:pPr algn="l"/>
            <a:r>
              <a:rPr sz="1300" b="0" i="0">
                <a:solidFill>
                  <a:srgbClr val="475569"/>
                </a:solidFill>
                <a:latin typeface="Calibri"/>
              </a:rPr>
              <a:t>Save Canva, CapCut, or Drive links. SitGuru reviews. They do not post for you.</a:t>
            </a:r>
          </a:p>
        </p:txBody>
      </p:sp>
      <p:sp>
        <p:nvSpPr>
          <p:cNvPr id="24" name="TextBox 23"/>
          <p:cNvSpPr txBox="1"/>
          <p:nvPr/>
        </p:nvSpPr>
        <p:spPr>
          <a:xfrm>
            <a:off x="384048" y="5394960"/>
            <a:ext cx="11430000" cy="914400"/>
          </a:xfrm>
          <a:prstGeom prst="rect">
            <a:avLst/>
          </a:prstGeom>
          <a:noFill/>
        </p:spPr>
        <p:txBody>
          <a:bodyPr wrap="square" anchor="t"/>
          <a:lstStyle/>
          <a:p>
            <a:pPr algn="l"/>
            <a:r>
              <a:rPr sz="1100" b="0" i="0">
                <a:solidFill>
                  <a:srgbClr val="475569"/>
                </a:solidFill>
                <a:latin typeface="Calibri"/>
              </a:rPr>
              <a:t>Destination should be your tracking link, not a bare homepage. Tag @SitGuruOfficial. Wait for SitGuru before anything is live. You do not get passwords, Pet Parent personal information, or payment tools.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Experiment like a professional</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A failed test can still be excellent work when it is designed, measured, and learned from</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19</a:t>
            </a:r>
          </a:p>
        </p:txBody>
      </p:sp>
      <p:sp>
        <p:nvSpPr>
          <p:cNvPr id="12" name="Rounded Rectangle 11"/>
          <p:cNvSpPr/>
          <p:nvPr/>
        </p:nvSpPr>
        <p:spPr>
          <a:xfrm>
            <a:off x="384048" y="1353312"/>
            <a:ext cx="3703320" cy="1993392"/>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499616"/>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517904"/>
            <a:ext cx="347472" cy="310896"/>
          </a:xfrm>
          <a:prstGeom prst="rect">
            <a:avLst/>
          </a:prstGeom>
          <a:noFill/>
        </p:spPr>
        <p:txBody>
          <a:bodyPr wrap="square" anchor="t"/>
          <a:lstStyle/>
          <a:p>
            <a:pPr algn="ctr"/>
            <a:r>
              <a:rPr sz="1300" b="1" i="0">
                <a:solidFill>
                  <a:srgbClr val="FFFFFF"/>
                </a:solidFill>
                <a:latin typeface="Calibri"/>
              </a:rPr>
              <a:t>1</a:t>
            </a:r>
          </a:p>
        </p:txBody>
      </p:sp>
      <p:sp>
        <p:nvSpPr>
          <p:cNvPr id="15" name="TextBox 14"/>
          <p:cNvSpPr txBox="1"/>
          <p:nvPr/>
        </p:nvSpPr>
        <p:spPr>
          <a:xfrm>
            <a:off x="969264" y="1517904"/>
            <a:ext cx="2935224" cy="310896"/>
          </a:xfrm>
          <a:prstGeom prst="rect">
            <a:avLst/>
          </a:prstGeom>
          <a:noFill/>
        </p:spPr>
        <p:txBody>
          <a:bodyPr wrap="square" anchor="ctr"/>
          <a:lstStyle/>
          <a:p>
            <a:pPr algn="l"/>
            <a:r>
              <a:rPr sz="1500" b="1" i="0">
                <a:solidFill>
                  <a:srgbClr val="0F172A"/>
                </a:solidFill>
                <a:latin typeface="Calibri"/>
              </a:rPr>
              <a:t>Hypothesis</a:t>
            </a:r>
          </a:p>
        </p:txBody>
      </p:sp>
      <p:sp>
        <p:nvSpPr>
          <p:cNvPr id="16" name="TextBox 15"/>
          <p:cNvSpPr txBox="1"/>
          <p:nvPr/>
        </p:nvSpPr>
        <p:spPr>
          <a:xfrm>
            <a:off x="548640" y="1883664"/>
            <a:ext cx="3374136" cy="1353312"/>
          </a:xfrm>
          <a:prstGeom prst="rect">
            <a:avLst/>
          </a:prstGeom>
          <a:noFill/>
        </p:spPr>
        <p:txBody>
          <a:bodyPr wrap="square" anchor="t"/>
          <a:lstStyle/>
          <a:p>
            <a:pPr algn="l"/>
            <a:r>
              <a:rPr sz="1300" b="0" i="0">
                <a:solidFill>
                  <a:srgbClr val="475569"/>
                </a:solidFill>
                <a:latin typeface="Calibri"/>
              </a:rPr>
              <a:t>What do you believe will happen — and why?</a:t>
            </a:r>
          </a:p>
        </p:txBody>
      </p:sp>
      <p:sp>
        <p:nvSpPr>
          <p:cNvPr id="17" name="Rounded Rectangle 16"/>
          <p:cNvSpPr/>
          <p:nvPr/>
        </p:nvSpPr>
        <p:spPr>
          <a:xfrm>
            <a:off x="4242816" y="1353312"/>
            <a:ext cx="3703320" cy="1993392"/>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407407" y="1499616"/>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7407" y="1517904"/>
            <a:ext cx="347472" cy="310896"/>
          </a:xfrm>
          <a:prstGeom prst="rect">
            <a:avLst/>
          </a:prstGeom>
          <a:noFill/>
        </p:spPr>
        <p:txBody>
          <a:bodyPr wrap="square" anchor="t"/>
          <a:lstStyle/>
          <a:p>
            <a:pPr algn="ctr"/>
            <a:r>
              <a:rPr sz="1300" b="1" i="0">
                <a:solidFill>
                  <a:srgbClr val="FFFFFF"/>
                </a:solidFill>
                <a:latin typeface="Calibri"/>
              </a:rPr>
              <a:t>3</a:t>
            </a:r>
          </a:p>
        </p:txBody>
      </p:sp>
      <p:sp>
        <p:nvSpPr>
          <p:cNvPr id="20" name="TextBox 19"/>
          <p:cNvSpPr txBox="1"/>
          <p:nvPr/>
        </p:nvSpPr>
        <p:spPr>
          <a:xfrm>
            <a:off x="4828031" y="1517904"/>
            <a:ext cx="2935224" cy="310896"/>
          </a:xfrm>
          <a:prstGeom prst="rect">
            <a:avLst/>
          </a:prstGeom>
          <a:noFill/>
        </p:spPr>
        <p:txBody>
          <a:bodyPr wrap="square" anchor="ctr"/>
          <a:lstStyle/>
          <a:p>
            <a:pPr algn="l"/>
            <a:r>
              <a:rPr sz="1500" b="1" i="0">
                <a:solidFill>
                  <a:srgbClr val="0F172A"/>
                </a:solidFill>
                <a:latin typeface="Calibri"/>
              </a:rPr>
              <a:t>Action</a:t>
            </a:r>
          </a:p>
        </p:txBody>
      </p:sp>
      <p:sp>
        <p:nvSpPr>
          <p:cNvPr id="21" name="TextBox 20"/>
          <p:cNvSpPr txBox="1"/>
          <p:nvPr/>
        </p:nvSpPr>
        <p:spPr>
          <a:xfrm>
            <a:off x="4407407" y="1883664"/>
            <a:ext cx="3374136" cy="1353312"/>
          </a:xfrm>
          <a:prstGeom prst="rect">
            <a:avLst/>
          </a:prstGeom>
          <a:noFill/>
        </p:spPr>
        <p:txBody>
          <a:bodyPr wrap="square" anchor="t"/>
          <a:lstStyle/>
          <a:p>
            <a:pPr algn="l"/>
            <a:r>
              <a:rPr sz="1300" b="0" i="0">
                <a:solidFill>
                  <a:srgbClr val="475569"/>
                </a:solidFill>
                <a:latin typeface="Calibri"/>
              </a:rPr>
              <a:t>What exactly will you change or test? One change at a time.</a:t>
            </a:r>
          </a:p>
        </p:txBody>
      </p:sp>
      <p:sp>
        <p:nvSpPr>
          <p:cNvPr id="22" name="Rounded Rectangle 21"/>
          <p:cNvSpPr/>
          <p:nvPr/>
        </p:nvSpPr>
        <p:spPr>
          <a:xfrm>
            <a:off x="8101583" y="1353312"/>
            <a:ext cx="3703320" cy="1993392"/>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66175" y="1499616"/>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66175" y="1517904"/>
            <a:ext cx="347472" cy="310896"/>
          </a:xfrm>
          <a:prstGeom prst="rect">
            <a:avLst/>
          </a:prstGeom>
          <a:noFill/>
        </p:spPr>
        <p:txBody>
          <a:bodyPr wrap="square" anchor="t"/>
          <a:lstStyle/>
          <a:p>
            <a:pPr algn="ctr"/>
            <a:r>
              <a:rPr sz="1300" b="1" i="0">
                <a:solidFill>
                  <a:srgbClr val="FFFFFF"/>
                </a:solidFill>
                <a:latin typeface="Calibri"/>
              </a:rPr>
              <a:t>4</a:t>
            </a:r>
          </a:p>
        </p:txBody>
      </p:sp>
      <p:sp>
        <p:nvSpPr>
          <p:cNvPr id="25" name="TextBox 24"/>
          <p:cNvSpPr txBox="1"/>
          <p:nvPr/>
        </p:nvSpPr>
        <p:spPr>
          <a:xfrm>
            <a:off x="8686800" y="1517904"/>
            <a:ext cx="2935224" cy="310896"/>
          </a:xfrm>
          <a:prstGeom prst="rect">
            <a:avLst/>
          </a:prstGeom>
          <a:noFill/>
        </p:spPr>
        <p:txBody>
          <a:bodyPr wrap="square" anchor="ctr"/>
          <a:lstStyle/>
          <a:p>
            <a:pPr algn="l"/>
            <a:r>
              <a:rPr sz="1500" b="1" i="0">
                <a:solidFill>
                  <a:srgbClr val="0F172A"/>
                </a:solidFill>
                <a:latin typeface="Calibri"/>
              </a:rPr>
              <a:t>Tracking</a:t>
            </a:r>
          </a:p>
        </p:txBody>
      </p:sp>
      <p:sp>
        <p:nvSpPr>
          <p:cNvPr id="26" name="TextBox 25"/>
          <p:cNvSpPr txBox="1"/>
          <p:nvPr/>
        </p:nvSpPr>
        <p:spPr>
          <a:xfrm>
            <a:off x="8266175" y="1883664"/>
            <a:ext cx="3374136" cy="1353312"/>
          </a:xfrm>
          <a:prstGeom prst="rect">
            <a:avLst/>
          </a:prstGeom>
          <a:noFill/>
        </p:spPr>
        <p:txBody>
          <a:bodyPr wrap="square" anchor="t"/>
          <a:lstStyle/>
          <a:p>
            <a:pPr algn="l"/>
            <a:r>
              <a:rPr sz="1300" b="0" i="0">
                <a:solidFill>
                  <a:srgbClr val="475569"/>
                </a:solidFill>
                <a:latin typeface="Calibri"/>
              </a:rPr>
              <a:t>How will SitGuru attribute the result? Use a tracking link.</a:t>
            </a:r>
          </a:p>
        </p:txBody>
      </p:sp>
      <p:sp>
        <p:nvSpPr>
          <p:cNvPr id="27" name="Rounded Rectangle 26"/>
          <p:cNvSpPr/>
          <p:nvPr/>
        </p:nvSpPr>
        <p:spPr>
          <a:xfrm>
            <a:off x="384048" y="3502152"/>
            <a:ext cx="3703320" cy="1993392"/>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8640" y="3648456"/>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666744"/>
            <a:ext cx="347472" cy="310896"/>
          </a:xfrm>
          <a:prstGeom prst="rect">
            <a:avLst/>
          </a:prstGeom>
          <a:noFill/>
        </p:spPr>
        <p:txBody>
          <a:bodyPr wrap="square" anchor="t"/>
          <a:lstStyle/>
          <a:p>
            <a:pPr algn="ctr"/>
            <a:r>
              <a:rPr sz="1300" b="1" i="0">
                <a:solidFill>
                  <a:srgbClr val="FFFFFF"/>
                </a:solidFill>
                <a:latin typeface="Calibri"/>
              </a:rPr>
              <a:t>5</a:t>
            </a:r>
          </a:p>
        </p:txBody>
      </p:sp>
      <p:sp>
        <p:nvSpPr>
          <p:cNvPr id="30" name="TextBox 29"/>
          <p:cNvSpPr txBox="1"/>
          <p:nvPr/>
        </p:nvSpPr>
        <p:spPr>
          <a:xfrm>
            <a:off x="969264" y="3666744"/>
            <a:ext cx="2935224" cy="310896"/>
          </a:xfrm>
          <a:prstGeom prst="rect">
            <a:avLst/>
          </a:prstGeom>
          <a:noFill/>
        </p:spPr>
        <p:txBody>
          <a:bodyPr wrap="square" anchor="ctr"/>
          <a:lstStyle/>
          <a:p>
            <a:pPr algn="l"/>
            <a:r>
              <a:rPr sz="1500" b="1" i="0">
                <a:solidFill>
                  <a:srgbClr val="0F172A"/>
                </a:solidFill>
                <a:latin typeface="Calibri"/>
              </a:rPr>
              <a:t>Result</a:t>
            </a:r>
          </a:p>
        </p:txBody>
      </p:sp>
      <p:sp>
        <p:nvSpPr>
          <p:cNvPr id="31" name="TextBox 30"/>
          <p:cNvSpPr txBox="1"/>
          <p:nvPr/>
        </p:nvSpPr>
        <p:spPr>
          <a:xfrm>
            <a:off x="548640" y="4032504"/>
            <a:ext cx="3374136" cy="1353312"/>
          </a:xfrm>
          <a:prstGeom prst="rect">
            <a:avLst/>
          </a:prstGeom>
          <a:noFill/>
        </p:spPr>
        <p:txBody>
          <a:bodyPr wrap="square" anchor="t"/>
          <a:lstStyle/>
          <a:p>
            <a:pPr algn="l"/>
            <a:r>
              <a:rPr sz="1300" b="0" i="0">
                <a:solidFill>
                  <a:srgbClr val="475569"/>
                </a:solidFill>
                <a:latin typeface="Calibri"/>
              </a:rPr>
              <a:t>What actually happened? Do not invent a number.</a:t>
            </a:r>
          </a:p>
        </p:txBody>
      </p:sp>
      <p:sp>
        <p:nvSpPr>
          <p:cNvPr id="32" name="Rounded Rectangle 31"/>
          <p:cNvSpPr/>
          <p:nvPr/>
        </p:nvSpPr>
        <p:spPr>
          <a:xfrm>
            <a:off x="4242816" y="3502152"/>
            <a:ext cx="3703320" cy="1993392"/>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407407" y="3648456"/>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07407" y="3666744"/>
            <a:ext cx="347472" cy="310896"/>
          </a:xfrm>
          <a:prstGeom prst="rect">
            <a:avLst/>
          </a:prstGeom>
          <a:noFill/>
        </p:spPr>
        <p:txBody>
          <a:bodyPr wrap="square" anchor="t"/>
          <a:lstStyle/>
          <a:p>
            <a:pPr algn="ctr"/>
            <a:r>
              <a:rPr sz="1300" b="1" i="0">
                <a:solidFill>
                  <a:srgbClr val="FFFFFF"/>
                </a:solidFill>
                <a:latin typeface="Calibri"/>
              </a:rPr>
              <a:t>6</a:t>
            </a:r>
          </a:p>
        </p:txBody>
      </p:sp>
      <p:sp>
        <p:nvSpPr>
          <p:cNvPr id="35" name="TextBox 34"/>
          <p:cNvSpPr txBox="1"/>
          <p:nvPr/>
        </p:nvSpPr>
        <p:spPr>
          <a:xfrm>
            <a:off x="4828031" y="3666744"/>
            <a:ext cx="2935224" cy="310896"/>
          </a:xfrm>
          <a:prstGeom prst="rect">
            <a:avLst/>
          </a:prstGeom>
          <a:noFill/>
        </p:spPr>
        <p:txBody>
          <a:bodyPr wrap="square" anchor="ctr"/>
          <a:lstStyle/>
          <a:p>
            <a:pPr algn="l"/>
            <a:r>
              <a:rPr sz="1500" b="1" i="0">
                <a:solidFill>
                  <a:srgbClr val="0F172A"/>
                </a:solidFill>
                <a:latin typeface="Calibri"/>
              </a:rPr>
              <a:t>Learning</a:t>
            </a:r>
          </a:p>
        </p:txBody>
      </p:sp>
      <p:sp>
        <p:nvSpPr>
          <p:cNvPr id="36" name="TextBox 35"/>
          <p:cNvSpPr txBox="1"/>
          <p:nvPr/>
        </p:nvSpPr>
        <p:spPr>
          <a:xfrm>
            <a:off x="4407407" y="4032504"/>
            <a:ext cx="3374136" cy="1353312"/>
          </a:xfrm>
          <a:prstGeom prst="rect">
            <a:avLst/>
          </a:prstGeom>
          <a:noFill/>
        </p:spPr>
        <p:txBody>
          <a:bodyPr wrap="square" anchor="t"/>
          <a:lstStyle/>
          <a:p>
            <a:pPr algn="l"/>
            <a:r>
              <a:rPr sz="1300" b="0" i="0">
                <a:solidFill>
                  <a:srgbClr val="475569"/>
                </a:solidFill>
                <a:latin typeface="Calibri"/>
              </a:rPr>
              <a:t>Why do you think it happened?</a:t>
            </a:r>
          </a:p>
        </p:txBody>
      </p:sp>
      <p:sp>
        <p:nvSpPr>
          <p:cNvPr id="37" name="Rounded Rectangle 36"/>
          <p:cNvSpPr/>
          <p:nvPr/>
        </p:nvSpPr>
        <p:spPr>
          <a:xfrm>
            <a:off x="8101583" y="3502152"/>
            <a:ext cx="3703320" cy="1993392"/>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66175" y="3648456"/>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6175" y="3666744"/>
            <a:ext cx="347472" cy="310896"/>
          </a:xfrm>
          <a:prstGeom prst="rect">
            <a:avLst/>
          </a:prstGeom>
          <a:noFill/>
        </p:spPr>
        <p:txBody>
          <a:bodyPr wrap="square" anchor="t"/>
          <a:lstStyle/>
          <a:p>
            <a:pPr algn="ctr"/>
            <a:r>
              <a:rPr sz="1300" b="1" i="0">
                <a:solidFill>
                  <a:srgbClr val="FFFFFF"/>
                </a:solidFill>
                <a:latin typeface="Calibri"/>
              </a:rPr>
              <a:t>7</a:t>
            </a:r>
          </a:p>
        </p:txBody>
      </p:sp>
      <p:sp>
        <p:nvSpPr>
          <p:cNvPr id="40" name="TextBox 39"/>
          <p:cNvSpPr txBox="1"/>
          <p:nvPr/>
        </p:nvSpPr>
        <p:spPr>
          <a:xfrm>
            <a:off x="8686800" y="3666744"/>
            <a:ext cx="2935224" cy="310896"/>
          </a:xfrm>
          <a:prstGeom prst="rect">
            <a:avLst/>
          </a:prstGeom>
          <a:noFill/>
        </p:spPr>
        <p:txBody>
          <a:bodyPr wrap="square" anchor="ctr"/>
          <a:lstStyle/>
          <a:p>
            <a:pPr algn="l"/>
            <a:r>
              <a:rPr sz="1500" b="1" i="0">
                <a:solidFill>
                  <a:srgbClr val="0F172A"/>
                </a:solidFill>
                <a:latin typeface="Calibri"/>
              </a:rPr>
              <a:t>Next move</a:t>
            </a:r>
          </a:p>
        </p:txBody>
      </p:sp>
      <p:sp>
        <p:nvSpPr>
          <p:cNvPr id="41" name="TextBox 40"/>
          <p:cNvSpPr txBox="1"/>
          <p:nvPr/>
        </p:nvSpPr>
        <p:spPr>
          <a:xfrm>
            <a:off x="8266175" y="4032504"/>
            <a:ext cx="3374136" cy="1353312"/>
          </a:xfrm>
          <a:prstGeom prst="rect">
            <a:avLst/>
          </a:prstGeom>
          <a:noFill/>
        </p:spPr>
        <p:txBody>
          <a:bodyPr wrap="square" anchor="t"/>
          <a:lstStyle/>
          <a:p>
            <a:pPr algn="l"/>
            <a:r>
              <a:rPr sz="1300" b="0" i="0">
                <a:solidFill>
                  <a:srgbClr val="475569"/>
                </a:solidFill>
                <a:latin typeface="Calibri"/>
              </a:rPr>
              <a:t>What changes next week because of the evidence?</a:t>
            </a:r>
          </a:p>
        </p:txBody>
      </p:sp>
      <p:sp>
        <p:nvSpPr>
          <p:cNvPr id="42" name="TextBox 41"/>
          <p:cNvSpPr txBox="1"/>
          <p:nvPr/>
        </p:nvSpPr>
        <p:spPr>
          <a:xfrm>
            <a:off x="384048" y="5760720"/>
            <a:ext cx="11430000" cy="594360"/>
          </a:xfrm>
          <a:prstGeom prst="rect">
            <a:avLst/>
          </a:prstGeom>
          <a:noFill/>
        </p:spPr>
        <p:txBody>
          <a:bodyPr wrap="square" anchor="t"/>
          <a:lstStyle/>
          <a:p>
            <a:pPr algn="l"/>
            <a:r>
              <a:rPr sz="1100" b="0" i="0">
                <a:solidFill>
                  <a:srgbClr val="475569"/>
                </a:solidFill>
                <a:latin typeface="Calibri"/>
              </a:rPr>
              <a:t>Good internship work is not “everything worked.” Good work is “we can explain what happened and make a better decision next.”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Three approvals stay separate</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SitGuru keeps the record accurate. Hours approval is not deliverable approval.</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20</a:t>
            </a:r>
          </a:p>
        </p:txBody>
      </p:sp>
      <p:sp>
        <p:nvSpPr>
          <p:cNvPr id="12" name="Rounded Rectangle 11"/>
          <p:cNvSpPr/>
          <p:nvPr/>
        </p:nvSpPr>
        <p:spPr>
          <a:xfrm>
            <a:off x="384048" y="1371600"/>
            <a:ext cx="3703320" cy="32461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1790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536192"/>
            <a:ext cx="347472" cy="310896"/>
          </a:xfrm>
          <a:prstGeom prst="rect">
            <a:avLst/>
          </a:prstGeom>
          <a:noFill/>
        </p:spPr>
        <p:txBody>
          <a:bodyPr wrap="square" anchor="t"/>
          <a:lstStyle/>
          <a:p>
            <a:pPr algn="ctr"/>
            <a:r>
              <a:rPr sz="1300" b="1" i="0">
                <a:solidFill>
                  <a:srgbClr val="FFFFFF"/>
                </a:solidFill>
                <a:latin typeface="Calibri"/>
              </a:rPr>
              <a:t>1</a:t>
            </a:r>
          </a:p>
        </p:txBody>
      </p:sp>
      <p:sp>
        <p:nvSpPr>
          <p:cNvPr id="15" name="TextBox 14"/>
          <p:cNvSpPr txBox="1"/>
          <p:nvPr/>
        </p:nvSpPr>
        <p:spPr>
          <a:xfrm>
            <a:off x="969264" y="1536192"/>
            <a:ext cx="2935224" cy="310896"/>
          </a:xfrm>
          <a:prstGeom prst="rect">
            <a:avLst/>
          </a:prstGeom>
          <a:noFill/>
        </p:spPr>
        <p:txBody>
          <a:bodyPr wrap="square" anchor="ctr"/>
          <a:lstStyle/>
          <a:p>
            <a:pPr algn="l"/>
            <a:r>
              <a:rPr sz="1500" b="1" i="0">
                <a:solidFill>
                  <a:srgbClr val="0F172A"/>
                </a:solidFill>
                <a:latin typeface="Calibri"/>
              </a:rPr>
              <a:t>Work approval</a:t>
            </a:r>
          </a:p>
        </p:txBody>
      </p:sp>
      <p:sp>
        <p:nvSpPr>
          <p:cNvPr id="16" name="TextBox 15"/>
          <p:cNvSpPr txBox="1"/>
          <p:nvPr/>
        </p:nvSpPr>
        <p:spPr>
          <a:xfrm>
            <a:off x="548640" y="1901952"/>
            <a:ext cx="3374136" cy="2532887"/>
          </a:xfrm>
          <a:prstGeom prst="rect">
            <a:avLst/>
          </a:prstGeom>
          <a:noFill/>
        </p:spPr>
        <p:txBody>
          <a:bodyPr wrap="square" anchor="t"/>
          <a:lstStyle/>
          <a:p>
            <a:pPr algn="l"/>
            <a:r>
              <a:rPr sz="1300" b="0" i="0">
                <a:solidFill>
                  <a:srgbClr val="475569"/>
                </a:solidFill>
                <a:latin typeface="Calibri"/>
              </a:rPr>
              <a:t>Did you finish the assigned work to a professional standard? Briefs, drafts, campaign setup, analysis.</a:t>
            </a:r>
          </a:p>
        </p:txBody>
      </p:sp>
      <p:sp>
        <p:nvSpPr>
          <p:cNvPr id="17" name="TextBox 16"/>
          <p:cNvSpPr txBox="1"/>
          <p:nvPr/>
        </p:nvSpPr>
        <p:spPr>
          <a:xfrm>
            <a:off x="548640" y="4306824"/>
            <a:ext cx="3374136" cy="237744"/>
          </a:xfrm>
          <a:prstGeom prst="rect">
            <a:avLst/>
          </a:prstGeom>
          <a:noFill/>
        </p:spPr>
        <p:txBody>
          <a:bodyPr wrap="square" anchor="t"/>
          <a:lstStyle/>
          <a:p>
            <a:pPr algn="l"/>
            <a:r>
              <a:rPr sz="1100" b="0" i="0">
                <a:solidFill>
                  <a:srgbClr val="475569"/>
                </a:solidFill>
                <a:latin typeface="Calibri"/>
              </a:rPr>
              <a:t>Status: to-do · waiting · revision requested · accepted</a:t>
            </a:r>
          </a:p>
        </p:txBody>
      </p:sp>
      <p:sp>
        <p:nvSpPr>
          <p:cNvPr id="18" name="Rounded Rectangle 17"/>
          <p:cNvSpPr/>
          <p:nvPr/>
        </p:nvSpPr>
        <p:spPr>
          <a:xfrm>
            <a:off x="4242816" y="1371600"/>
            <a:ext cx="3703320" cy="32461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07407" y="151790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07407" y="1536192"/>
            <a:ext cx="347472" cy="310896"/>
          </a:xfrm>
          <a:prstGeom prst="rect">
            <a:avLst/>
          </a:prstGeom>
          <a:noFill/>
        </p:spPr>
        <p:txBody>
          <a:bodyPr wrap="square" anchor="t"/>
          <a:lstStyle/>
          <a:p>
            <a:pPr algn="ctr"/>
            <a:r>
              <a:rPr sz="1300" b="1" i="0">
                <a:solidFill>
                  <a:srgbClr val="FFFFFF"/>
                </a:solidFill>
                <a:latin typeface="Calibri"/>
              </a:rPr>
              <a:t>3</a:t>
            </a:r>
          </a:p>
        </p:txBody>
      </p:sp>
      <p:sp>
        <p:nvSpPr>
          <p:cNvPr id="21" name="TextBox 20"/>
          <p:cNvSpPr txBox="1"/>
          <p:nvPr/>
        </p:nvSpPr>
        <p:spPr>
          <a:xfrm>
            <a:off x="4828031" y="1536192"/>
            <a:ext cx="2935224" cy="310896"/>
          </a:xfrm>
          <a:prstGeom prst="rect">
            <a:avLst/>
          </a:prstGeom>
          <a:noFill/>
        </p:spPr>
        <p:txBody>
          <a:bodyPr wrap="square" anchor="ctr"/>
          <a:lstStyle/>
          <a:p>
            <a:pPr algn="l"/>
            <a:r>
              <a:rPr sz="1500" b="1" i="0">
                <a:solidFill>
                  <a:srgbClr val="0F172A"/>
                </a:solidFill>
                <a:latin typeface="Calibri"/>
              </a:rPr>
              <a:t>Hours approval</a:t>
            </a:r>
          </a:p>
        </p:txBody>
      </p:sp>
      <p:sp>
        <p:nvSpPr>
          <p:cNvPr id="22" name="TextBox 21"/>
          <p:cNvSpPr txBox="1"/>
          <p:nvPr/>
        </p:nvSpPr>
        <p:spPr>
          <a:xfrm>
            <a:off x="4407407" y="1901952"/>
            <a:ext cx="3374136" cy="2532887"/>
          </a:xfrm>
          <a:prstGeom prst="rect">
            <a:avLst/>
          </a:prstGeom>
          <a:noFill/>
        </p:spPr>
        <p:txBody>
          <a:bodyPr wrap="square" anchor="t"/>
          <a:lstStyle/>
          <a:p>
            <a:pPr algn="l"/>
            <a:r>
              <a:rPr sz="1300" b="0" i="0">
                <a:solidFill>
                  <a:srgbClr val="475569"/>
                </a:solidFill>
                <a:latin typeface="Calibri"/>
              </a:rPr>
              <a:t>Do the hours match real internship work and the log? Your school still certifies credit.</a:t>
            </a:r>
          </a:p>
        </p:txBody>
      </p:sp>
      <p:sp>
        <p:nvSpPr>
          <p:cNvPr id="23" name="TextBox 22"/>
          <p:cNvSpPr txBox="1"/>
          <p:nvPr/>
        </p:nvSpPr>
        <p:spPr>
          <a:xfrm>
            <a:off x="4407407" y="4306824"/>
            <a:ext cx="3374136" cy="237744"/>
          </a:xfrm>
          <a:prstGeom prst="rect">
            <a:avLst/>
          </a:prstGeom>
          <a:noFill/>
        </p:spPr>
        <p:txBody>
          <a:bodyPr wrap="square" anchor="t"/>
          <a:lstStyle/>
          <a:p>
            <a:pPr algn="l"/>
            <a:r>
              <a:rPr sz="1100" b="0" i="0">
                <a:solidFill>
                  <a:srgbClr val="475569"/>
                </a:solidFill>
                <a:latin typeface="Calibri"/>
              </a:rPr>
              <a:t>Status: pending · approved · adjusted</a:t>
            </a:r>
          </a:p>
        </p:txBody>
      </p:sp>
      <p:sp>
        <p:nvSpPr>
          <p:cNvPr id="24" name="Rounded Rectangle 23"/>
          <p:cNvSpPr/>
          <p:nvPr/>
        </p:nvSpPr>
        <p:spPr>
          <a:xfrm>
            <a:off x="8101583" y="1371600"/>
            <a:ext cx="3703320" cy="324612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66175" y="1517904"/>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66175" y="1536192"/>
            <a:ext cx="347472" cy="310896"/>
          </a:xfrm>
          <a:prstGeom prst="rect">
            <a:avLst/>
          </a:prstGeom>
          <a:noFill/>
        </p:spPr>
        <p:txBody>
          <a:bodyPr wrap="square" anchor="t"/>
          <a:lstStyle/>
          <a:p>
            <a:pPr algn="ctr"/>
            <a:r>
              <a:rPr sz="1300" b="1" i="0">
                <a:solidFill>
                  <a:srgbClr val="FFFFFF"/>
                </a:solidFill>
                <a:latin typeface="Calibri"/>
              </a:rPr>
              <a:t>4</a:t>
            </a:r>
          </a:p>
        </p:txBody>
      </p:sp>
      <p:sp>
        <p:nvSpPr>
          <p:cNvPr id="27" name="TextBox 26"/>
          <p:cNvSpPr txBox="1"/>
          <p:nvPr/>
        </p:nvSpPr>
        <p:spPr>
          <a:xfrm>
            <a:off x="8686800" y="1536192"/>
            <a:ext cx="2935224" cy="310896"/>
          </a:xfrm>
          <a:prstGeom prst="rect">
            <a:avLst/>
          </a:prstGeom>
          <a:noFill/>
        </p:spPr>
        <p:txBody>
          <a:bodyPr wrap="square" anchor="ctr"/>
          <a:lstStyle/>
          <a:p>
            <a:pPr algn="l"/>
            <a:r>
              <a:rPr sz="1500" b="1" i="0">
                <a:solidFill>
                  <a:srgbClr val="0F172A"/>
                </a:solidFill>
                <a:latin typeface="Calibri"/>
              </a:rPr>
              <a:t>KPI verification</a:t>
            </a:r>
          </a:p>
        </p:txBody>
      </p:sp>
      <p:sp>
        <p:nvSpPr>
          <p:cNvPr id="28" name="TextBox 27"/>
          <p:cNvSpPr txBox="1"/>
          <p:nvPr/>
        </p:nvSpPr>
        <p:spPr>
          <a:xfrm>
            <a:off x="8266175" y="1901952"/>
            <a:ext cx="3374136" cy="2532887"/>
          </a:xfrm>
          <a:prstGeom prst="rect">
            <a:avLst/>
          </a:prstGeom>
          <a:noFill/>
        </p:spPr>
        <p:txBody>
          <a:bodyPr wrap="square" anchor="t"/>
          <a:lstStyle/>
          <a:p>
            <a:pPr algn="l"/>
            <a:r>
              <a:rPr sz="1300" b="0" i="0">
                <a:solidFill>
                  <a:srgbClr val="475569"/>
                </a:solidFill>
                <a:latin typeface="Calibri"/>
              </a:rPr>
              <a:t>Does an approved source support the claimed result? Intern-reported numbers never auto-verify.</a:t>
            </a:r>
          </a:p>
        </p:txBody>
      </p:sp>
      <p:sp>
        <p:nvSpPr>
          <p:cNvPr id="29" name="TextBox 28"/>
          <p:cNvSpPr txBox="1"/>
          <p:nvPr/>
        </p:nvSpPr>
        <p:spPr>
          <a:xfrm>
            <a:off x="8266175" y="4306824"/>
            <a:ext cx="3374136" cy="237744"/>
          </a:xfrm>
          <a:prstGeom prst="rect">
            <a:avLst/>
          </a:prstGeom>
          <a:noFill/>
        </p:spPr>
        <p:txBody>
          <a:bodyPr wrap="square" anchor="t"/>
          <a:lstStyle/>
          <a:p>
            <a:pPr algn="l"/>
            <a:r>
              <a:rPr sz="1100" b="0" i="0">
                <a:solidFill>
                  <a:srgbClr val="475569"/>
                </a:solidFill>
                <a:latin typeface="Calibri"/>
              </a:rPr>
              <a:t>Status: unverified · waiting · verified · corrected</a:t>
            </a:r>
          </a:p>
        </p:txBody>
      </p:sp>
      <p:sp>
        <p:nvSpPr>
          <p:cNvPr id="30" name="Rounded Rectangle 29"/>
          <p:cNvSpPr/>
          <p:nvPr/>
        </p:nvSpPr>
        <p:spPr>
          <a:xfrm>
            <a:off x="384048" y="4773168"/>
            <a:ext cx="11430000" cy="1536192"/>
          </a:xfrm>
          <a:prstGeom prst="roundRect">
            <a:avLst>
              <a:gd name="adj" fmla="val 6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901184"/>
            <a:ext cx="11064240" cy="292608"/>
          </a:xfrm>
          <a:prstGeom prst="rect">
            <a:avLst/>
          </a:prstGeom>
          <a:noFill/>
        </p:spPr>
        <p:txBody>
          <a:bodyPr wrap="square" anchor="t"/>
          <a:lstStyle/>
          <a:p>
            <a:pPr algn="l"/>
            <a:r>
              <a:rPr sz="1500" b="1" i="0">
                <a:solidFill>
                  <a:srgbClr val="166534"/>
                </a:solidFill>
                <a:latin typeface="Calibri"/>
              </a:rPr>
              <a:t>Example</a:t>
            </a:r>
          </a:p>
        </p:txBody>
      </p:sp>
      <p:sp>
        <p:nvSpPr>
          <p:cNvPr id="32" name="TextBox 31"/>
          <p:cNvSpPr txBox="1"/>
          <p:nvPr/>
        </p:nvSpPr>
        <p:spPr>
          <a:xfrm>
            <a:off x="566928" y="5230368"/>
            <a:ext cx="11064240" cy="868680"/>
          </a:xfrm>
          <a:prstGeom prst="rect">
            <a:avLst/>
          </a:prstGeom>
          <a:noFill/>
        </p:spPr>
        <p:txBody>
          <a:bodyPr wrap="square" anchor="t"/>
          <a:lstStyle/>
          <a:p>
            <a:pPr algn="l"/>
            <a:r>
              <a:rPr sz="1500" b="0" i="0">
                <a:solidFill>
                  <a:srgbClr val="475569"/>
                </a:solidFill>
                <a:latin typeface="Calibri"/>
              </a:rPr>
              <a:t>Work approved. 10.0 hours approved. You report 12 Pet Parent registrations. SitGuru verifies 9. The Final Report shows both your number and SitGuru’s verified number.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Everything builds toward the final product</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Never reach week 15 and start the Growth Report from a blank page</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21</a:t>
            </a:r>
          </a:p>
        </p:txBody>
      </p:sp>
      <p:sp>
        <p:nvSpPr>
          <p:cNvPr id="12" name="Rounded Rectangle 11"/>
          <p:cNvSpPr/>
          <p:nvPr/>
        </p:nvSpPr>
        <p:spPr>
          <a:xfrm>
            <a:off x="292608" y="1353312"/>
            <a:ext cx="2267712" cy="28803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481328"/>
            <a:ext cx="1938528" cy="310896"/>
          </a:xfrm>
          <a:prstGeom prst="rect">
            <a:avLst/>
          </a:prstGeom>
          <a:noFill/>
        </p:spPr>
        <p:txBody>
          <a:bodyPr wrap="square" anchor="t"/>
          <a:lstStyle/>
          <a:p>
            <a:pPr algn="l"/>
            <a:r>
              <a:rPr sz="1500" b="1" i="0">
                <a:solidFill>
                  <a:srgbClr val="166534"/>
                </a:solidFill>
                <a:latin typeface="Calibri"/>
              </a:rPr>
              <a:t>Weeks 1–2
Baseline</a:t>
            </a:r>
          </a:p>
        </p:txBody>
      </p:sp>
      <p:sp>
        <p:nvSpPr>
          <p:cNvPr id="14" name="TextBox 13"/>
          <p:cNvSpPr txBox="1"/>
          <p:nvPr/>
        </p:nvSpPr>
        <p:spPr>
          <a:xfrm>
            <a:off x="457200" y="1792224"/>
            <a:ext cx="1938528" cy="2350008"/>
          </a:xfrm>
          <a:prstGeom prst="rect">
            <a:avLst/>
          </a:prstGeom>
          <a:noFill/>
        </p:spPr>
        <p:txBody>
          <a:bodyPr wrap="square" anchor="t"/>
          <a:lstStyle/>
          <a:p>
            <a:pPr algn="l"/>
            <a:r>
              <a:rPr sz="1300" b="0" i="0">
                <a:solidFill>
                  <a:srgbClr val="475569"/>
                </a:solidFill>
                <a:latin typeface="Calibri"/>
              </a:rPr>
              <a:t>Market, audience, baseline, SMART targets. SitGuru must approve the Brief.</a:t>
            </a:r>
          </a:p>
        </p:txBody>
      </p:sp>
      <p:sp>
        <p:nvSpPr>
          <p:cNvPr id="15" name="Rounded Rectangle 14"/>
          <p:cNvSpPr/>
          <p:nvPr/>
        </p:nvSpPr>
        <p:spPr>
          <a:xfrm>
            <a:off x="2651760" y="1353312"/>
            <a:ext cx="2267712" cy="28803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16352" y="1481328"/>
            <a:ext cx="1938528" cy="310896"/>
          </a:xfrm>
          <a:prstGeom prst="rect">
            <a:avLst/>
          </a:prstGeom>
          <a:noFill/>
        </p:spPr>
        <p:txBody>
          <a:bodyPr wrap="square" anchor="t"/>
          <a:lstStyle/>
          <a:p>
            <a:pPr algn="l"/>
            <a:r>
              <a:rPr sz="1500" b="1" i="0">
                <a:solidFill>
                  <a:srgbClr val="166534"/>
                </a:solidFill>
                <a:latin typeface="Calibri"/>
              </a:rPr>
              <a:t>Weeks 3–5
Strategy</a:t>
            </a:r>
          </a:p>
        </p:txBody>
      </p:sp>
      <p:sp>
        <p:nvSpPr>
          <p:cNvPr id="17" name="TextBox 16"/>
          <p:cNvSpPr txBox="1"/>
          <p:nvPr/>
        </p:nvSpPr>
        <p:spPr>
          <a:xfrm>
            <a:off x="2816352" y="1792224"/>
            <a:ext cx="1938528" cy="2350008"/>
          </a:xfrm>
          <a:prstGeom prst="rect">
            <a:avLst/>
          </a:prstGeom>
          <a:noFill/>
        </p:spPr>
        <p:txBody>
          <a:bodyPr wrap="square" anchor="t"/>
          <a:lstStyle/>
          <a:p>
            <a:pPr algn="l"/>
            <a:r>
              <a:rPr sz="1300" b="0" i="0">
                <a:solidFill>
                  <a:srgbClr val="475569"/>
                </a:solidFill>
                <a:latin typeface="Calibri"/>
              </a:rPr>
              <a:t>Content pillars, channel plan, campaign system.</a:t>
            </a:r>
          </a:p>
        </p:txBody>
      </p:sp>
      <p:sp>
        <p:nvSpPr>
          <p:cNvPr id="18" name="Rounded Rectangle 17"/>
          <p:cNvSpPr/>
          <p:nvPr/>
        </p:nvSpPr>
        <p:spPr>
          <a:xfrm>
            <a:off x="5010912" y="1353312"/>
            <a:ext cx="2267712" cy="28803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75504" y="1481328"/>
            <a:ext cx="1938528" cy="310896"/>
          </a:xfrm>
          <a:prstGeom prst="rect">
            <a:avLst/>
          </a:prstGeom>
          <a:noFill/>
        </p:spPr>
        <p:txBody>
          <a:bodyPr wrap="square" anchor="t"/>
          <a:lstStyle/>
          <a:p>
            <a:pPr algn="l"/>
            <a:r>
              <a:rPr sz="1500" b="1" i="0">
                <a:solidFill>
                  <a:srgbClr val="166534"/>
                </a:solidFill>
                <a:latin typeface="Calibri"/>
              </a:rPr>
              <a:t>Weeks 6–11
Execution</a:t>
            </a:r>
          </a:p>
        </p:txBody>
      </p:sp>
      <p:sp>
        <p:nvSpPr>
          <p:cNvPr id="20" name="TextBox 19"/>
          <p:cNvSpPr txBox="1"/>
          <p:nvPr/>
        </p:nvSpPr>
        <p:spPr>
          <a:xfrm>
            <a:off x="5175504" y="1792224"/>
            <a:ext cx="1938528" cy="2350008"/>
          </a:xfrm>
          <a:prstGeom prst="rect">
            <a:avLst/>
          </a:prstGeom>
          <a:noFill/>
        </p:spPr>
        <p:txBody>
          <a:bodyPr wrap="square" anchor="t"/>
          <a:lstStyle/>
          <a:p>
            <a:pPr algn="l"/>
            <a:r>
              <a:rPr sz="1300" b="0" i="0">
                <a:solidFill>
                  <a:srgbClr val="475569"/>
                </a:solidFill>
                <a:latin typeface="Calibri"/>
              </a:rPr>
              <a:t>Campaigns, experiments, evidence, optimization.</a:t>
            </a:r>
          </a:p>
        </p:txBody>
      </p:sp>
      <p:sp>
        <p:nvSpPr>
          <p:cNvPr id="21" name="Rounded Rectangle 20"/>
          <p:cNvSpPr/>
          <p:nvPr/>
        </p:nvSpPr>
        <p:spPr>
          <a:xfrm>
            <a:off x="7370064" y="1353312"/>
            <a:ext cx="2267712" cy="28803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34656" y="1481328"/>
            <a:ext cx="1938528" cy="310896"/>
          </a:xfrm>
          <a:prstGeom prst="rect">
            <a:avLst/>
          </a:prstGeom>
          <a:noFill/>
        </p:spPr>
        <p:txBody>
          <a:bodyPr wrap="square" anchor="t"/>
          <a:lstStyle/>
          <a:p>
            <a:pPr algn="l"/>
            <a:r>
              <a:rPr sz="1500" b="1" i="0">
                <a:solidFill>
                  <a:srgbClr val="166534"/>
                </a:solidFill>
                <a:latin typeface="Calibri"/>
              </a:rPr>
              <a:t>Weeks 12–14
Handoff</a:t>
            </a:r>
          </a:p>
        </p:txBody>
      </p:sp>
      <p:sp>
        <p:nvSpPr>
          <p:cNvPr id="23" name="TextBox 22"/>
          <p:cNvSpPr txBox="1"/>
          <p:nvPr/>
        </p:nvSpPr>
        <p:spPr>
          <a:xfrm>
            <a:off x="7534656" y="1792224"/>
            <a:ext cx="1938528" cy="2350008"/>
          </a:xfrm>
          <a:prstGeom prst="rect">
            <a:avLst/>
          </a:prstGeom>
          <a:noFill/>
        </p:spPr>
        <p:txBody>
          <a:bodyPr wrap="square" anchor="t"/>
          <a:lstStyle/>
          <a:p>
            <a:pPr algn="l"/>
            <a:r>
              <a:rPr sz="1300" b="0" i="0">
                <a:solidFill>
                  <a:srgbClr val="475569"/>
                </a:solidFill>
                <a:latin typeface="Calibri"/>
              </a:rPr>
              <a:t>Winning tactics, SOPs, reusable assets.</a:t>
            </a:r>
          </a:p>
        </p:txBody>
      </p:sp>
      <p:sp>
        <p:nvSpPr>
          <p:cNvPr id="24" name="Rounded Rectangle 23"/>
          <p:cNvSpPr/>
          <p:nvPr/>
        </p:nvSpPr>
        <p:spPr>
          <a:xfrm>
            <a:off x="9729216" y="1353312"/>
            <a:ext cx="2267712" cy="2880360"/>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93808" y="1481328"/>
            <a:ext cx="1938528" cy="310896"/>
          </a:xfrm>
          <a:prstGeom prst="rect">
            <a:avLst/>
          </a:prstGeom>
          <a:noFill/>
        </p:spPr>
        <p:txBody>
          <a:bodyPr wrap="square" anchor="t"/>
          <a:lstStyle/>
          <a:p>
            <a:pPr algn="l"/>
            <a:r>
              <a:rPr sz="1500" b="1" i="0">
                <a:solidFill>
                  <a:srgbClr val="166534"/>
                </a:solidFill>
                <a:latin typeface="Calibri"/>
              </a:rPr>
              <a:t>Week 15
Final</a:t>
            </a:r>
          </a:p>
        </p:txBody>
      </p:sp>
      <p:sp>
        <p:nvSpPr>
          <p:cNvPr id="26" name="TextBox 25"/>
          <p:cNvSpPr txBox="1"/>
          <p:nvPr/>
        </p:nvSpPr>
        <p:spPr>
          <a:xfrm>
            <a:off x="9893808" y="1792224"/>
            <a:ext cx="1938528" cy="2350008"/>
          </a:xfrm>
          <a:prstGeom prst="rect">
            <a:avLst/>
          </a:prstGeom>
          <a:noFill/>
        </p:spPr>
        <p:txBody>
          <a:bodyPr wrap="square" anchor="t"/>
          <a:lstStyle/>
          <a:p>
            <a:pPr algn="l"/>
            <a:r>
              <a:rPr sz="1300" b="0" i="0">
                <a:solidFill>
                  <a:srgbClr val="475569"/>
                </a:solidFill>
                <a:latin typeface="Calibri"/>
              </a:rPr>
              <a:t>Verified results, recommendations, presentation.</a:t>
            </a:r>
          </a:p>
        </p:txBody>
      </p:sp>
      <p:sp>
        <p:nvSpPr>
          <p:cNvPr id="27" name="Rounded Rectangle 26"/>
          <p:cNvSpPr/>
          <p:nvPr/>
        </p:nvSpPr>
        <p:spPr>
          <a:xfrm>
            <a:off x="384048" y="4389120"/>
            <a:ext cx="3703320" cy="1874519"/>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517136"/>
            <a:ext cx="3374136" cy="310896"/>
          </a:xfrm>
          <a:prstGeom prst="rect">
            <a:avLst/>
          </a:prstGeom>
          <a:noFill/>
        </p:spPr>
        <p:txBody>
          <a:bodyPr wrap="square" anchor="t"/>
          <a:lstStyle/>
          <a:p>
            <a:pPr algn="l"/>
            <a:r>
              <a:rPr sz="1500" b="1" i="0">
                <a:solidFill>
                  <a:srgbClr val="166534"/>
                </a:solidFill>
                <a:latin typeface="Calibri"/>
              </a:rPr>
              <a:t>Market Growth Playbook</a:t>
            </a:r>
          </a:p>
        </p:txBody>
      </p:sp>
      <p:sp>
        <p:nvSpPr>
          <p:cNvPr id="29" name="TextBox 28"/>
          <p:cNvSpPr txBox="1"/>
          <p:nvPr/>
        </p:nvSpPr>
        <p:spPr>
          <a:xfrm>
            <a:off x="548640" y="4828031"/>
            <a:ext cx="3374136" cy="1344167"/>
          </a:xfrm>
          <a:prstGeom prst="rect">
            <a:avLst/>
          </a:prstGeom>
          <a:noFill/>
        </p:spPr>
        <p:txBody>
          <a:bodyPr wrap="square" anchor="t"/>
          <a:lstStyle/>
          <a:p>
            <a:pPr algn="l"/>
            <a:r>
              <a:rPr sz="1300" b="0" i="0">
                <a:solidFill>
                  <a:srgbClr val="475569"/>
                </a:solidFill>
                <a:latin typeface="Calibri"/>
              </a:rPr>
              <a:t>What SitGuru keeps and can repeat.</a:t>
            </a:r>
          </a:p>
        </p:txBody>
      </p:sp>
      <p:sp>
        <p:nvSpPr>
          <p:cNvPr id="30" name="Rounded Rectangle 29"/>
          <p:cNvSpPr/>
          <p:nvPr/>
        </p:nvSpPr>
        <p:spPr>
          <a:xfrm>
            <a:off x="4242816" y="4389120"/>
            <a:ext cx="3703320" cy="1874519"/>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07407" y="4517136"/>
            <a:ext cx="3374136" cy="310896"/>
          </a:xfrm>
          <a:prstGeom prst="rect">
            <a:avLst/>
          </a:prstGeom>
          <a:noFill/>
        </p:spPr>
        <p:txBody>
          <a:bodyPr wrap="square" anchor="t"/>
          <a:lstStyle/>
          <a:p>
            <a:pPr algn="l"/>
            <a:r>
              <a:rPr sz="1500" b="1" i="0">
                <a:solidFill>
                  <a:srgbClr val="166534"/>
                </a:solidFill>
                <a:latin typeface="Calibri"/>
              </a:rPr>
              <a:t>Business Growth Report</a:t>
            </a:r>
          </a:p>
        </p:txBody>
      </p:sp>
      <p:sp>
        <p:nvSpPr>
          <p:cNvPr id="32" name="TextBox 31"/>
          <p:cNvSpPr txBox="1"/>
          <p:nvPr/>
        </p:nvSpPr>
        <p:spPr>
          <a:xfrm>
            <a:off x="4407407" y="4828031"/>
            <a:ext cx="3374136" cy="1344167"/>
          </a:xfrm>
          <a:prstGeom prst="rect">
            <a:avLst/>
          </a:prstGeom>
          <a:noFill/>
        </p:spPr>
        <p:txBody>
          <a:bodyPr wrap="square" anchor="t"/>
          <a:lstStyle/>
          <a:p>
            <a:pPr algn="l"/>
            <a:r>
              <a:rPr sz="1300" b="0" i="0">
                <a:solidFill>
                  <a:srgbClr val="475569"/>
                </a:solidFill>
                <a:latin typeface="Calibri"/>
              </a:rPr>
              <a:t>Evidence-based story from baseline to verified result.</a:t>
            </a:r>
          </a:p>
        </p:txBody>
      </p:sp>
      <p:sp>
        <p:nvSpPr>
          <p:cNvPr id="33" name="Rounded Rectangle 32"/>
          <p:cNvSpPr/>
          <p:nvPr/>
        </p:nvSpPr>
        <p:spPr>
          <a:xfrm>
            <a:off x="8101583" y="4389120"/>
            <a:ext cx="3703320" cy="1874519"/>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66175" y="4517136"/>
            <a:ext cx="3374136" cy="310896"/>
          </a:xfrm>
          <a:prstGeom prst="rect">
            <a:avLst/>
          </a:prstGeom>
          <a:noFill/>
        </p:spPr>
        <p:txBody>
          <a:bodyPr wrap="square" anchor="t"/>
          <a:lstStyle/>
          <a:p>
            <a:pPr algn="l"/>
            <a:r>
              <a:rPr sz="1500" b="1" i="0">
                <a:solidFill>
                  <a:srgbClr val="166534"/>
                </a:solidFill>
                <a:latin typeface="Calibri"/>
              </a:rPr>
              <a:t>Portfolio case study</a:t>
            </a:r>
          </a:p>
        </p:txBody>
      </p:sp>
      <p:sp>
        <p:nvSpPr>
          <p:cNvPr id="35" name="TextBox 34"/>
          <p:cNvSpPr txBox="1"/>
          <p:nvPr/>
        </p:nvSpPr>
        <p:spPr>
          <a:xfrm>
            <a:off x="8266175" y="4828031"/>
            <a:ext cx="3374136" cy="1344167"/>
          </a:xfrm>
          <a:prstGeom prst="rect">
            <a:avLst/>
          </a:prstGeom>
          <a:noFill/>
        </p:spPr>
        <p:txBody>
          <a:bodyPr wrap="square" anchor="t"/>
          <a:lstStyle/>
          <a:p>
            <a:pPr algn="l"/>
            <a:r>
              <a:rPr sz="1300" b="0" i="0">
                <a:solidFill>
                  <a:srgbClr val="475569"/>
                </a:solidFill>
                <a:latin typeface="Calibri"/>
              </a:rPr>
              <a:t>Sanitized version only after SitGuru writes yes. No customer PII.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Intern-safe rules, privacy, and brand</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Treat SitGuru information like you would at any professional employer</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22</a:t>
            </a:r>
          </a:p>
        </p:txBody>
      </p:sp>
      <p:sp>
        <p:nvSpPr>
          <p:cNvPr id="12" name="Rounded Rectangle 11"/>
          <p:cNvSpPr/>
          <p:nvPr/>
        </p:nvSpPr>
        <p:spPr>
          <a:xfrm>
            <a:off x="384048" y="1353312"/>
            <a:ext cx="3703320" cy="2084831"/>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481328"/>
            <a:ext cx="3374136" cy="310896"/>
          </a:xfrm>
          <a:prstGeom prst="rect">
            <a:avLst/>
          </a:prstGeom>
          <a:noFill/>
        </p:spPr>
        <p:txBody>
          <a:bodyPr wrap="square" anchor="t"/>
          <a:lstStyle/>
          <a:p>
            <a:pPr algn="l"/>
            <a:r>
              <a:rPr sz="1500" b="1" i="0">
                <a:solidFill>
                  <a:srgbClr val="166534"/>
                </a:solidFill>
                <a:latin typeface="Calibri"/>
              </a:rPr>
              <a:t>Protect people</a:t>
            </a:r>
          </a:p>
        </p:txBody>
      </p:sp>
      <p:sp>
        <p:nvSpPr>
          <p:cNvPr id="14" name="TextBox 13"/>
          <p:cNvSpPr txBox="1"/>
          <p:nvPr/>
        </p:nvSpPr>
        <p:spPr>
          <a:xfrm>
            <a:off x="548640" y="1792224"/>
            <a:ext cx="3374136" cy="1554479"/>
          </a:xfrm>
          <a:prstGeom prst="rect">
            <a:avLst/>
          </a:prstGeom>
          <a:noFill/>
        </p:spPr>
        <p:txBody>
          <a:bodyPr wrap="square" anchor="t"/>
          <a:lstStyle/>
          <a:p>
            <a:pPr algn="l"/>
            <a:r>
              <a:rPr sz="1300" b="0" i="0">
                <a:solidFill>
                  <a:srgbClr val="475569"/>
                </a:solidFill>
                <a:latin typeface="Calibri"/>
              </a:rPr>
              <a:t>No customer names, emails, payment details, pet records, or private messages in slides, class work, or portfolios.</a:t>
            </a:r>
          </a:p>
        </p:txBody>
      </p:sp>
      <p:sp>
        <p:nvSpPr>
          <p:cNvPr id="15" name="Rounded Rectangle 14"/>
          <p:cNvSpPr/>
          <p:nvPr/>
        </p:nvSpPr>
        <p:spPr>
          <a:xfrm>
            <a:off x="4242816" y="1353312"/>
            <a:ext cx="3703320" cy="2084831"/>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7407" y="1481328"/>
            <a:ext cx="3374136" cy="310896"/>
          </a:xfrm>
          <a:prstGeom prst="rect">
            <a:avLst/>
          </a:prstGeom>
          <a:noFill/>
        </p:spPr>
        <p:txBody>
          <a:bodyPr wrap="square" anchor="t"/>
          <a:lstStyle/>
          <a:p>
            <a:pPr algn="l"/>
            <a:r>
              <a:rPr sz="1500" b="1" i="0">
                <a:solidFill>
                  <a:srgbClr val="166534"/>
                </a:solidFill>
                <a:latin typeface="Calibri"/>
              </a:rPr>
              <a:t>Protect this login</a:t>
            </a:r>
          </a:p>
        </p:txBody>
      </p:sp>
      <p:sp>
        <p:nvSpPr>
          <p:cNvPr id="17" name="TextBox 16"/>
          <p:cNvSpPr txBox="1"/>
          <p:nvPr/>
        </p:nvSpPr>
        <p:spPr>
          <a:xfrm>
            <a:off x="4407407" y="1792224"/>
            <a:ext cx="3374136" cy="1554479"/>
          </a:xfrm>
          <a:prstGeom prst="rect">
            <a:avLst/>
          </a:prstGeom>
          <a:noFill/>
        </p:spPr>
        <p:txBody>
          <a:bodyPr wrap="square" anchor="t"/>
          <a:lstStyle/>
          <a:p>
            <a:pPr algn="l"/>
            <a:r>
              <a:rPr sz="1300" b="0" i="0">
                <a:solidFill>
                  <a:srgbClr val="475569"/>
                </a:solidFill>
                <a:latin typeface="Calibri"/>
              </a:rPr>
              <a:t>Do not share passwords. Report a lost device to intern@sitguru.com right away.</a:t>
            </a:r>
          </a:p>
        </p:txBody>
      </p:sp>
      <p:sp>
        <p:nvSpPr>
          <p:cNvPr id="18" name="Rounded Rectangle 17"/>
          <p:cNvSpPr/>
          <p:nvPr/>
        </p:nvSpPr>
        <p:spPr>
          <a:xfrm>
            <a:off x="8101583" y="1353312"/>
            <a:ext cx="3703320" cy="2084831"/>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5" y="1481328"/>
            <a:ext cx="3374136" cy="310896"/>
          </a:xfrm>
          <a:prstGeom prst="rect">
            <a:avLst/>
          </a:prstGeom>
          <a:noFill/>
        </p:spPr>
        <p:txBody>
          <a:bodyPr wrap="square" anchor="t"/>
          <a:lstStyle/>
          <a:p>
            <a:pPr algn="l"/>
            <a:r>
              <a:rPr sz="1500" b="1" i="0">
                <a:solidFill>
                  <a:srgbClr val="166534"/>
                </a:solidFill>
                <a:latin typeface="Calibri"/>
              </a:rPr>
              <a:t>Stay in intern tools</a:t>
            </a:r>
          </a:p>
        </p:txBody>
      </p:sp>
      <p:sp>
        <p:nvSpPr>
          <p:cNvPr id="20" name="TextBox 19"/>
          <p:cNvSpPr txBox="1"/>
          <p:nvPr/>
        </p:nvSpPr>
        <p:spPr>
          <a:xfrm>
            <a:off x="8266175" y="1792224"/>
            <a:ext cx="3374136" cy="1554479"/>
          </a:xfrm>
          <a:prstGeom prst="rect">
            <a:avLst/>
          </a:prstGeom>
          <a:noFill/>
        </p:spPr>
        <p:txBody>
          <a:bodyPr wrap="square" anchor="t"/>
          <a:lstStyle/>
          <a:p>
            <a:pPr algn="l"/>
            <a:r>
              <a:rPr sz="1300" b="0" i="0">
                <a:solidFill>
                  <a:srgbClr val="475569"/>
                </a:solidFill>
                <a:latin typeface="Calibri"/>
              </a:rPr>
              <a:t>Intern portal + Growth workplace + Help. No Admin HQ. No PawPerks login.</a:t>
            </a:r>
          </a:p>
        </p:txBody>
      </p:sp>
      <p:sp>
        <p:nvSpPr>
          <p:cNvPr id="21" name="Rounded Rectangle 20"/>
          <p:cNvSpPr/>
          <p:nvPr/>
        </p:nvSpPr>
        <p:spPr>
          <a:xfrm>
            <a:off x="384048" y="3593592"/>
            <a:ext cx="3703320" cy="2084831"/>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721608"/>
            <a:ext cx="3374136" cy="310896"/>
          </a:xfrm>
          <a:prstGeom prst="rect">
            <a:avLst/>
          </a:prstGeom>
          <a:noFill/>
        </p:spPr>
        <p:txBody>
          <a:bodyPr wrap="square" anchor="t"/>
          <a:lstStyle/>
          <a:p>
            <a:pPr algn="l"/>
            <a:r>
              <a:rPr sz="1500" b="1" i="0">
                <a:solidFill>
                  <a:srgbClr val="166534"/>
                </a:solidFill>
                <a:latin typeface="Calibri"/>
              </a:rPr>
              <a:t>Brand correctly</a:t>
            </a:r>
          </a:p>
        </p:txBody>
      </p:sp>
      <p:sp>
        <p:nvSpPr>
          <p:cNvPr id="23" name="TextBox 22"/>
          <p:cNvSpPr txBox="1"/>
          <p:nvPr/>
        </p:nvSpPr>
        <p:spPr>
          <a:xfrm>
            <a:off x="548640" y="4032504"/>
            <a:ext cx="3374136" cy="1554479"/>
          </a:xfrm>
          <a:prstGeom prst="rect">
            <a:avLst/>
          </a:prstGeom>
          <a:noFill/>
        </p:spPr>
        <p:txBody>
          <a:bodyPr wrap="square" anchor="t"/>
          <a:lstStyle/>
          <a:p>
            <a:pPr algn="l"/>
            <a:r>
              <a:rPr sz="1300" b="0" i="0">
                <a:solidFill>
                  <a:srgbClr val="475569"/>
                </a:solidFill>
                <a:latin typeface="Calibri"/>
              </a:rPr>
              <a:t>Official logos, #166534, white type on green, @SitGuruOfficial. University logos need recorded permission.</a:t>
            </a:r>
          </a:p>
        </p:txBody>
      </p:sp>
      <p:sp>
        <p:nvSpPr>
          <p:cNvPr id="24" name="Rounded Rectangle 23"/>
          <p:cNvSpPr/>
          <p:nvPr/>
        </p:nvSpPr>
        <p:spPr>
          <a:xfrm>
            <a:off x="4242816" y="3593592"/>
            <a:ext cx="3703320" cy="2084831"/>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407" y="3721608"/>
            <a:ext cx="3374136" cy="310896"/>
          </a:xfrm>
          <a:prstGeom prst="rect">
            <a:avLst/>
          </a:prstGeom>
          <a:noFill/>
        </p:spPr>
        <p:txBody>
          <a:bodyPr wrap="square" anchor="t"/>
          <a:lstStyle/>
          <a:p>
            <a:pPr algn="l"/>
            <a:r>
              <a:rPr sz="1500" b="1" i="0">
                <a:solidFill>
                  <a:srgbClr val="166534"/>
                </a:solidFill>
                <a:latin typeface="Calibri"/>
              </a:rPr>
              <a:t>Keep secrets inside</a:t>
            </a:r>
          </a:p>
        </p:txBody>
      </p:sp>
      <p:sp>
        <p:nvSpPr>
          <p:cNvPr id="26" name="TextBox 25"/>
          <p:cNvSpPr txBox="1"/>
          <p:nvPr/>
        </p:nvSpPr>
        <p:spPr>
          <a:xfrm>
            <a:off x="4407407" y="4032504"/>
            <a:ext cx="3374136" cy="1554479"/>
          </a:xfrm>
          <a:prstGeom prst="rect">
            <a:avLst/>
          </a:prstGeom>
          <a:noFill/>
        </p:spPr>
        <p:txBody>
          <a:bodyPr wrap="square" anchor="t"/>
          <a:lstStyle/>
          <a:p>
            <a:pPr algn="l"/>
            <a:r>
              <a:rPr sz="1300" b="0" i="0">
                <a:solidFill>
                  <a:srgbClr val="475569"/>
                </a:solidFill>
                <a:latin typeface="Calibri"/>
              </a:rPr>
              <a:t>Strategy, analytics, unpublished plans, and partner data stay in authorized use.</a:t>
            </a:r>
          </a:p>
        </p:txBody>
      </p:sp>
      <p:sp>
        <p:nvSpPr>
          <p:cNvPr id="27" name="Rounded Rectangle 26"/>
          <p:cNvSpPr/>
          <p:nvPr/>
        </p:nvSpPr>
        <p:spPr>
          <a:xfrm>
            <a:off x="8101583" y="3593592"/>
            <a:ext cx="3703320" cy="2084831"/>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6175" y="3721608"/>
            <a:ext cx="3374136" cy="310896"/>
          </a:xfrm>
          <a:prstGeom prst="rect">
            <a:avLst/>
          </a:prstGeom>
          <a:noFill/>
        </p:spPr>
        <p:txBody>
          <a:bodyPr wrap="square" anchor="t"/>
          <a:lstStyle/>
          <a:p>
            <a:pPr algn="l"/>
            <a:r>
              <a:rPr sz="1500" b="1" i="0">
                <a:solidFill>
                  <a:srgbClr val="166534"/>
                </a:solidFill>
                <a:latin typeface="Calibri"/>
              </a:rPr>
              <a:t>Ask before you share</a:t>
            </a:r>
          </a:p>
        </p:txBody>
      </p:sp>
      <p:sp>
        <p:nvSpPr>
          <p:cNvPr id="29" name="TextBox 28"/>
          <p:cNvSpPr txBox="1"/>
          <p:nvPr/>
        </p:nvSpPr>
        <p:spPr>
          <a:xfrm>
            <a:off x="8266175" y="4032504"/>
            <a:ext cx="3374136" cy="1554479"/>
          </a:xfrm>
          <a:prstGeom prst="rect">
            <a:avLst/>
          </a:prstGeom>
          <a:noFill/>
        </p:spPr>
        <p:txBody>
          <a:bodyPr wrap="square" anchor="t"/>
          <a:lstStyle/>
          <a:p>
            <a:pPr algn="l"/>
            <a:r>
              <a:rPr sz="1300" b="0" i="0">
                <a:solidFill>
                  <a:srgbClr val="475569"/>
                </a:solidFill>
                <a:latin typeface="Calibri"/>
              </a:rPr>
              <a:t>If you are unsure a file can go in a portfolio or a class slide — email intern@sitguru.com first.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University requirements and support</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SitGuru runs the employer project. Your university controls academic credit.</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23</a:t>
            </a:r>
          </a:p>
        </p:txBody>
      </p:sp>
      <p:sp>
        <p:nvSpPr>
          <p:cNvPr id="12" name="Rounded Rectangle 11"/>
          <p:cNvSpPr/>
          <p:nvPr/>
        </p:nvSpPr>
        <p:spPr>
          <a:xfrm>
            <a:off x="384048" y="1353312"/>
            <a:ext cx="5742432" cy="4892040"/>
          </a:xfrm>
          <a:prstGeom prst="roundRect">
            <a:avLst>
              <a:gd name="adj" fmla="val 5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499616"/>
            <a:ext cx="5394960" cy="329184"/>
          </a:xfrm>
          <a:prstGeom prst="rect">
            <a:avLst/>
          </a:prstGeom>
          <a:noFill/>
        </p:spPr>
        <p:txBody>
          <a:bodyPr wrap="square" anchor="t"/>
          <a:lstStyle/>
          <a:p>
            <a:pPr algn="l"/>
            <a:r>
              <a:rPr sz="1800" b="1" i="0">
                <a:solidFill>
                  <a:srgbClr val="166534"/>
                </a:solidFill>
                <a:latin typeface="Calibri"/>
              </a:rPr>
              <a:t>Your academic snapshot</a:t>
            </a:r>
          </a:p>
        </p:txBody>
      </p:sp>
      <p:sp>
        <p:nvSpPr>
          <p:cNvPr id="14" name="TextBox 13"/>
          <p:cNvSpPr txBox="1"/>
          <p:nvPr/>
        </p:nvSpPr>
        <p:spPr>
          <a:xfrm>
            <a:off x="566928" y="1920240"/>
            <a:ext cx="5394960" cy="2194560"/>
          </a:xfrm>
          <a:prstGeom prst="rect">
            <a:avLst/>
          </a:prstGeom>
          <a:noFill/>
        </p:spPr>
        <p:txBody>
          <a:bodyPr wrap="square" anchor="t"/>
          <a:lstStyle/>
          <a:p>
            <a:pPr algn="l"/>
            <a:r>
              <a:rPr sz="1500" b="0" i="0">
                <a:solidFill>
                  <a:srgbClr val="475569"/>
                </a:solidFill>
                <a:latin typeface="Calibri"/>
              </a:rPr>
              <a:t>Your record may include university, campus, program, course, credits, required hours, faculty contacts, deadlines, and forms. Unknown values stay Pending until verified.</a:t>
            </a:r>
          </a:p>
        </p:txBody>
      </p:sp>
      <p:sp>
        <p:nvSpPr>
          <p:cNvPr id="15" name="TextBox 14"/>
          <p:cNvSpPr txBox="1"/>
          <p:nvPr/>
        </p:nvSpPr>
        <p:spPr>
          <a:xfrm>
            <a:off x="566928" y="4160520"/>
            <a:ext cx="5394960" cy="292608"/>
          </a:xfrm>
          <a:prstGeom prst="rect">
            <a:avLst/>
          </a:prstGeom>
          <a:noFill/>
        </p:spPr>
        <p:txBody>
          <a:bodyPr wrap="square" anchor="t"/>
          <a:lstStyle/>
          <a:p>
            <a:pPr algn="l"/>
            <a:r>
              <a:rPr sz="1500" b="1" i="0">
                <a:solidFill>
                  <a:srgbClr val="0F172A"/>
                </a:solidFill>
                <a:latin typeface="Calibri"/>
              </a:rPr>
              <a:t>Important</a:t>
            </a:r>
          </a:p>
        </p:txBody>
      </p:sp>
      <p:sp>
        <p:nvSpPr>
          <p:cNvPr id="16" name="TextBox 15"/>
          <p:cNvSpPr txBox="1"/>
          <p:nvPr/>
        </p:nvSpPr>
        <p:spPr>
          <a:xfrm>
            <a:off x="566928" y="4498848"/>
            <a:ext cx="5394960" cy="1463040"/>
          </a:xfrm>
          <a:prstGeom prst="rect">
            <a:avLst/>
          </a:prstGeom>
          <a:noFill/>
        </p:spPr>
        <p:txBody>
          <a:bodyPr wrap="square" anchor="t"/>
          <a:lstStyle/>
          <a:p>
            <a:pPr algn="l"/>
            <a:r>
              <a:rPr sz="1400" b="0" i="0">
                <a:solidFill>
                  <a:srgbClr val="475569"/>
                </a:solidFill>
                <a:latin typeface="Calibri"/>
              </a:rPr>
              <a:t>SitGuru does not award academic credit or set your university grade. SitGuru provides supervision, employer documentation, verified hours, and evaluations the approved program needs.</a:t>
            </a:r>
          </a:p>
        </p:txBody>
      </p:sp>
      <p:sp>
        <p:nvSpPr>
          <p:cNvPr id="17" name="Rounded Rectangle 16"/>
          <p:cNvSpPr/>
          <p:nvPr/>
        </p:nvSpPr>
        <p:spPr>
          <a:xfrm>
            <a:off x="6309360" y="1353312"/>
            <a:ext cx="5440680" cy="886968"/>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1481328"/>
            <a:ext cx="5111496" cy="310896"/>
          </a:xfrm>
          <a:prstGeom prst="rect">
            <a:avLst/>
          </a:prstGeom>
          <a:noFill/>
        </p:spPr>
        <p:txBody>
          <a:bodyPr wrap="square" anchor="t"/>
          <a:lstStyle/>
          <a:p>
            <a:pPr algn="l"/>
            <a:r>
              <a:rPr sz="1500" b="1" i="0">
                <a:solidFill>
                  <a:srgbClr val="166534"/>
                </a:solidFill>
                <a:latin typeface="Calibri"/>
              </a:rPr>
              <a:t>Intern Help</a:t>
            </a:r>
          </a:p>
        </p:txBody>
      </p:sp>
      <p:sp>
        <p:nvSpPr>
          <p:cNvPr id="19" name="TextBox 18"/>
          <p:cNvSpPr txBox="1"/>
          <p:nvPr/>
        </p:nvSpPr>
        <p:spPr>
          <a:xfrm>
            <a:off x="6473952" y="1792224"/>
            <a:ext cx="5111496" cy="356616"/>
          </a:xfrm>
          <a:prstGeom prst="rect">
            <a:avLst/>
          </a:prstGeom>
          <a:noFill/>
        </p:spPr>
        <p:txBody>
          <a:bodyPr wrap="square" anchor="t"/>
          <a:lstStyle/>
          <a:p>
            <a:pPr algn="l"/>
            <a:r>
              <a:rPr sz="1300" b="0" i="0">
                <a:solidFill>
                  <a:srgbClr val="475569"/>
                </a:solidFill>
                <a:latin typeface="Calibri"/>
              </a:rPr>
              <a:t>sitguru.com/intern/help</a:t>
            </a:r>
          </a:p>
        </p:txBody>
      </p:sp>
      <p:sp>
        <p:nvSpPr>
          <p:cNvPr id="20" name="Rounded Rectangle 19"/>
          <p:cNvSpPr/>
          <p:nvPr/>
        </p:nvSpPr>
        <p:spPr>
          <a:xfrm>
            <a:off x="6309360" y="2331720"/>
            <a:ext cx="5440680" cy="886968"/>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2459736"/>
            <a:ext cx="5111496" cy="310896"/>
          </a:xfrm>
          <a:prstGeom prst="rect">
            <a:avLst/>
          </a:prstGeom>
          <a:noFill/>
        </p:spPr>
        <p:txBody>
          <a:bodyPr wrap="square" anchor="t"/>
          <a:lstStyle/>
          <a:p>
            <a:pPr algn="l"/>
            <a:r>
              <a:rPr sz="1500" b="1" i="0">
                <a:solidFill>
                  <a:srgbClr val="166534"/>
                </a:solidFill>
                <a:latin typeface="Calibri"/>
              </a:rPr>
              <a:t>Intern portal</a:t>
            </a:r>
          </a:p>
        </p:txBody>
      </p:sp>
      <p:sp>
        <p:nvSpPr>
          <p:cNvPr id="22" name="TextBox 21"/>
          <p:cNvSpPr txBox="1"/>
          <p:nvPr/>
        </p:nvSpPr>
        <p:spPr>
          <a:xfrm>
            <a:off x="6473952" y="2770632"/>
            <a:ext cx="5111496" cy="356616"/>
          </a:xfrm>
          <a:prstGeom prst="rect">
            <a:avLst/>
          </a:prstGeom>
          <a:noFill/>
        </p:spPr>
        <p:txBody>
          <a:bodyPr wrap="square" anchor="t"/>
          <a:lstStyle/>
          <a:p>
            <a:pPr algn="l"/>
            <a:r>
              <a:rPr sz="1300" b="0" i="0">
                <a:solidFill>
                  <a:srgbClr val="475569"/>
                </a:solidFill>
                <a:latin typeface="Calibri"/>
              </a:rPr>
              <a:t>sitguru.com/intern</a:t>
            </a:r>
          </a:p>
        </p:txBody>
      </p:sp>
      <p:sp>
        <p:nvSpPr>
          <p:cNvPr id="23" name="Rounded Rectangle 22"/>
          <p:cNvSpPr/>
          <p:nvPr/>
        </p:nvSpPr>
        <p:spPr>
          <a:xfrm>
            <a:off x="6309360" y="3310128"/>
            <a:ext cx="5440680" cy="886968"/>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2" y="3438144"/>
            <a:ext cx="5111496" cy="310896"/>
          </a:xfrm>
          <a:prstGeom prst="rect">
            <a:avLst/>
          </a:prstGeom>
          <a:noFill/>
        </p:spPr>
        <p:txBody>
          <a:bodyPr wrap="square" anchor="t"/>
          <a:lstStyle/>
          <a:p>
            <a:pPr algn="l"/>
            <a:r>
              <a:rPr sz="1500" b="1" i="0">
                <a:solidFill>
                  <a:srgbClr val="166534"/>
                </a:solidFill>
                <a:latin typeface="Calibri"/>
              </a:rPr>
              <a:t>Intern inbox</a:t>
            </a:r>
          </a:p>
        </p:txBody>
      </p:sp>
      <p:sp>
        <p:nvSpPr>
          <p:cNvPr id="25" name="TextBox 24"/>
          <p:cNvSpPr txBox="1"/>
          <p:nvPr/>
        </p:nvSpPr>
        <p:spPr>
          <a:xfrm>
            <a:off x="6473952" y="3749039"/>
            <a:ext cx="5111496" cy="356616"/>
          </a:xfrm>
          <a:prstGeom prst="rect">
            <a:avLst/>
          </a:prstGeom>
          <a:noFill/>
        </p:spPr>
        <p:txBody>
          <a:bodyPr wrap="square" anchor="t"/>
          <a:lstStyle/>
          <a:p>
            <a:pPr algn="l"/>
            <a:r>
              <a:rPr sz="1300" b="0" i="0">
                <a:solidFill>
                  <a:srgbClr val="475569"/>
                </a:solidFill>
                <a:latin typeface="Calibri"/>
              </a:rPr>
              <a:t>intern@sitguru.com</a:t>
            </a:r>
          </a:p>
        </p:txBody>
      </p:sp>
      <p:sp>
        <p:nvSpPr>
          <p:cNvPr id="26" name="Rounded Rectangle 25"/>
          <p:cNvSpPr/>
          <p:nvPr/>
        </p:nvSpPr>
        <p:spPr>
          <a:xfrm>
            <a:off x="6309360" y="4288536"/>
            <a:ext cx="5440680" cy="886968"/>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16551"/>
            <a:ext cx="5111496" cy="310896"/>
          </a:xfrm>
          <a:prstGeom prst="rect">
            <a:avLst/>
          </a:prstGeom>
          <a:noFill/>
        </p:spPr>
        <p:txBody>
          <a:bodyPr wrap="square" anchor="t"/>
          <a:lstStyle/>
          <a:p>
            <a:pPr algn="l"/>
            <a:r>
              <a:rPr sz="1500" b="1" i="0">
                <a:solidFill>
                  <a:srgbClr val="166534"/>
                </a:solidFill>
                <a:latin typeface="Calibri"/>
              </a:rPr>
              <a:t>Product / payouts</a:t>
            </a:r>
          </a:p>
        </p:txBody>
      </p:sp>
      <p:sp>
        <p:nvSpPr>
          <p:cNvPr id="28" name="TextBox 27"/>
          <p:cNvSpPr txBox="1"/>
          <p:nvPr/>
        </p:nvSpPr>
        <p:spPr>
          <a:xfrm>
            <a:off x="6473952" y="4727448"/>
            <a:ext cx="5111496" cy="356616"/>
          </a:xfrm>
          <a:prstGeom prst="rect">
            <a:avLst/>
          </a:prstGeom>
          <a:noFill/>
        </p:spPr>
        <p:txBody>
          <a:bodyPr wrap="square" anchor="t"/>
          <a:lstStyle/>
          <a:p>
            <a:pPr algn="l"/>
            <a:r>
              <a:rPr sz="1300" b="0" i="0">
                <a:solidFill>
                  <a:srgbClr val="475569"/>
                </a:solidFill>
                <a:latin typeface="Calibri"/>
              </a:rPr>
              <a:t>support@sitguru.com</a:t>
            </a:r>
          </a:p>
        </p:txBody>
      </p:sp>
      <p:sp>
        <p:nvSpPr>
          <p:cNvPr id="29" name="Rounded Rectangle 28"/>
          <p:cNvSpPr/>
          <p:nvPr/>
        </p:nvSpPr>
        <p:spPr>
          <a:xfrm>
            <a:off x="6309360" y="5266944"/>
            <a:ext cx="5440680" cy="886968"/>
          </a:xfrm>
          <a:prstGeom prst="roundRect">
            <a:avLst>
              <a:gd name="adj" fmla="val 8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2" y="5394959"/>
            <a:ext cx="5111496" cy="310896"/>
          </a:xfrm>
          <a:prstGeom prst="rect">
            <a:avLst/>
          </a:prstGeom>
          <a:noFill/>
        </p:spPr>
        <p:txBody>
          <a:bodyPr wrap="square" anchor="t"/>
          <a:lstStyle/>
          <a:p>
            <a:pPr algn="l"/>
            <a:r>
              <a:rPr sz="1500" b="1" i="0">
                <a:solidFill>
                  <a:srgbClr val="166534"/>
                </a:solidFill>
                <a:latin typeface="Calibri"/>
              </a:rPr>
              <a:t>Weekly check-in</a:t>
            </a:r>
          </a:p>
        </p:txBody>
      </p:sp>
      <p:sp>
        <p:nvSpPr>
          <p:cNvPr id="31" name="TextBox 30"/>
          <p:cNvSpPr txBox="1"/>
          <p:nvPr/>
        </p:nvSpPr>
        <p:spPr>
          <a:xfrm>
            <a:off x="6473952" y="5705856"/>
            <a:ext cx="5111496" cy="356616"/>
          </a:xfrm>
          <a:prstGeom prst="rect">
            <a:avLst/>
          </a:prstGeom>
          <a:noFill/>
        </p:spPr>
        <p:txBody>
          <a:bodyPr wrap="square" anchor="t"/>
          <a:lstStyle/>
          <a:p>
            <a:pPr algn="l"/>
            <a:r>
              <a:rPr sz="1300" b="0" i="0">
                <a:solidFill>
                  <a:srgbClr val="475569"/>
                </a:solidFill>
                <a:latin typeface="Calibri"/>
              </a:rPr>
              <a:t>Decisions, roadblocks, KPI review, feedback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i="0">
                <a:solidFill>
                  <a:srgbClr val="FFFFFF"/>
                </a:solidFill>
                <a:latin typeface="Calibri"/>
              </a:rPr>
              <a:t>Your first seven days</a:t>
            </a:r>
          </a:p>
        </p:txBody>
      </p:sp>
      <p:sp>
        <p:nvSpPr>
          <p:cNvPr id="6" name="TextBox 5"/>
          <p:cNvSpPr txBox="1"/>
          <p:nvPr/>
        </p:nvSpPr>
        <p:spPr>
          <a:xfrm>
            <a:off x="384048" y="621792"/>
            <a:ext cx="9692640" cy="347472"/>
          </a:xfrm>
          <a:prstGeom prst="rect">
            <a:avLst/>
          </a:prstGeom>
          <a:noFill/>
        </p:spPr>
        <p:txBody>
          <a:bodyPr wrap="square" anchor="t"/>
          <a:lstStyle/>
          <a:p>
            <a:pPr algn="l"/>
            <a:r>
              <a:rPr sz="1300" b="0" i="0">
                <a:solidFill>
                  <a:srgbClr val="CFE6D5"/>
                </a:solidFill>
                <a:latin typeface="Calibri"/>
              </a:rPr>
              <a:t>Finish inprocessing, understand the business, and start the baseline</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tguru-symbol-green.jpg"/>
          <p:cNvPicPr>
            <a:picLocks noChangeAspect="1"/>
          </p:cNvPicPr>
          <p:nvPr/>
        </p:nvPicPr>
        <p:blipFill>
          <a:blip r:embed="rId2"/>
          <a:stretch>
            <a:fillRect/>
          </a:stretch>
        </p:blipFill>
        <p:spPr>
          <a:xfrm>
            <a:off x="10808208" y="256032"/>
            <a:ext cx="768096" cy="566928"/>
          </a:xfrm>
          <a:prstGeom prst="rect">
            <a:avLst/>
          </a:prstGeom>
        </p:spPr>
      </p:pic>
      <p:sp>
        <p:nvSpPr>
          <p:cNvPr id="9" name="Rectangle 8"/>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547104"/>
            <a:ext cx="10515600" cy="274320"/>
          </a:xfrm>
          <a:prstGeom prst="rect">
            <a:avLst/>
          </a:prstGeom>
          <a:noFill/>
        </p:spPr>
        <p:txBody>
          <a:bodyPr wrap="square" anchor="ctr"/>
          <a:lstStyle/>
          <a:p>
            <a:pPr algn="l"/>
            <a:r>
              <a:rPr sz="800" b="0" i="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1" name="TextBox 10"/>
          <p:cNvSpPr txBox="1"/>
          <p:nvPr/>
        </p:nvSpPr>
        <p:spPr>
          <a:xfrm>
            <a:off x="10927080" y="6547104"/>
            <a:ext cx="914400" cy="274320"/>
          </a:xfrm>
          <a:prstGeom prst="rect">
            <a:avLst/>
          </a:prstGeom>
          <a:noFill/>
        </p:spPr>
        <p:txBody>
          <a:bodyPr wrap="square" anchor="ctr"/>
          <a:lstStyle/>
          <a:p>
            <a:pPr algn="r"/>
            <a:r>
              <a:rPr sz="1000" b="1" i="0">
                <a:solidFill>
                  <a:srgbClr val="166534"/>
                </a:solidFill>
                <a:latin typeface="Calibri"/>
              </a:rPr>
              <a:t>24</a:t>
            </a:r>
          </a:p>
        </p:txBody>
      </p:sp>
      <p:sp>
        <p:nvSpPr>
          <p:cNvPr id="12" name="Rounded Rectangle 11"/>
          <p:cNvSpPr/>
          <p:nvPr/>
        </p:nvSpPr>
        <p:spPr>
          <a:xfrm>
            <a:off x="384048" y="1335024"/>
            <a:ext cx="5742432" cy="969264"/>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12064" y="1627632"/>
            <a:ext cx="365760" cy="36576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 y="1664207"/>
            <a:ext cx="365760" cy="292608"/>
          </a:xfrm>
          <a:prstGeom prst="rect">
            <a:avLst/>
          </a:prstGeom>
          <a:noFill/>
        </p:spPr>
        <p:txBody>
          <a:bodyPr wrap="square" anchor="t"/>
          <a:lstStyle/>
          <a:p>
            <a:pPr algn="ctr"/>
            <a:r>
              <a:rPr sz="1400" b="1" i="0">
                <a:solidFill>
                  <a:srgbClr val="FFFFFF"/>
                </a:solidFill>
                <a:latin typeface="Calibri"/>
              </a:rPr>
              <a:t>1</a:t>
            </a:r>
          </a:p>
        </p:txBody>
      </p:sp>
      <p:sp>
        <p:nvSpPr>
          <p:cNvPr id="15" name="TextBox 14"/>
          <p:cNvSpPr txBox="1"/>
          <p:nvPr/>
        </p:nvSpPr>
        <p:spPr>
          <a:xfrm>
            <a:off x="987552" y="1536192"/>
            <a:ext cx="4983480" cy="621792"/>
          </a:xfrm>
          <a:prstGeom prst="rect">
            <a:avLst/>
          </a:prstGeom>
          <a:noFill/>
        </p:spPr>
        <p:txBody>
          <a:bodyPr wrap="square" anchor="t"/>
          <a:lstStyle/>
          <a:p>
            <a:pPr algn="l"/>
            <a:r>
              <a:rPr sz="1400" b="0" i="0">
                <a:solidFill>
                  <a:srgbClr val="0F172A"/>
                </a:solidFill>
                <a:latin typeface="Calibri"/>
              </a:rPr>
              <a:t>Log in at sitguru.com/intern and finish Your page.</a:t>
            </a:r>
          </a:p>
        </p:txBody>
      </p:sp>
      <p:sp>
        <p:nvSpPr>
          <p:cNvPr id="16" name="Rounded Rectangle 15"/>
          <p:cNvSpPr/>
          <p:nvPr/>
        </p:nvSpPr>
        <p:spPr>
          <a:xfrm>
            <a:off x="6281928" y="1335024"/>
            <a:ext cx="5742432" cy="969264"/>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9944" y="1627632"/>
            <a:ext cx="365760" cy="36576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9944" y="1664207"/>
            <a:ext cx="365760" cy="292608"/>
          </a:xfrm>
          <a:prstGeom prst="rect">
            <a:avLst/>
          </a:prstGeom>
          <a:noFill/>
        </p:spPr>
        <p:txBody>
          <a:bodyPr wrap="square" anchor="t"/>
          <a:lstStyle/>
          <a:p>
            <a:pPr algn="ctr"/>
            <a:r>
              <a:rPr sz="1400" b="1" i="0">
                <a:solidFill>
                  <a:srgbClr val="FFFFFF"/>
                </a:solidFill>
                <a:latin typeface="Calibri"/>
              </a:rPr>
              <a:t>3</a:t>
            </a:r>
          </a:p>
        </p:txBody>
      </p:sp>
      <p:sp>
        <p:nvSpPr>
          <p:cNvPr id="19" name="TextBox 18"/>
          <p:cNvSpPr txBox="1"/>
          <p:nvPr/>
        </p:nvSpPr>
        <p:spPr>
          <a:xfrm>
            <a:off x="6885432" y="1536192"/>
            <a:ext cx="4983480" cy="621792"/>
          </a:xfrm>
          <a:prstGeom prst="rect">
            <a:avLst/>
          </a:prstGeom>
          <a:noFill/>
        </p:spPr>
        <p:txBody>
          <a:bodyPr wrap="square" anchor="t"/>
          <a:lstStyle/>
          <a:p>
            <a:pPr algn="l"/>
            <a:r>
              <a:rPr sz="1400" b="0" i="0">
                <a:solidFill>
                  <a:srgbClr val="0F172A"/>
                </a:solidFill>
                <a:latin typeface="Calibri"/>
              </a:rPr>
              <a:t>Complete the four onboarding steps (agreement + print-sign-upload + submit).</a:t>
            </a:r>
          </a:p>
        </p:txBody>
      </p:sp>
      <p:sp>
        <p:nvSpPr>
          <p:cNvPr id="20" name="Rounded Rectangle 19"/>
          <p:cNvSpPr/>
          <p:nvPr/>
        </p:nvSpPr>
        <p:spPr>
          <a:xfrm>
            <a:off x="384048" y="2414015"/>
            <a:ext cx="5742432" cy="969264"/>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12064" y="2706623"/>
            <a:ext cx="365760" cy="36576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 y="2743199"/>
            <a:ext cx="365760" cy="292608"/>
          </a:xfrm>
          <a:prstGeom prst="rect">
            <a:avLst/>
          </a:prstGeom>
          <a:noFill/>
        </p:spPr>
        <p:txBody>
          <a:bodyPr wrap="square" anchor="t"/>
          <a:lstStyle/>
          <a:p>
            <a:pPr algn="ctr"/>
            <a:r>
              <a:rPr sz="1400" b="1" i="0">
                <a:solidFill>
                  <a:srgbClr val="FFFFFF"/>
                </a:solidFill>
                <a:latin typeface="Calibri"/>
              </a:rPr>
              <a:t>4</a:t>
            </a:r>
          </a:p>
        </p:txBody>
      </p:sp>
      <p:sp>
        <p:nvSpPr>
          <p:cNvPr id="23" name="TextBox 22"/>
          <p:cNvSpPr txBox="1"/>
          <p:nvPr/>
        </p:nvSpPr>
        <p:spPr>
          <a:xfrm>
            <a:off x="987552" y="2615184"/>
            <a:ext cx="4983480" cy="621792"/>
          </a:xfrm>
          <a:prstGeom prst="rect">
            <a:avLst/>
          </a:prstGeom>
          <a:noFill/>
        </p:spPr>
        <p:txBody>
          <a:bodyPr wrap="square" anchor="t"/>
          <a:lstStyle/>
          <a:p>
            <a:pPr algn="l"/>
            <a:r>
              <a:rPr sz="1400" b="0" i="0">
                <a:solidFill>
                  <a:srgbClr val="0F172A"/>
                </a:solidFill>
                <a:latin typeface="Calibri"/>
              </a:rPr>
              <a:t>Read intern Help and this Onboarding &amp; Inprocessing deck.</a:t>
            </a:r>
          </a:p>
        </p:txBody>
      </p:sp>
      <p:sp>
        <p:nvSpPr>
          <p:cNvPr id="24" name="Rounded Rectangle 23"/>
          <p:cNvSpPr/>
          <p:nvPr/>
        </p:nvSpPr>
        <p:spPr>
          <a:xfrm>
            <a:off x="6281928" y="2414015"/>
            <a:ext cx="5742432" cy="969264"/>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09944" y="2706623"/>
            <a:ext cx="365760" cy="36576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2743199"/>
            <a:ext cx="365760" cy="292608"/>
          </a:xfrm>
          <a:prstGeom prst="rect">
            <a:avLst/>
          </a:prstGeom>
          <a:noFill/>
        </p:spPr>
        <p:txBody>
          <a:bodyPr wrap="square" anchor="t"/>
          <a:lstStyle/>
          <a:p>
            <a:pPr algn="ctr"/>
            <a:r>
              <a:rPr sz="1400" b="1" i="0">
                <a:solidFill>
                  <a:srgbClr val="FFFFFF"/>
                </a:solidFill>
                <a:latin typeface="Calibri"/>
              </a:rPr>
              <a:t>5</a:t>
            </a:r>
          </a:p>
        </p:txBody>
      </p:sp>
      <p:sp>
        <p:nvSpPr>
          <p:cNvPr id="27" name="TextBox 26"/>
          <p:cNvSpPr txBox="1"/>
          <p:nvPr/>
        </p:nvSpPr>
        <p:spPr>
          <a:xfrm>
            <a:off x="6885432" y="2615184"/>
            <a:ext cx="4983480" cy="621792"/>
          </a:xfrm>
          <a:prstGeom prst="rect">
            <a:avLst/>
          </a:prstGeom>
          <a:noFill/>
        </p:spPr>
        <p:txBody>
          <a:bodyPr wrap="square" anchor="t"/>
          <a:lstStyle/>
          <a:p>
            <a:pPr algn="l"/>
            <a:r>
              <a:rPr sz="1400" b="0" i="0">
                <a:solidFill>
                  <a:srgbClr val="0F172A"/>
                </a:solidFill>
                <a:latin typeface="Calibri"/>
              </a:rPr>
              <a:t>Confirm school hours and your assigned Market Growth Project.</a:t>
            </a:r>
          </a:p>
        </p:txBody>
      </p:sp>
      <p:sp>
        <p:nvSpPr>
          <p:cNvPr id="28" name="Rounded Rectangle 27"/>
          <p:cNvSpPr/>
          <p:nvPr/>
        </p:nvSpPr>
        <p:spPr>
          <a:xfrm>
            <a:off x="384048" y="3493008"/>
            <a:ext cx="5742432" cy="969264"/>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12064" y="3785615"/>
            <a:ext cx="365760" cy="36576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2064" y="3822191"/>
            <a:ext cx="365760" cy="292608"/>
          </a:xfrm>
          <a:prstGeom prst="rect">
            <a:avLst/>
          </a:prstGeom>
          <a:noFill/>
        </p:spPr>
        <p:txBody>
          <a:bodyPr wrap="square" anchor="t"/>
          <a:lstStyle/>
          <a:p>
            <a:pPr algn="ctr"/>
            <a:r>
              <a:rPr sz="1400" b="1" i="0">
                <a:solidFill>
                  <a:srgbClr val="FFFFFF"/>
                </a:solidFill>
                <a:latin typeface="Calibri"/>
              </a:rPr>
              <a:t>6</a:t>
            </a:r>
          </a:p>
        </p:txBody>
      </p:sp>
      <p:sp>
        <p:nvSpPr>
          <p:cNvPr id="31" name="TextBox 30"/>
          <p:cNvSpPr txBox="1"/>
          <p:nvPr/>
        </p:nvSpPr>
        <p:spPr>
          <a:xfrm>
            <a:off x="987552" y="3694176"/>
            <a:ext cx="4983480" cy="621792"/>
          </a:xfrm>
          <a:prstGeom prst="rect">
            <a:avLst/>
          </a:prstGeom>
          <a:noFill/>
        </p:spPr>
        <p:txBody>
          <a:bodyPr wrap="square" anchor="t"/>
          <a:lstStyle/>
          <a:p>
            <a:pPr algn="l"/>
            <a:r>
              <a:rPr sz="1400" b="0" i="0">
                <a:solidFill>
                  <a:srgbClr val="0F172A"/>
                </a:solidFill>
                <a:latin typeface="Calibri"/>
              </a:rPr>
              <a:t>Download the brand kit. Copy #166534. Upload a practice file if SitGuru asked.</a:t>
            </a:r>
          </a:p>
        </p:txBody>
      </p:sp>
      <p:sp>
        <p:nvSpPr>
          <p:cNvPr id="32" name="Rounded Rectangle 31"/>
          <p:cNvSpPr/>
          <p:nvPr/>
        </p:nvSpPr>
        <p:spPr>
          <a:xfrm>
            <a:off x="6281928" y="3493008"/>
            <a:ext cx="5742432" cy="969264"/>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09944" y="3785615"/>
            <a:ext cx="365760" cy="36576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9944" y="3822191"/>
            <a:ext cx="365760" cy="292608"/>
          </a:xfrm>
          <a:prstGeom prst="rect">
            <a:avLst/>
          </a:prstGeom>
          <a:noFill/>
        </p:spPr>
        <p:txBody>
          <a:bodyPr wrap="square" anchor="t"/>
          <a:lstStyle/>
          <a:p>
            <a:pPr algn="ctr"/>
            <a:r>
              <a:rPr sz="1400" b="1" i="0">
                <a:solidFill>
                  <a:srgbClr val="FFFFFF"/>
                </a:solidFill>
                <a:latin typeface="Calibri"/>
              </a:rPr>
              <a:t>7</a:t>
            </a:r>
          </a:p>
        </p:txBody>
      </p:sp>
      <p:sp>
        <p:nvSpPr>
          <p:cNvPr id="35" name="TextBox 34"/>
          <p:cNvSpPr txBox="1"/>
          <p:nvPr/>
        </p:nvSpPr>
        <p:spPr>
          <a:xfrm>
            <a:off x="6885432" y="3694176"/>
            <a:ext cx="4983480" cy="621792"/>
          </a:xfrm>
          <a:prstGeom prst="rect">
            <a:avLst/>
          </a:prstGeom>
          <a:noFill/>
        </p:spPr>
        <p:txBody>
          <a:bodyPr wrap="square" anchor="t"/>
          <a:lstStyle/>
          <a:p>
            <a:pPr algn="l"/>
            <a:r>
              <a:rPr sz="1400" b="0" i="0">
                <a:solidFill>
                  <a:srgbClr val="0F172A"/>
                </a:solidFill>
                <a:latin typeface="Calibri"/>
              </a:rPr>
              <a:t>Create your first tracking campaign. Do not post a bare homepage URL.</a:t>
            </a:r>
          </a:p>
        </p:txBody>
      </p:sp>
      <p:sp>
        <p:nvSpPr>
          <p:cNvPr id="36" name="Rounded Rectangle 35"/>
          <p:cNvSpPr/>
          <p:nvPr/>
        </p:nvSpPr>
        <p:spPr>
          <a:xfrm>
            <a:off x="384048" y="4572000"/>
            <a:ext cx="5742432" cy="969264"/>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12064" y="4864608"/>
            <a:ext cx="365760" cy="36576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 y="4901184"/>
            <a:ext cx="365760" cy="292608"/>
          </a:xfrm>
          <a:prstGeom prst="rect">
            <a:avLst/>
          </a:prstGeom>
          <a:noFill/>
        </p:spPr>
        <p:txBody>
          <a:bodyPr wrap="square" anchor="t"/>
          <a:lstStyle/>
          <a:p>
            <a:pPr algn="ctr"/>
            <a:r>
              <a:rPr sz="1400" b="1" i="0">
                <a:solidFill>
                  <a:srgbClr val="FFFFFF"/>
                </a:solidFill>
                <a:latin typeface="Calibri"/>
              </a:rPr>
              <a:t>8</a:t>
            </a:r>
          </a:p>
        </p:txBody>
      </p:sp>
      <p:sp>
        <p:nvSpPr>
          <p:cNvPr id="39" name="TextBox 38"/>
          <p:cNvSpPr txBox="1"/>
          <p:nvPr/>
        </p:nvSpPr>
        <p:spPr>
          <a:xfrm>
            <a:off x="987552" y="4773168"/>
            <a:ext cx="4983480" cy="621792"/>
          </a:xfrm>
          <a:prstGeom prst="rect">
            <a:avLst/>
          </a:prstGeom>
          <a:noFill/>
        </p:spPr>
        <p:txBody>
          <a:bodyPr wrap="square" anchor="t"/>
          <a:lstStyle/>
          <a:p>
            <a:pPr algn="l"/>
            <a:r>
              <a:rPr sz="1400" b="0" i="0">
                <a:solidFill>
                  <a:srgbClr val="0F172A"/>
                </a:solidFill>
                <a:latin typeface="Calibri"/>
              </a:rPr>
              <a:t>Start the Baseline &amp; Growth Brief: written brief + PPT + evidence.</a:t>
            </a:r>
          </a:p>
        </p:txBody>
      </p:sp>
      <p:sp>
        <p:nvSpPr>
          <p:cNvPr id="40" name="Rounded Rectangle 39"/>
          <p:cNvSpPr/>
          <p:nvPr/>
        </p:nvSpPr>
        <p:spPr>
          <a:xfrm>
            <a:off x="6281928" y="4572000"/>
            <a:ext cx="5742432" cy="969264"/>
          </a:xfrm>
          <a:prstGeom prst="roundRect">
            <a:avLst>
              <a:gd name="adj" fmla="val 12000"/>
            </a:avLst>
          </a:prstGeom>
          <a:solidFill>
            <a:srgbClr val="FFFFFF"/>
          </a:solidFill>
          <a:ln w="12700">
            <a:solidFill>
              <a:srgbClr val="CFE6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409944" y="4864608"/>
            <a:ext cx="365760" cy="36576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9944" y="4901184"/>
            <a:ext cx="365760" cy="292608"/>
          </a:xfrm>
          <a:prstGeom prst="rect">
            <a:avLst/>
          </a:prstGeom>
          <a:noFill/>
        </p:spPr>
        <p:txBody>
          <a:bodyPr wrap="square" anchor="t"/>
          <a:lstStyle/>
          <a:p>
            <a:pPr algn="ctr"/>
            <a:r>
              <a:rPr sz="1400" b="1" i="0">
                <a:solidFill>
                  <a:srgbClr val="FFFFFF"/>
                </a:solidFill>
                <a:latin typeface="Calibri"/>
              </a:rPr>
              <a:t>9</a:t>
            </a:r>
          </a:p>
        </p:txBody>
      </p:sp>
      <p:sp>
        <p:nvSpPr>
          <p:cNvPr id="43" name="TextBox 42"/>
          <p:cNvSpPr txBox="1"/>
          <p:nvPr/>
        </p:nvSpPr>
        <p:spPr>
          <a:xfrm>
            <a:off x="6885432" y="4773168"/>
            <a:ext cx="4983480" cy="621792"/>
          </a:xfrm>
          <a:prstGeom prst="rect">
            <a:avLst/>
          </a:prstGeom>
          <a:noFill/>
        </p:spPr>
        <p:txBody>
          <a:bodyPr wrap="square" anchor="t"/>
          <a:lstStyle/>
          <a:p>
            <a:pPr algn="l"/>
            <a:r>
              <a:rPr sz="1400" b="0" i="0">
                <a:solidFill>
                  <a:srgbClr val="0F172A"/>
                </a:solidFill>
                <a:latin typeface="Calibri"/>
              </a:rPr>
              <a:t>Attend your first SitGuru check-in with real questions.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47472"/>
            <a:ext cx="1965960" cy="960120"/>
          </a:xfrm>
          <a:prstGeom prst="roundRect">
            <a:avLst>
              <a:gd name="adj" fmla="val 1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itguru-logo-horizontal.jpg"/>
          <p:cNvPicPr>
            <a:picLocks noChangeAspect="1"/>
          </p:cNvPicPr>
          <p:nvPr/>
        </p:nvPicPr>
        <p:blipFill>
          <a:blip r:embed="rId2"/>
          <a:stretch>
            <a:fillRect/>
          </a:stretch>
        </p:blipFill>
        <p:spPr>
          <a:xfrm>
            <a:off x="621792" y="493776"/>
            <a:ext cx="1737360" cy="658368"/>
          </a:xfrm>
          <a:prstGeom prst="rect">
            <a:avLst/>
          </a:prstGeom>
        </p:spPr>
      </p:pic>
      <p:sp>
        <p:nvSpPr>
          <p:cNvPr id="6" name="TextBox 5"/>
          <p:cNvSpPr txBox="1"/>
          <p:nvPr/>
        </p:nvSpPr>
        <p:spPr>
          <a:xfrm>
            <a:off x="502920" y="1554480"/>
            <a:ext cx="7680960" cy="292608"/>
          </a:xfrm>
          <a:prstGeom prst="rect">
            <a:avLst/>
          </a:prstGeom>
          <a:noFill/>
        </p:spPr>
        <p:txBody>
          <a:bodyPr wrap="square" anchor="t"/>
          <a:lstStyle/>
          <a:p>
            <a:pPr algn="l"/>
            <a:r>
              <a:rPr sz="1300" b="1" i="0">
                <a:solidFill>
                  <a:srgbClr val="CFE6D5"/>
                </a:solidFill>
                <a:latin typeface="Calibri"/>
              </a:rPr>
              <a:t>SPRING 2027  ·  SOCIAL MEDIA &amp; COMMUNITY GROWTH</a:t>
            </a:r>
          </a:p>
        </p:txBody>
      </p:sp>
      <p:sp>
        <p:nvSpPr>
          <p:cNvPr id="7" name="TextBox 6"/>
          <p:cNvSpPr txBox="1"/>
          <p:nvPr/>
        </p:nvSpPr>
        <p:spPr>
          <a:xfrm>
            <a:off x="502920" y="1920240"/>
            <a:ext cx="7863840" cy="1554480"/>
          </a:xfrm>
          <a:prstGeom prst="rect">
            <a:avLst/>
          </a:prstGeom>
          <a:noFill/>
        </p:spPr>
        <p:txBody>
          <a:bodyPr wrap="square" anchor="t"/>
          <a:lstStyle/>
          <a:p>
            <a:pPr algn="l"/>
            <a:r>
              <a:rPr sz="3200" b="1" i="0">
                <a:solidFill>
                  <a:srgbClr val="FFFFFF"/>
                </a:solidFill>
                <a:latin typeface="Calibri"/>
              </a:rPr>
              <a:t>Bring curiosity.
Be reliable.
Use the data.
Ask good questions.</a:t>
            </a:r>
          </a:p>
        </p:txBody>
      </p:sp>
      <p:sp>
        <p:nvSpPr>
          <p:cNvPr id="8" name="TextBox 7"/>
          <p:cNvSpPr txBox="1"/>
          <p:nvPr/>
        </p:nvSpPr>
        <p:spPr>
          <a:xfrm>
            <a:off x="502920" y="4160520"/>
            <a:ext cx="7680960" cy="1051560"/>
          </a:xfrm>
          <a:prstGeom prst="rect">
            <a:avLst/>
          </a:prstGeom>
          <a:noFill/>
        </p:spPr>
        <p:txBody>
          <a:bodyPr wrap="square" anchor="t"/>
          <a:lstStyle/>
          <a:p>
            <a:pPr algn="l"/>
            <a:r>
              <a:rPr sz="1600" b="0" i="0">
                <a:solidFill>
                  <a:srgbClr val="FFFFFF"/>
                </a:solidFill>
                <a:latin typeface="Calibri"/>
              </a:rPr>
              <a:t>Leave SitGuru better than you found it. Bookings stay on SitGuru. Help lives at sitguru.com/intern/help. Write intern@sitguru.com when you are stuck.</a:t>
            </a:r>
          </a:p>
        </p:txBody>
      </p:sp>
      <p:sp>
        <p:nvSpPr>
          <p:cNvPr id="9" name="TextBox 8"/>
          <p:cNvSpPr txBox="1"/>
          <p:nvPr/>
        </p:nvSpPr>
        <p:spPr>
          <a:xfrm>
            <a:off x="502920" y="5349240"/>
            <a:ext cx="7680960" cy="365760"/>
          </a:xfrm>
          <a:prstGeom prst="rect">
            <a:avLst/>
          </a:prstGeom>
          <a:noFill/>
        </p:spPr>
        <p:txBody>
          <a:bodyPr wrap="square" anchor="t"/>
          <a:lstStyle/>
          <a:p>
            <a:pPr algn="l"/>
            <a:r>
              <a:rPr sz="1400" b="1" i="0">
                <a:solidFill>
                  <a:srgbClr val="CFE6D5"/>
                </a:solidFill>
                <a:latin typeface="Calibri"/>
              </a:rPr>
              <a:t>TRUSTED PET CARE. BRIGHTER POSSIBILITIES.</a:t>
            </a:r>
          </a:p>
        </p:txBody>
      </p:sp>
      <p:sp>
        <p:nvSpPr>
          <p:cNvPr id="10" name="Oval 9"/>
          <p:cNvSpPr/>
          <p:nvPr/>
        </p:nvSpPr>
        <p:spPr>
          <a:xfrm>
            <a:off x="8732520" y="1874519"/>
            <a:ext cx="4023360" cy="4023360"/>
          </a:xfrm>
          <a:prstGeom prst="ellipse">
            <a:avLst/>
          </a:prstGeom>
          <a:solidFill>
            <a:srgbClr val="1A7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itguru-symbol-green.jpg"/>
          <p:cNvPicPr>
            <a:picLocks noChangeAspect="1"/>
          </p:cNvPicPr>
          <p:nvPr/>
        </p:nvPicPr>
        <p:blipFill>
          <a:blip r:embed="rId3"/>
          <a:stretch>
            <a:fillRect/>
          </a:stretch>
        </p:blipFill>
        <p:spPr>
          <a:xfrm>
            <a:off x="9509760" y="2606040"/>
            <a:ext cx="2468880" cy="1920240"/>
          </a:xfrm>
          <a:prstGeom prst="rect">
            <a:avLst/>
          </a:prstGeom>
        </p:spPr>
      </p:pic>
      <p:sp>
        <p:nvSpPr>
          <p:cNvPr id="12" name="TextBox 11"/>
          <p:cNvSpPr txBox="1"/>
          <p:nvPr/>
        </p:nvSpPr>
        <p:spPr>
          <a:xfrm>
            <a:off x="384048" y="6473952"/>
            <a:ext cx="10424160" cy="292608"/>
          </a:xfrm>
          <a:prstGeom prst="rect">
            <a:avLst/>
          </a:prstGeom>
          <a:noFill/>
        </p:spPr>
        <p:txBody>
          <a:bodyPr wrap="square" anchor="t"/>
          <a:lstStyle/>
          <a:p>
            <a:pPr algn="l"/>
            <a:r>
              <a:rPr sz="800" b="0" i="0">
                <a:solidFill>
                  <a:srgbClr val="CFE6D5"/>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13" name="TextBox 12"/>
          <p:cNvSpPr txBox="1"/>
          <p:nvPr/>
        </p:nvSpPr>
        <p:spPr>
          <a:xfrm>
            <a:off x="10881360" y="6473952"/>
            <a:ext cx="960120" cy="292608"/>
          </a:xfrm>
          <a:prstGeom prst="rect">
            <a:avLst/>
          </a:prstGeom>
          <a:noFill/>
        </p:spPr>
        <p:txBody>
          <a:bodyPr wrap="square" anchor="t"/>
          <a:lstStyle/>
          <a:p>
            <a:pPr algn="r"/>
            <a:r>
              <a:rPr sz="1000" b="1" i="0">
                <a:solidFill>
                  <a:srgbClr val="FFFFFF"/>
                </a:solidFill>
                <a:latin typeface="Calibri"/>
              </a:rPr>
              <a:t>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02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64592"/>
            <a:ext cx="9692640" cy="475488"/>
          </a:xfrm>
          <a:prstGeom prst="rect">
            <a:avLst/>
          </a:prstGeom>
          <a:noFill/>
        </p:spPr>
        <p:txBody>
          <a:bodyPr wrap="square" anchor="ctr"/>
          <a:lstStyle/>
          <a:p>
            <a:pPr algn="l"/>
            <a:r>
              <a:rPr sz="2600" b="1">
                <a:solidFill>
                  <a:srgbClr val="FFFFFF"/>
                </a:solidFill>
                <a:latin typeface="Calibri"/>
              </a:rPr>
              <a:t>Watch this first</a:t>
            </a:r>
          </a:p>
        </p:txBody>
      </p:sp>
      <p:sp>
        <p:nvSpPr>
          <p:cNvPr id="6" name="TextBox 5"/>
          <p:cNvSpPr txBox="1"/>
          <p:nvPr/>
        </p:nvSpPr>
        <p:spPr>
          <a:xfrm>
            <a:off x="384048" y="621792"/>
            <a:ext cx="9692640" cy="347472"/>
          </a:xfrm>
          <a:prstGeom prst="rect">
            <a:avLst/>
          </a:prstGeom>
          <a:noFill/>
        </p:spPr>
        <p:txBody>
          <a:bodyPr wrap="square" anchor="t"/>
          <a:lstStyle/>
          <a:p>
            <a:pPr algn="l"/>
            <a:r>
              <a:rPr sz="1300" b="0">
                <a:solidFill>
                  <a:srgbClr val="CFE6D5"/>
                </a:solidFill>
                <a:latin typeface="Calibri"/>
              </a:rPr>
              <a:t>Set the tone. Break the ice. Then we onboard.</a:t>
            </a:r>
          </a:p>
        </p:txBody>
      </p:sp>
      <p:sp>
        <p:nvSpPr>
          <p:cNvPr id="7" name="Rounded Rectangle 6"/>
          <p:cNvSpPr/>
          <p:nvPr/>
        </p:nvSpPr>
        <p:spPr>
          <a:xfrm>
            <a:off x="10561320" y="201168"/>
            <a:ext cx="1261872"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10808208" y="256032"/>
            <a:ext cx="768096" cy="566928"/>
          </a:xfrm>
          <a:prstGeom prst="rect">
            <a:avLst/>
          </a:prstGeom>
        </p:spPr>
      </p:pic>
      <p:sp>
        <p:nvSpPr>
          <p:cNvPr id="9" name="TextBox 8"/>
          <p:cNvSpPr txBox="1"/>
          <p:nvPr/>
        </p:nvSpPr>
        <p:spPr>
          <a:xfrm>
            <a:off x="384048" y="1335024"/>
            <a:ext cx="6537960" cy="1051560"/>
          </a:xfrm>
          <a:prstGeom prst="rect">
            <a:avLst/>
          </a:prstGeom>
          <a:noFill/>
        </p:spPr>
        <p:txBody>
          <a:bodyPr wrap="square" anchor="t"/>
          <a:lstStyle/>
          <a:p>
            <a:pPr algn="l"/>
            <a:r>
              <a:rPr sz="1800" b="1">
                <a:solidFill>
                  <a:srgbClr val="0F172A"/>
                </a:solidFill>
                <a:latin typeface="Calibri"/>
              </a:rPr>
              <a:t>Hit play together — or watch on your own. This is the icebreaker before the agreement, hours, and portal work. Rogue energy: high-energy, loving, then we get to work.</a:t>
            </a:r>
          </a:p>
        </p:txBody>
      </p:sp>
      <p:sp>
        <p:nvSpPr>
          <p:cNvPr id="10" name="TextBox 9"/>
          <p:cNvSpPr txBox="1"/>
          <p:nvPr/>
        </p:nvSpPr>
        <p:spPr>
          <a:xfrm>
            <a:off x="384048" y="2450592"/>
            <a:ext cx="6537960" cy="777240"/>
          </a:xfrm>
          <a:prstGeom prst="rect">
            <a:avLst/>
          </a:prstGeom>
          <a:noFill/>
        </p:spPr>
        <p:txBody>
          <a:bodyPr wrap="square" anchor="t"/>
          <a:lstStyle/>
          <a:p>
            <a:pPr algn="l"/>
            <a:r>
              <a:rPr sz="1500" b="0">
                <a:solidFill>
                  <a:srgbClr val="475569"/>
                </a:solidFill>
                <a:latin typeface="Calibri"/>
              </a:rPr>
              <a:t>Start at 12:29 (t=749s). Official talk title: Why social media deserves a seat in the c-suite.</a:t>
            </a:r>
          </a:p>
        </p:txBody>
      </p:sp>
      <p:pic>
        <p:nvPicPr>
          <p:cNvPr id="11" name="Picture 10" descr="_yt-Zzv6Opxkt88.jpg">
            <a:hlinkClick r:id="rId4"/>
          </p:cNvPr>
          <p:cNvPicPr>
            <a:picLocks noChangeAspect="1"/>
          </p:cNvPicPr>
          <p:nvPr/>
        </p:nvPicPr>
        <p:blipFill>
          <a:blip r:embed="rId3"/>
          <a:stretch>
            <a:fillRect/>
          </a:stretch>
        </p:blipFill>
        <p:spPr>
          <a:xfrm>
            <a:off x="7360920" y="1371600"/>
            <a:ext cx="4434840" cy="2487168"/>
          </a:xfrm>
          <a:prstGeom prst="rect">
            <a:avLst/>
          </a:prstGeom>
        </p:spPr>
      </p:pic>
      <p:sp>
        <p:nvSpPr>
          <p:cNvPr id="12" name="Rounded Rectangle 11">
            <a:hlinkClick r:id="rId4"/>
          </p:cNvPr>
          <p:cNvSpPr/>
          <p:nvPr/>
        </p:nvSpPr>
        <p:spPr>
          <a:xfrm>
            <a:off x="9144000" y="2267712"/>
            <a:ext cx="914400" cy="658368"/>
          </a:xfrm>
          <a:prstGeom prst="roundRect">
            <a:avLst>
              <a:gd name="adj" fmla="val 25000"/>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2359152"/>
            <a:ext cx="914400" cy="475488"/>
          </a:xfrm>
          <a:prstGeom prst="rect">
            <a:avLst/>
          </a:prstGeom>
          <a:noFill/>
        </p:spPr>
        <p:txBody>
          <a:bodyPr wrap="square" anchor="ctr"/>
          <a:lstStyle/>
          <a:p>
            <a:pPr algn="ctr"/>
            <a:r>
              <a:rPr sz="2200" b="1">
                <a:solidFill>
                  <a:srgbClr val="FFFFFF"/>
                </a:solidFill>
                <a:latin typeface="Calibri"/>
              </a:rPr>
              <a:t>▶</a:t>
            </a:r>
          </a:p>
        </p:txBody>
      </p:sp>
      <p:sp>
        <p:nvSpPr>
          <p:cNvPr id="14" name="Rounded Rectangle 13">
            <a:hlinkClick r:id="rId4"/>
          </p:cNvPr>
          <p:cNvSpPr/>
          <p:nvPr/>
        </p:nvSpPr>
        <p:spPr>
          <a:xfrm>
            <a:off x="384048" y="3383280"/>
            <a:ext cx="6537960" cy="960120"/>
          </a:xfrm>
          <a:prstGeom prst="roundRect">
            <a:avLst>
              <a:gd name="adj" fmla="val 12000"/>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3529584"/>
            <a:ext cx="6263640" cy="658368"/>
          </a:xfrm>
          <a:prstGeom prst="rect">
            <a:avLst/>
          </a:prstGeom>
          <a:noFill/>
        </p:spPr>
        <p:txBody>
          <a:bodyPr wrap="square" anchor="ctr"/>
          <a:lstStyle/>
          <a:p>
            <a:pPr algn="ctr"/>
            <a:r>
              <a:rPr sz="2200" b="1">
                <a:solidFill>
                  <a:srgbClr val="FFFFFF"/>
                </a:solidFill>
                <a:latin typeface="Calibri"/>
              </a:rPr>
              <a:t>Watch the SitGuru icebreaker  →</a:t>
            </a:r>
          </a:p>
        </p:txBody>
      </p:sp>
      <p:sp>
        <p:nvSpPr>
          <p:cNvPr id="16" name="TextBox 15"/>
          <p:cNvSpPr txBox="1"/>
          <p:nvPr/>
        </p:nvSpPr>
        <p:spPr>
          <a:xfrm>
            <a:off x="384048" y="4480560"/>
            <a:ext cx="11430000" cy="384048"/>
          </a:xfrm>
          <a:prstGeom prst="rect">
            <a:avLst/>
          </a:prstGeom>
          <a:noFill/>
        </p:spPr>
        <p:txBody>
          <a:bodyPr wrap="square" anchor="t"/>
          <a:lstStyle/>
          <a:p>
            <a:pPr algn="l"/>
            <a:r>
              <a:rPr sz="1400" b="1">
                <a:solidFill>
                  <a:srgbClr val="166534"/>
                </a:solidFill>
                <a:latin typeface="Calibri"/>
                <a:hlinkClick r:id="rId4"/>
              </a:rPr>
              <a:t>https://www.youtube.com/watch?v=Zzv6Opxkt88&amp;t=749s</a:t>
            </a:r>
          </a:p>
        </p:txBody>
      </p:sp>
      <p:sp>
        <p:nvSpPr>
          <p:cNvPr id="17" name="TextBox 16"/>
          <p:cNvSpPr txBox="1"/>
          <p:nvPr/>
        </p:nvSpPr>
        <p:spPr>
          <a:xfrm>
            <a:off x="384048" y="4919472"/>
            <a:ext cx="11430000" cy="1371600"/>
          </a:xfrm>
          <a:prstGeom prst="rect">
            <a:avLst/>
          </a:prstGeom>
          <a:noFill/>
        </p:spPr>
        <p:txBody>
          <a:bodyPr wrap="square" anchor="t"/>
          <a:lstStyle/>
          <a:p>
            <a:pPr algn="l"/>
            <a:r>
              <a:rPr sz="1500" b="0">
                <a:solidFill>
                  <a:srgbClr val="475569"/>
                </a:solidFill>
                <a:latin typeface="Calibri"/>
              </a:rPr>
              <a:t>That exact URL opens at 12:29. No video file lives in this deck — click the link. Then come back for onboarding. Questions: intern@sitguru.com.</a:t>
            </a:r>
          </a:p>
        </p:txBody>
      </p:sp>
      <p:sp>
        <p:nvSpPr>
          <p:cNvPr id="18" name="Rectangle 17"/>
          <p:cNvSpPr/>
          <p:nvPr/>
        </p:nvSpPr>
        <p:spPr>
          <a:xfrm>
            <a:off x="0" y="6510528"/>
            <a:ext cx="12191695" cy="347472"/>
          </a:xfrm>
          <a:prstGeom prst="rect">
            <a:avLst/>
          </a:prstGeom>
          <a:solidFill>
            <a:srgbClr val="F3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6547104"/>
            <a:ext cx="10515600" cy="274320"/>
          </a:xfrm>
          <a:prstGeom prst="rect">
            <a:avLst/>
          </a:prstGeom>
          <a:noFill/>
        </p:spPr>
        <p:txBody>
          <a:bodyPr wrap="square" anchor="ctr"/>
          <a:lstStyle/>
          <a:p>
            <a:pPr algn="l"/>
            <a:r>
              <a:rPr sz="800" b="0">
                <a:solidFill>
                  <a:srgbClr val="64748B"/>
                </a:solidFill>
                <a:latin typeface="Calibri"/>
              </a:rPr>
              <a:t>© SitGuru. Proprietary and confidential. This user guide belongs solely to SitGuru and may not be copied, reproduced, distributed, shared, or used in whole or in part without prior written permission from SitGuru.</a:t>
            </a:r>
          </a:p>
        </p:txBody>
      </p:sp>
      <p:sp>
        <p:nvSpPr>
          <p:cNvPr id="20" name="TextBox 19"/>
          <p:cNvSpPr txBox="1"/>
          <p:nvPr/>
        </p:nvSpPr>
        <p:spPr>
          <a:xfrm>
            <a:off x="10927080" y="6547104"/>
            <a:ext cx="914400" cy="274320"/>
          </a:xfrm>
          <a:prstGeom prst="rect">
            <a:avLst/>
          </a:prstGeom>
          <a:noFill/>
        </p:spPr>
        <p:txBody>
          <a:bodyPr wrap="square" anchor="ctr"/>
          <a:lstStyle/>
          <a:p>
            <a:pPr algn="r"/>
            <a:r>
              <a:rPr sz="1000" b="1">
                <a:solidFill>
                  <a:srgbClr val="166534"/>
                </a:solidFill>
                <a:latin typeface="Calibri"/>
              </a:rP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